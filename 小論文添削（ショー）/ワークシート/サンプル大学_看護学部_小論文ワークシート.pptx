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320040" cy="6858000"/>
          </a:xfrm>
          <a:prstGeom prst="roundRect">
            <a:avLst>
              <a:gd name="adj" fmla="val 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34440"/>
            <a:ext cx="10058400" cy="457200"/>
          </a:xfrm>
          <a:prstGeom prst="rect">
            <a:avLst/>
          </a:prstGeom>
          <a:noFill/>
        </p:spPr>
        <p:txBody>
          <a:bodyPr wrap="square" lIns="45720" rIns="45720" tIns="27432" bIns="27432" anchor="t">
            <a:spAutoFit/>
            <a:spAutoFit/>
          </a:bodyPr>
          <a:lstStyle/>
          <a:p>
            <a:pPr algn="l">
              <a:lnSpc>
                <a:spcPct val="115000"/>
              </a:lnSpc>
              <a:spcAft>
                <a:spcPts val="0"/>
              </a:spcAft>
            </a:pPr>
            <a:r>
              <a:rPr sz="2000" b="1">
                <a:solidFill>
                  <a:srgbClr val="D9782D"/>
                </a:solidFill>
                <a:latin typeface="游ゴシック"/>
                <a:ea typeface="游ゴシック"/>
              </a:rPr>
              <a:t>サンプル大学　看護学部　学校推薦型選抜</a:t>
            </a:r>
          </a:p>
        </p:txBody>
      </p:sp>
      <p:sp>
        <p:nvSpPr>
          <p:cNvPr id="4" name="TextBox 3"/>
          <p:cNvSpPr txBox="1"/>
          <p:nvPr/>
        </p:nvSpPr>
        <p:spPr>
          <a:xfrm>
            <a:off x="914400" y="1783080"/>
            <a:ext cx="10515600" cy="1097280"/>
          </a:xfrm>
          <a:prstGeom prst="rect">
            <a:avLst/>
          </a:prstGeom>
          <a:noFill/>
        </p:spPr>
        <p:txBody>
          <a:bodyPr wrap="square" lIns="45720" rIns="45720" tIns="27432" bIns="27432" anchor="t">
            <a:spAutoFit/>
            <a:spAutoFit/>
          </a:bodyPr>
          <a:lstStyle/>
          <a:p>
            <a:pPr algn="l">
              <a:lnSpc>
                <a:spcPct val="115000"/>
              </a:lnSpc>
              <a:spcAft>
                <a:spcPts val="0"/>
              </a:spcAft>
            </a:pPr>
            <a:r>
              <a:rPr sz="5400" b="1">
                <a:solidFill>
                  <a:srgbClr val="17321A"/>
                </a:solidFill>
                <a:latin typeface="游ゴシック"/>
                <a:ea typeface="游ゴシック"/>
              </a:rPr>
              <a:t>小論文ワークシート</a:t>
            </a:r>
          </a:p>
        </p:txBody>
      </p:sp>
      <p:sp>
        <p:nvSpPr>
          <p:cNvPr id="5" name="TextBox 4"/>
          <p:cNvSpPr txBox="1"/>
          <p:nvPr/>
        </p:nvSpPr>
        <p:spPr>
          <a:xfrm>
            <a:off x="914400" y="2926080"/>
            <a:ext cx="10515600" cy="548640"/>
          </a:xfrm>
          <a:prstGeom prst="rect">
            <a:avLst/>
          </a:prstGeom>
          <a:noFill/>
        </p:spPr>
        <p:txBody>
          <a:bodyPr wrap="square" lIns="45720" rIns="45720" tIns="27432" bIns="27432" anchor="t">
            <a:spAutoFit/>
            <a:spAutoFit/>
          </a:bodyPr>
          <a:lstStyle/>
          <a:p>
            <a:pPr algn="l">
              <a:lnSpc>
                <a:spcPct val="115000"/>
              </a:lnSpc>
              <a:spcAft>
                <a:spcPts val="0"/>
              </a:spcAft>
            </a:pPr>
            <a:r>
              <a:rPr sz="2800" b="1">
                <a:solidFill>
                  <a:srgbClr val="2C5F2D"/>
                </a:solidFill>
                <a:latin typeface="游ゴシック"/>
                <a:ea typeface="游ゴシック"/>
              </a:rPr>
              <a:t>90分で、迷わず、1000字を書き切る</a:t>
            </a:r>
          </a:p>
        </p:txBody>
      </p:sp>
      <p:sp>
        <p:nvSpPr>
          <p:cNvPr id="6" name="TextBox 5"/>
          <p:cNvSpPr txBox="1"/>
          <p:nvPr/>
        </p:nvSpPr>
        <p:spPr>
          <a:xfrm>
            <a:off x="914400" y="3703320"/>
            <a:ext cx="10515600" cy="457200"/>
          </a:xfrm>
          <a:prstGeom prst="rect">
            <a:avLst/>
          </a:prstGeom>
          <a:noFill/>
        </p:spPr>
        <p:txBody>
          <a:bodyPr wrap="square" lIns="45720" rIns="45720" tIns="27432" bIns="27432" anchor="t">
            <a:spAutoFit/>
            <a:spAutoFit/>
          </a:bodyPr>
          <a:lstStyle/>
          <a:p>
            <a:pPr algn="l">
              <a:lnSpc>
                <a:spcPct val="115000"/>
              </a:lnSpc>
              <a:spcAft>
                <a:spcPts val="0"/>
              </a:spcAft>
            </a:pPr>
            <a:r>
              <a:rPr sz="1800" b="0">
                <a:solidFill>
                  <a:srgbClr val="5B6B54"/>
                </a:solidFill>
                <a:latin typeface="游ゴシック"/>
                <a:ea typeface="游ゴシック"/>
              </a:rPr>
              <a:t>見て学ぶ（お手本）→ やってみる（演習）→ 答え合わせ　を3つのテーマで繰り返す</a:t>
            </a:r>
          </a:p>
        </p:txBody>
      </p:sp>
      <p:sp>
        <p:nvSpPr>
          <p:cNvPr id="7" name="TextBox 6"/>
          <p:cNvSpPr txBox="1"/>
          <p:nvPr/>
        </p:nvSpPr>
        <p:spPr>
          <a:xfrm>
            <a:off x="914400" y="4892040"/>
            <a:ext cx="10515600" cy="365760"/>
          </a:xfrm>
          <a:prstGeom prst="rect">
            <a:avLst/>
          </a:prstGeom>
          <a:noFill/>
        </p:spPr>
        <p:txBody>
          <a:bodyPr wrap="square" lIns="45720" rIns="45720" tIns="27432" bIns="27432" anchor="t">
            <a:spAutoFit/>
            <a:spAutoFit/>
          </a:bodyPr>
          <a:lstStyle/>
          <a:p>
            <a:pPr algn="l">
              <a:lnSpc>
                <a:spcPct val="115000"/>
              </a:lnSpc>
              <a:spcAft>
                <a:spcPts val="0"/>
              </a:spcAft>
            </a:pPr>
            <a:r>
              <a:rPr sz="1500" b="0">
                <a:solidFill>
                  <a:srgbClr val="23301F"/>
                </a:solidFill>
                <a:latin typeface="游ゴシック"/>
                <a:ea typeface="游ゴシック"/>
              </a:rPr>
              <a:t>対象：看護学部 看護学科 学校推薦型選抜（公募制）志願者　※ 仕組みの動作確認用サンプル</a:t>
            </a:r>
          </a:p>
        </p:txBody>
      </p:sp>
      <p:sp>
        <p:nvSpPr>
          <p:cNvPr id="8" name="TextBox 7"/>
          <p:cNvSpPr txBox="1"/>
          <p:nvPr/>
        </p:nvSpPr>
        <p:spPr>
          <a:xfrm>
            <a:off x="914400" y="5303520"/>
            <a:ext cx="10515600" cy="365760"/>
          </a:xfrm>
          <a:prstGeom prst="rect">
            <a:avLst/>
          </a:prstGeom>
          <a:noFill/>
        </p:spPr>
        <p:txBody>
          <a:bodyPr wrap="square" lIns="45720" rIns="45720" tIns="27432" bIns="27432" anchor="t">
            <a:spAutoFit/>
            <a:spAutoFit/>
          </a:bodyPr>
          <a:lstStyle/>
          <a:p>
            <a:pPr algn="l">
              <a:lnSpc>
                <a:spcPct val="115000"/>
              </a:lnSpc>
              <a:spcAft>
                <a:spcPts val="0"/>
              </a:spcAft>
            </a:pPr>
            <a:r>
              <a:rPr sz="1500" b="0">
                <a:solidFill>
                  <a:srgbClr val="5B6B54"/>
                </a:solidFill>
                <a:latin typeface="游ゴシック"/>
                <a:ea typeface="游ゴシック"/>
              </a:rPr>
              <a:t>C3進学アカデミー　学習支援資料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試験を知る</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試験の全体像</a:t>
            </a:r>
          </a:p>
        </p:txBody>
      </p:sp>
      <p:sp>
        <p:nvSpPr>
          <p:cNvPr id="4" name="TextBox 3"/>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5" name="TextBox 4"/>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a:t>
            </a:r>
          </a:p>
        </p:txBody>
      </p:sp>
      <p:sp>
        <p:nvSpPr>
          <p:cNvPr id="6" name="Rounded Rectangle 5"/>
          <p:cNvSpPr/>
          <p:nvPr/>
        </p:nvSpPr>
        <p:spPr>
          <a:xfrm>
            <a:off x="548640" y="1783080"/>
            <a:ext cx="3520440" cy="20574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011680"/>
            <a:ext cx="3520440" cy="914400"/>
          </a:xfrm>
          <a:prstGeom prst="rect">
            <a:avLst/>
          </a:prstGeom>
          <a:noFill/>
        </p:spPr>
        <p:txBody>
          <a:bodyPr wrap="square" lIns="45720" rIns="45720" tIns="27432" bIns="27432" anchor="t">
            <a:spAutoFit/>
            <a:spAutoFit/>
          </a:bodyPr>
          <a:lstStyle/>
          <a:p>
            <a:pPr algn="ctr">
              <a:lnSpc>
                <a:spcPct val="115000"/>
              </a:lnSpc>
              <a:spcAft>
                <a:spcPts val="0"/>
              </a:spcAft>
            </a:pPr>
            <a:r>
              <a:rPr sz="4000" b="1">
                <a:solidFill>
                  <a:srgbClr val="2C5F2D"/>
                </a:solidFill>
                <a:latin typeface="游ゴシック"/>
                <a:ea typeface="游ゴシック"/>
              </a:rPr>
              <a:t>90分</a:t>
            </a:r>
          </a:p>
        </p:txBody>
      </p:sp>
      <p:sp>
        <p:nvSpPr>
          <p:cNvPr id="8" name="TextBox 7"/>
          <p:cNvSpPr txBox="1"/>
          <p:nvPr/>
        </p:nvSpPr>
        <p:spPr>
          <a:xfrm>
            <a:off x="731520" y="3017520"/>
            <a:ext cx="3154680" cy="640080"/>
          </a:xfrm>
          <a:prstGeom prst="rect">
            <a:avLst/>
          </a:prstGeom>
          <a:noFill/>
        </p:spPr>
        <p:txBody>
          <a:bodyPr wrap="square" lIns="45720" rIns="45720" tIns="27432" bIns="27432" anchor="t">
            <a:spAutoFit/>
            <a:spAutoFit/>
          </a:bodyPr>
          <a:lstStyle/>
          <a:p>
            <a:pPr algn="ctr">
              <a:lnSpc>
                <a:spcPct val="115000"/>
              </a:lnSpc>
              <a:spcAft>
                <a:spcPts val="0"/>
              </a:spcAft>
            </a:pPr>
            <a:r>
              <a:rPr sz="1700" b="0">
                <a:solidFill>
                  <a:srgbClr val="23301F"/>
                </a:solidFill>
                <a:latin typeface="游ゴシック"/>
                <a:ea typeface="游ゴシック"/>
              </a:rPr>
              <a:t>小論文の試験時間</a:t>
            </a:r>
          </a:p>
        </p:txBody>
      </p:sp>
      <p:sp>
        <p:nvSpPr>
          <p:cNvPr id="9" name="Rounded Rectangle 8"/>
          <p:cNvSpPr/>
          <p:nvPr/>
        </p:nvSpPr>
        <p:spPr>
          <a:xfrm>
            <a:off x="4297679" y="1783080"/>
            <a:ext cx="3520440" cy="20574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79" y="2011680"/>
            <a:ext cx="3520440" cy="914400"/>
          </a:xfrm>
          <a:prstGeom prst="rect">
            <a:avLst/>
          </a:prstGeom>
          <a:noFill/>
        </p:spPr>
        <p:txBody>
          <a:bodyPr wrap="square" lIns="45720" rIns="45720" tIns="27432" bIns="27432" anchor="t">
            <a:spAutoFit/>
            <a:spAutoFit/>
          </a:bodyPr>
          <a:lstStyle/>
          <a:p>
            <a:pPr algn="ctr">
              <a:lnSpc>
                <a:spcPct val="115000"/>
              </a:lnSpc>
              <a:spcAft>
                <a:spcPts val="0"/>
              </a:spcAft>
            </a:pPr>
            <a:r>
              <a:rPr sz="4000" b="1">
                <a:solidFill>
                  <a:srgbClr val="2C5F2D"/>
                </a:solidFill>
                <a:latin typeface="游ゴシック"/>
                <a:ea typeface="游ゴシック"/>
              </a:rPr>
              <a:t>1000字以内</a:t>
            </a:r>
          </a:p>
        </p:txBody>
      </p:sp>
      <p:sp>
        <p:nvSpPr>
          <p:cNvPr id="11" name="TextBox 10"/>
          <p:cNvSpPr txBox="1"/>
          <p:nvPr/>
        </p:nvSpPr>
        <p:spPr>
          <a:xfrm>
            <a:off x="4480559" y="3017520"/>
            <a:ext cx="3154680" cy="640080"/>
          </a:xfrm>
          <a:prstGeom prst="rect">
            <a:avLst/>
          </a:prstGeom>
          <a:noFill/>
        </p:spPr>
        <p:txBody>
          <a:bodyPr wrap="square" lIns="45720" rIns="45720" tIns="27432" bIns="27432" anchor="t">
            <a:spAutoFit/>
            <a:spAutoFit/>
          </a:bodyPr>
          <a:lstStyle/>
          <a:p>
            <a:pPr algn="ctr">
              <a:lnSpc>
                <a:spcPct val="115000"/>
              </a:lnSpc>
              <a:spcAft>
                <a:spcPts val="0"/>
              </a:spcAft>
            </a:pPr>
            <a:r>
              <a:rPr sz="1700" b="0">
                <a:solidFill>
                  <a:srgbClr val="23301F"/>
                </a:solidFill>
                <a:latin typeface="游ゴシック"/>
                <a:ea typeface="游ゴシック"/>
              </a:rPr>
              <a:t>字数制限</a:t>
            </a:r>
          </a:p>
        </p:txBody>
      </p:sp>
      <p:sp>
        <p:nvSpPr>
          <p:cNvPr id="12" name="Rounded Rectangle 11"/>
          <p:cNvSpPr/>
          <p:nvPr/>
        </p:nvSpPr>
        <p:spPr>
          <a:xfrm>
            <a:off x="8046719" y="1783080"/>
            <a:ext cx="3520440" cy="20574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9" y="2011680"/>
            <a:ext cx="3520440" cy="914400"/>
          </a:xfrm>
          <a:prstGeom prst="rect">
            <a:avLst/>
          </a:prstGeom>
          <a:noFill/>
        </p:spPr>
        <p:txBody>
          <a:bodyPr wrap="square" lIns="45720" rIns="45720" tIns="27432" bIns="27432" anchor="t">
            <a:spAutoFit/>
            <a:spAutoFit/>
          </a:bodyPr>
          <a:lstStyle/>
          <a:p>
            <a:pPr algn="ctr">
              <a:lnSpc>
                <a:spcPct val="115000"/>
              </a:lnSpc>
              <a:spcAft>
                <a:spcPts val="0"/>
              </a:spcAft>
            </a:pPr>
            <a:r>
              <a:rPr sz="4000" b="1">
                <a:solidFill>
                  <a:srgbClr val="2C5F2D"/>
                </a:solidFill>
                <a:latin typeface="游ゴシック"/>
                <a:ea typeface="游ゴシック"/>
              </a:rPr>
              <a:t>文章＋意見</a:t>
            </a:r>
          </a:p>
        </p:txBody>
      </p:sp>
      <p:sp>
        <p:nvSpPr>
          <p:cNvPr id="14" name="TextBox 13"/>
          <p:cNvSpPr txBox="1"/>
          <p:nvPr/>
        </p:nvSpPr>
        <p:spPr>
          <a:xfrm>
            <a:off x="8229599" y="3017520"/>
            <a:ext cx="3154680" cy="640080"/>
          </a:xfrm>
          <a:prstGeom prst="rect">
            <a:avLst/>
          </a:prstGeom>
          <a:noFill/>
        </p:spPr>
        <p:txBody>
          <a:bodyPr wrap="square" lIns="45720" rIns="45720" tIns="27432" bIns="27432" anchor="t">
            <a:spAutoFit/>
            <a:spAutoFit/>
          </a:bodyPr>
          <a:lstStyle/>
          <a:p>
            <a:pPr algn="ctr">
              <a:lnSpc>
                <a:spcPct val="115000"/>
              </a:lnSpc>
              <a:spcAft>
                <a:spcPts val="0"/>
              </a:spcAft>
            </a:pPr>
            <a:r>
              <a:rPr sz="1650" b="0">
                <a:solidFill>
                  <a:srgbClr val="23301F"/>
                </a:solidFill>
                <a:latin typeface="游ゴシック"/>
                <a:ea typeface="游ゴシック"/>
              </a:rPr>
              <a:t>課題文を読み、自分の考えを論じる形式</a:t>
            </a:r>
          </a:p>
        </p:txBody>
      </p:sp>
      <p:sp>
        <p:nvSpPr>
          <p:cNvPr id="15" name="TextBox 14"/>
          <p:cNvSpPr txBox="1"/>
          <p:nvPr/>
        </p:nvSpPr>
        <p:spPr>
          <a:xfrm>
            <a:off x="548640" y="4114800"/>
            <a:ext cx="11064240" cy="1188720"/>
          </a:xfrm>
          <a:prstGeom prst="rect">
            <a:avLst/>
          </a:prstGeom>
          <a:noFill/>
        </p:spPr>
        <p:txBody>
          <a:bodyPr wrap="square" lIns="45720" rIns="45720" tIns="27432" bIns="27432" anchor="t">
            <a:spAutoFit/>
            <a:spAutoFit/>
          </a:bodyPr>
          <a:lstStyle/>
          <a:p>
            <a:pPr algn="l">
              <a:lnSpc>
                <a:spcPct val="115000"/>
              </a:lnSpc>
              <a:spcAft>
                <a:spcPts val="600"/>
              </a:spcAft>
            </a:pPr>
            <a:r>
              <a:rPr sz="1700" b="0">
                <a:solidFill>
                  <a:srgbClr val="23301F"/>
                </a:solidFill>
                <a:latin typeface="游ゴシック"/>
                <a:ea typeface="游ゴシック"/>
              </a:rPr>
              <a:t>医療・福祉に関する課題文（新聞記事・解説文など）を読み、筆者の主張を踏まえて1000字以内で自分の考えを論じる。</a:t>
            </a:r>
          </a:p>
          <a:p>
            <a:pPr algn="l">
              <a:lnSpc>
                <a:spcPct val="115000"/>
              </a:lnSpc>
              <a:spcAft>
                <a:spcPts val="0"/>
              </a:spcAft>
            </a:pPr>
            <a:r>
              <a:rPr sz="1700" b="0">
                <a:solidFill>
                  <a:srgbClr val="23301F"/>
                </a:solidFill>
                <a:latin typeface="游ゴシック"/>
                <a:ea typeface="游ゴシック"/>
              </a:rPr>
              <a:t>字数が多い分、構成メモの出来がそのまま答案の出来になる。最初の25分で「何を書くか」を固め切る。</a:t>
            </a:r>
          </a:p>
        </p:txBody>
      </p:sp>
      <p:sp>
        <p:nvSpPr>
          <p:cNvPr id="16" name="TextBox 15"/>
          <p:cNvSpPr txBox="1"/>
          <p:nvPr/>
        </p:nvSpPr>
        <p:spPr>
          <a:xfrm>
            <a:off x="548640" y="5440680"/>
            <a:ext cx="11064240" cy="457200"/>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5B6B54"/>
                </a:solidFill>
                <a:latin typeface="游ゴシック"/>
                <a:ea typeface="游ゴシック"/>
              </a:rPr>
              <a:t>※ 試験時間・字数は想定。必ず最新の学生募集要項で確認すること。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時間配分</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90分の使い方 ― 考えるのは最初の25分</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書きながら考えると、途中で手が止まる。先に「何を書くか」を決めてから、一気に書く。</a:t>
            </a:r>
          </a:p>
        </p:txBody>
      </p:sp>
      <p:sp>
        <p:nvSpPr>
          <p:cNvPr id="5" name="TextBox 4"/>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6" name="TextBox 5"/>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3</a:t>
            </a:r>
          </a:p>
        </p:txBody>
      </p:sp>
      <p:sp>
        <p:nvSpPr>
          <p:cNvPr id="7" name="Rounded Rectangle 6"/>
          <p:cNvSpPr/>
          <p:nvPr/>
        </p:nvSpPr>
        <p:spPr>
          <a:xfrm>
            <a:off x="548640" y="2011680"/>
            <a:ext cx="1214120" cy="6400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7" y="2011680"/>
            <a:ext cx="1268984"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10分</a:t>
            </a:r>
          </a:p>
        </p:txBody>
      </p:sp>
      <p:sp>
        <p:nvSpPr>
          <p:cNvPr id="9" name="Rounded Rectangle 8"/>
          <p:cNvSpPr/>
          <p:nvPr/>
        </p:nvSpPr>
        <p:spPr>
          <a:xfrm>
            <a:off x="1817623" y="2011680"/>
            <a:ext cx="1821180" cy="6400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90191" y="2011680"/>
            <a:ext cx="1876044"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15分</a:t>
            </a:r>
          </a:p>
        </p:txBody>
      </p:sp>
      <p:sp>
        <p:nvSpPr>
          <p:cNvPr id="11" name="Rounded Rectangle 10"/>
          <p:cNvSpPr/>
          <p:nvPr/>
        </p:nvSpPr>
        <p:spPr>
          <a:xfrm>
            <a:off x="3693668" y="2011680"/>
            <a:ext cx="6070600" cy="6400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66235" y="2011680"/>
            <a:ext cx="6125464"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50分</a:t>
            </a:r>
          </a:p>
        </p:txBody>
      </p:sp>
      <p:sp>
        <p:nvSpPr>
          <p:cNvPr id="13" name="Rounded Rectangle 12"/>
          <p:cNvSpPr/>
          <p:nvPr/>
        </p:nvSpPr>
        <p:spPr>
          <a:xfrm>
            <a:off x="9819132" y="2011680"/>
            <a:ext cx="1821180" cy="6400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91700" y="2011680"/>
            <a:ext cx="1876044"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15分</a:t>
            </a:r>
          </a:p>
        </p:txBody>
      </p:sp>
      <p:sp>
        <p:nvSpPr>
          <p:cNvPr id="15" name="Rounded Rectangle 14"/>
          <p:cNvSpPr/>
          <p:nvPr/>
        </p:nvSpPr>
        <p:spPr>
          <a:xfrm>
            <a:off x="548640"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最初の10分</a:t>
            </a:r>
          </a:p>
        </p:txBody>
      </p:sp>
      <p:sp>
        <p:nvSpPr>
          <p:cNvPr id="17" name="TextBox 16"/>
          <p:cNvSpPr txBox="1"/>
          <p:nvPr/>
        </p:nvSpPr>
        <p:spPr>
          <a:xfrm>
            <a:off x="731520"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読む</a:t>
            </a:r>
          </a:p>
        </p:txBody>
      </p:sp>
      <p:sp>
        <p:nvSpPr>
          <p:cNvPr id="18" name="TextBox 17"/>
          <p:cNvSpPr txBox="1"/>
          <p:nvPr/>
        </p:nvSpPr>
        <p:spPr>
          <a:xfrm>
            <a:off x="731520"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問題文と資料を読み、</a:t>
            </a:r>
          </a:p>
          <a:p>
            <a:pPr algn="l">
              <a:lnSpc>
                <a:spcPct val="115000"/>
              </a:lnSpc>
              <a:spcAft>
                <a:spcPts val="0"/>
              </a:spcAft>
            </a:pPr>
            <a:r>
              <a:rPr sz="1600" b="0">
                <a:solidFill>
                  <a:srgbClr val="23301F"/>
                </a:solidFill>
                <a:latin typeface="游ゴシック"/>
                <a:ea typeface="游ゴシック"/>
              </a:rPr>
              <a:t>要点をつかむ</a:t>
            </a:r>
          </a:p>
        </p:txBody>
      </p:sp>
      <p:sp>
        <p:nvSpPr>
          <p:cNvPr id="19" name="Rounded Rectangle 18"/>
          <p:cNvSpPr/>
          <p:nvPr/>
        </p:nvSpPr>
        <p:spPr>
          <a:xfrm>
            <a:off x="3364992"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47872"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次の15分</a:t>
            </a:r>
          </a:p>
        </p:txBody>
      </p:sp>
      <p:sp>
        <p:nvSpPr>
          <p:cNvPr id="21" name="TextBox 20"/>
          <p:cNvSpPr txBox="1"/>
          <p:nvPr/>
        </p:nvSpPr>
        <p:spPr>
          <a:xfrm>
            <a:off x="3547872"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構成する</a:t>
            </a:r>
          </a:p>
        </p:txBody>
      </p:sp>
      <p:sp>
        <p:nvSpPr>
          <p:cNvPr id="22" name="TextBox 21"/>
          <p:cNvSpPr txBox="1"/>
          <p:nvPr/>
        </p:nvSpPr>
        <p:spPr>
          <a:xfrm>
            <a:off x="3547872"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骨組みと各段落の中身を</a:t>
            </a:r>
          </a:p>
          <a:p>
            <a:pPr algn="l">
              <a:lnSpc>
                <a:spcPct val="115000"/>
              </a:lnSpc>
              <a:spcAft>
                <a:spcPts val="0"/>
              </a:spcAft>
            </a:pPr>
            <a:r>
              <a:rPr sz="1600" b="0">
                <a:solidFill>
                  <a:srgbClr val="23301F"/>
                </a:solidFill>
                <a:latin typeface="游ゴシック"/>
                <a:ea typeface="游ゴシック"/>
              </a:rPr>
              <a:t>箇条書きでメモ</a:t>
            </a:r>
          </a:p>
        </p:txBody>
      </p:sp>
      <p:sp>
        <p:nvSpPr>
          <p:cNvPr id="23" name="Rounded Rectangle 22"/>
          <p:cNvSpPr/>
          <p:nvPr/>
        </p:nvSpPr>
        <p:spPr>
          <a:xfrm>
            <a:off x="6181344"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4224"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続く50分</a:t>
            </a:r>
          </a:p>
        </p:txBody>
      </p:sp>
      <p:sp>
        <p:nvSpPr>
          <p:cNvPr id="25" name="TextBox 24"/>
          <p:cNvSpPr txBox="1"/>
          <p:nvPr/>
        </p:nvSpPr>
        <p:spPr>
          <a:xfrm>
            <a:off x="6364224"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書く</a:t>
            </a:r>
          </a:p>
        </p:txBody>
      </p:sp>
      <p:sp>
        <p:nvSpPr>
          <p:cNvPr id="26" name="TextBox 25"/>
          <p:cNvSpPr txBox="1"/>
          <p:nvPr/>
        </p:nvSpPr>
        <p:spPr>
          <a:xfrm>
            <a:off x="6364224"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メモに沿って</a:t>
            </a:r>
          </a:p>
          <a:p>
            <a:pPr algn="l">
              <a:lnSpc>
                <a:spcPct val="115000"/>
              </a:lnSpc>
              <a:spcAft>
                <a:spcPts val="0"/>
              </a:spcAft>
            </a:pPr>
            <a:r>
              <a:rPr sz="1600" b="0">
                <a:solidFill>
                  <a:srgbClr val="23301F"/>
                </a:solidFill>
                <a:latin typeface="游ゴシック"/>
                <a:ea typeface="游ゴシック"/>
              </a:rPr>
              <a:t>一気に1000字以内を書き切る</a:t>
            </a:r>
          </a:p>
        </p:txBody>
      </p:sp>
      <p:sp>
        <p:nvSpPr>
          <p:cNvPr id="27" name="Rounded Rectangle 26"/>
          <p:cNvSpPr/>
          <p:nvPr/>
        </p:nvSpPr>
        <p:spPr>
          <a:xfrm>
            <a:off x="8997696"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0576"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最後の15分</a:t>
            </a:r>
          </a:p>
        </p:txBody>
      </p:sp>
      <p:sp>
        <p:nvSpPr>
          <p:cNvPr id="29" name="TextBox 28"/>
          <p:cNvSpPr txBox="1"/>
          <p:nvPr/>
        </p:nvSpPr>
        <p:spPr>
          <a:xfrm>
            <a:off x="9180576"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見直す</a:t>
            </a:r>
          </a:p>
        </p:txBody>
      </p:sp>
      <p:sp>
        <p:nvSpPr>
          <p:cNvPr id="30" name="TextBox 29"/>
          <p:cNvSpPr txBox="1"/>
          <p:nvPr/>
        </p:nvSpPr>
        <p:spPr>
          <a:xfrm>
            <a:off x="9180576"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誤字脱字・文末の統一・</a:t>
            </a:r>
          </a:p>
          <a:p>
            <a:pPr algn="l">
              <a:lnSpc>
                <a:spcPct val="115000"/>
              </a:lnSpc>
              <a:spcAft>
                <a:spcPts val="0"/>
              </a:spcAft>
            </a:pPr>
            <a:r>
              <a:rPr sz="1600" b="0">
                <a:solidFill>
                  <a:srgbClr val="23301F"/>
                </a:solidFill>
                <a:latin typeface="游ゴシック"/>
                <a:ea typeface="游ゴシック"/>
              </a:rPr>
              <a:t>論理のつながりを確認</a:t>
            </a:r>
          </a:p>
        </p:txBody>
      </p:sp>
      <p:sp>
        <p:nvSpPr>
          <p:cNvPr id="31" name="Rounded Rectangle 30"/>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POINT　</a:t>
            </a:r>
            <a:r>
              <a:rPr sz="1800" b="0">
                <a:solidFill>
                  <a:srgbClr val="FFFFFF"/>
                </a:solidFill>
                <a:latin typeface="游ゴシック"/>
                <a:ea typeface="游ゴシック"/>
              </a:rPr>
              <a:t>ワークシート（次のページ）は「構成する15分」でやることそのもの。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ワークシートの使い方</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構成メモは、3つの問いで作る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どのテーマでも、この順番で考えて、ノート（解答用紙）に書き出す。</a:t>
            </a:r>
          </a:p>
        </p:txBody>
      </p:sp>
      <p:sp>
        <p:nvSpPr>
          <p:cNvPr id="5" name="TextBox 4"/>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6" name="TextBox 5"/>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4</a:t>
            </a:r>
          </a:p>
        </p:txBody>
      </p:sp>
      <p:sp>
        <p:nvSpPr>
          <p:cNvPr id="7" name="Rounded Rectangle 6"/>
          <p:cNvSpPr/>
          <p:nvPr/>
        </p:nvSpPr>
        <p:spPr>
          <a:xfrm>
            <a:off x="548640" y="1920240"/>
            <a:ext cx="3520440" cy="3474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103120"/>
            <a:ext cx="822960" cy="50292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Q1</a:t>
            </a:r>
          </a:p>
        </p:txBody>
      </p:sp>
      <p:sp>
        <p:nvSpPr>
          <p:cNvPr id="9" name="TextBox 8"/>
          <p:cNvSpPr txBox="1"/>
          <p:nvPr/>
        </p:nvSpPr>
        <p:spPr>
          <a:xfrm>
            <a:off x="777240" y="2743200"/>
            <a:ext cx="3154680" cy="822960"/>
          </a:xfrm>
          <a:prstGeom prst="rect">
            <a:avLst/>
          </a:prstGeom>
          <a:noFill/>
        </p:spPr>
        <p:txBody>
          <a:bodyPr wrap="square" lIns="45720" rIns="45720" tIns="27432" bIns="27432" anchor="t">
            <a:spAutoFit/>
            <a:spAutoFit/>
          </a:bodyPr>
          <a:lstStyle/>
          <a:p>
            <a:pPr algn="l">
              <a:lnSpc>
                <a:spcPct val="115000"/>
              </a:lnSpc>
              <a:spcAft>
                <a:spcPts val="0"/>
              </a:spcAft>
            </a:pPr>
            <a:r>
              <a:rPr sz="1900" b="1">
                <a:solidFill>
                  <a:srgbClr val="17321A"/>
                </a:solidFill>
                <a:latin typeface="游ゴシック"/>
                <a:ea typeface="游ゴシック"/>
              </a:rPr>
              <a:t>この問題・資料の「要点」は何か</a:t>
            </a:r>
          </a:p>
        </p:txBody>
      </p:sp>
      <p:sp>
        <p:nvSpPr>
          <p:cNvPr id="10" name="TextBox 9"/>
          <p:cNvSpPr txBox="1"/>
          <p:nvPr/>
        </p:nvSpPr>
        <p:spPr>
          <a:xfrm>
            <a:off x="777240" y="3611880"/>
            <a:ext cx="3154680" cy="1737360"/>
          </a:xfrm>
          <a:prstGeom prst="rect">
            <a:avLst/>
          </a:prstGeom>
          <a:noFill/>
        </p:spPr>
        <p:txBody>
          <a:bodyPr wrap="square" lIns="45720" rIns="45720" tIns="27432" bIns="27432" anchor="t">
            <a:spAutoFit/>
            <a:spAutoFit/>
          </a:bodyPr>
          <a:lstStyle/>
          <a:p>
            <a:pPr algn="l">
              <a:lnSpc>
                <a:spcPct val="115000"/>
              </a:lnSpc>
              <a:spcAft>
                <a:spcPts val="400"/>
              </a:spcAft>
            </a:pPr>
            <a:r>
              <a:rPr sz="1500" b="0">
                <a:solidFill>
                  <a:srgbClr val="23301F"/>
                </a:solidFill>
                <a:latin typeface="游ゴシック"/>
                <a:ea typeface="游ゴシック"/>
              </a:rPr>
              <a:t>・何を問われているか（説明？意見？具体策？）</a:t>
            </a:r>
          </a:p>
          <a:p>
            <a:pPr algn="l">
              <a:lnSpc>
                <a:spcPct val="115000"/>
              </a:lnSpc>
              <a:spcAft>
                <a:spcPts val="400"/>
              </a:spcAft>
            </a:pPr>
            <a:r>
              <a:rPr sz="1500" b="0">
                <a:solidFill>
                  <a:srgbClr val="23301F"/>
                </a:solidFill>
                <a:latin typeface="游ゴシック"/>
                <a:ea typeface="游ゴシック"/>
              </a:rPr>
              <a:t>・資料から必ず使う事実・数字は何か</a:t>
            </a:r>
          </a:p>
          <a:p>
            <a:pPr algn="l">
              <a:lnSpc>
                <a:spcPct val="115000"/>
              </a:lnSpc>
              <a:spcAft>
                <a:spcPts val="0"/>
              </a:spcAft>
            </a:pPr>
            <a:r>
              <a:rPr sz="1500" b="0">
                <a:solidFill>
                  <a:srgbClr val="23301F"/>
                </a:solidFill>
                <a:latin typeface="游ゴシック"/>
                <a:ea typeface="游ゴシック"/>
              </a:rPr>
              <a:t>・一言でいうと、何について書く問題か</a:t>
            </a:r>
          </a:p>
        </p:txBody>
      </p:sp>
      <p:sp>
        <p:nvSpPr>
          <p:cNvPr id="11" name="Rounded Rectangle 10"/>
          <p:cNvSpPr/>
          <p:nvPr/>
        </p:nvSpPr>
        <p:spPr>
          <a:xfrm>
            <a:off x="4297679" y="1920240"/>
            <a:ext cx="3520440" cy="3474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26279" y="2103120"/>
            <a:ext cx="822960" cy="50292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Q2</a:t>
            </a:r>
          </a:p>
        </p:txBody>
      </p:sp>
      <p:sp>
        <p:nvSpPr>
          <p:cNvPr id="13" name="TextBox 12"/>
          <p:cNvSpPr txBox="1"/>
          <p:nvPr/>
        </p:nvSpPr>
        <p:spPr>
          <a:xfrm>
            <a:off x="4526279" y="2743200"/>
            <a:ext cx="3154680" cy="822960"/>
          </a:xfrm>
          <a:prstGeom prst="rect">
            <a:avLst/>
          </a:prstGeom>
          <a:noFill/>
        </p:spPr>
        <p:txBody>
          <a:bodyPr wrap="square" lIns="45720" rIns="45720" tIns="27432" bIns="27432" anchor="t">
            <a:spAutoFit/>
            <a:spAutoFit/>
          </a:bodyPr>
          <a:lstStyle/>
          <a:p>
            <a:pPr algn="l">
              <a:lnSpc>
                <a:spcPct val="115000"/>
              </a:lnSpc>
              <a:spcAft>
                <a:spcPts val="0"/>
              </a:spcAft>
            </a:pPr>
            <a:r>
              <a:rPr sz="1900" b="1">
                <a:solidFill>
                  <a:srgbClr val="17321A"/>
                </a:solidFill>
                <a:latin typeface="游ゴシック"/>
                <a:ea typeface="游ゴシック"/>
              </a:rPr>
              <a:t>全体を何段落で書くか</a:t>
            </a:r>
          </a:p>
        </p:txBody>
      </p:sp>
      <p:sp>
        <p:nvSpPr>
          <p:cNvPr id="14" name="TextBox 13"/>
          <p:cNvSpPr txBox="1"/>
          <p:nvPr/>
        </p:nvSpPr>
        <p:spPr>
          <a:xfrm>
            <a:off x="4526279" y="3611880"/>
            <a:ext cx="3154680" cy="1737360"/>
          </a:xfrm>
          <a:prstGeom prst="rect">
            <a:avLst/>
          </a:prstGeom>
          <a:noFill/>
        </p:spPr>
        <p:txBody>
          <a:bodyPr wrap="square" lIns="45720" rIns="45720" tIns="27432" bIns="27432" anchor="t">
            <a:spAutoFit/>
            <a:spAutoFit/>
          </a:bodyPr>
          <a:lstStyle/>
          <a:p>
            <a:pPr algn="l">
              <a:lnSpc>
                <a:spcPct val="115000"/>
              </a:lnSpc>
              <a:spcAft>
                <a:spcPts val="400"/>
              </a:spcAft>
            </a:pPr>
            <a:r>
              <a:rPr sz="1500" b="0">
                <a:solidFill>
                  <a:srgbClr val="23301F"/>
                </a:solidFill>
                <a:latin typeface="游ゴシック"/>
                <a:ea typeface="游ゴシック"/>
              </a:rPr>
              <a:t>・序論・本論・結論をそれぞれ何段落にするか</a:t>
            </a:r>
          </a:p>
          <a:p>
            <a:pPr algn="l">
              <a:lnSpc>
                <a:spcPct val="115000"/>
              </a:lnSpc>
              <a:spcAft>
                <a:spcPts val="400"/>
              </a:spcAft>
            </a:pPr>
            <a:r>
              <a:rPr sz="1500" b="0">
                <a:solidFill>
                  <a:srgbClr val="23301F"/>
                </a:solidFill>
                <a:latin typeface="游ゴシック"/>
                <a:ea typeface="游ゴシック"/>
              </a:rPr>
              <a:t>・問いが2つなら本論も2つ、が基本</a:t>
            </a:r>
          </a:p>
          <a:p>
            <a:pPr algn="l">
              <a:lnSpc>
                <a:spcPct val="115000"/>
              </a:lnSpc>
              <a:spcAft>
                <a:spcPts val="0"/>
              </a:spcAft>
            </a:pPr>
            <a:r>
              <a:rPr sz="1500" b="0">
                <a:solidFill>
                  <a:srgbClr val="23301F"/>
                </a:solidFill>
                <a:latin typeface="游ゴシック"/>
                <a:ea typeface="游ゴシック"/>
              </a:rPr>
              <a:t>・各段落のおおよその字数を決める</a:t>
            </a:r>
          </a:p>
        </p:txBody>
      </p:sp>
      <p:sp>
        <p:nvSpPr>
          <p:cNvPr id="15" name="Rounded Rectangle 14"/>
          <p:cNvSpPr/>
          <p:nvPr/>
        </p:nvSpPr>
        <p:spPr>
          <a:xfrm>
            <a:off x="8046719" y="1920240"/>
            <a:ext cx="3520440" cy="3474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75319" y="2103120"/>
            <a:ext cx="822960" cy="50292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Q3</a:t>
            </a:r>
          </a:p>
        </p:txBody>
      </p:sp>
      <p:sp>
        <p:nvSpPr>
          <p:cNvPr id="17" name="TextBox 16"/>
          <p:cNvSpPr txBox="1"/>
          <p:nvPr/>
        </p:nvSpPr>
        <p:spPr>
          <a:xfrm>
            <a:off x="8275319" y="2743200"/>
            <a:ext cx="3154680" cy="822960"/>
          </a:xfrm>
          <a:prstGeom prst="rect">
            <a:avLst/>
          </a:prstGeom>
          <a:noFill/>
        </p:spPr>
        <p:txBody>
          <a:bodyPr wrap="square" lIns="45720" rIns="45720" tIns="27432" bIns="27432" anchor="t">
            <a:spAutoFit/>
            <a:spAutoFit/>
          </a:bodyPr>
          <a:lstStyle/>
          <a:p>
            <a:pPr algn="l">
              <a:lnSpc>
                <a:spcPct val="115000"/>
              </a:lnSpc>
              <a:spcAft>
                <a:spcPts val="0"/>
              </a:spcAft>
            </a:pPr>
            <a:r>
              <a:rPr sz="1900" b="1">
                <a:solidFill>
                  <a:srgbClr val="17321A"/>
                </a:solidFill>
                <a:latin typeface="游ゴシック"/>
                <a:ea typeface="游ゴシック"/>
              </a:rPr>
              <a:t>各段落に書く内容は何か</a:t>
            </a:r>
          </a:p>
        </p:txBody>
      </p:sp>
      <p:sp>
        <p:nvSpPr>
          <p:cNvPr id="18" name="TextBox 17"/>
          <p:cNvSpPr txBox="1"/>
          <p:nvPr/>
        </p:nvSpPr>
        <p:spPr>
          <a:xfrm>
            <a:off x="8275319" y="3611880"/>
            <a:ext cx="3154680" cy="1737360"/>
          </a:xfrm>
          <a:prstGeom prst="rect">
            <a:avLst/>
          </a:prstGeom>
          <a:noFill/>
        </p:spPr>
        <p:txBody>
          <a:bodyPr wrap="square" lIns="45720" rIns="45720" tIns="27432" bIns="27432" anchor="t">
            <a:spAutoFit/>
            <a:spAutoFit/>
          </a:bodyPr>
          <a:lstStyle/>
          <a:p>
            <a:pPr algn="l">
              <a:lnSpc>
                <a:spcPct val="115000"/>
              </a:lnSpc>
              <a:spcAft>
                <a:spcPts val="400"/>
              </a:spcAft>
            </a:pPr>
            <a:r>
              <a:rPr sz="1500" b="0">
                <a:solidFill>
                  <a:srgbClr val="23301F"/>
                </a:solidFill>
                <a:latin typeface="游ゴシック"/>
                <a:ea typeface="游ゴシック"/>
              </a:rPr>
              <a:t>・段落ごとに、書く中身を箇条書きにする</a:t>
            </a:r>
          </a:p>
          <a:p>
            <a:pPr algn="l">
              <a:lnSpc>
                <a:spcPct val="115000"/>
              </a:lnSpc>
              <a:spcAft>
                <a:spcPts val="400"/>
              </a:spcAft>
            </a:pPr>
            <a:r>
              <a:rPr sz="1500" b="0">
                <a:solidFill>
                  <a:srgbClr val="23301F"/>
                </a:solidFill>
                <a:latin typeface="游ゴシック"/>
                <a:ea typeface="游ゴシック"/>
              </a:rPr>
              <a:t>・文章にしなくてよい（単語・短いメモで十分）</a:t>
            </a:r>
          </a:p>
          <a:p>
            <a:pPr algn="l">
              <a:lnSpc>
                <a:spcPct val="115000"/>
              </a:lnSpc>
              <a:spcAft>
                <a:spcPts val="0"/>
              </a:spcAft>
            </a:pPr>
            <a:r>
              <a:rPr sz="1500" b="0">
                <a:solidFill>
                  <a:srgbClr val="23301F"/>
                </a:solidFill>
                <a:latin typeface="游ゴシック"/>
                <a:ea typeface="游ゴシック"/>
              </a:rPr>
              <a:t>・このメモがそのまま答案の設計図になる</a:t>
            </a:r>
          </a:p>
        </p:txBody>
      </p:sp>
      <p:sp>
        <p:nvSpPr>
          <p:cNvPr id="19" name="Rounded Rectangle 18"/>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700" b="1">
                <a:solidFill>
                  <a:srgbClr val="FFFFFF"/>
                </a:solidFill>
                <a:latin typeface="游ゴシック"/>
                <a:ea typeface="游ゴシック"/>
              </a:rPr>
              <a:t>流れ　</a:t>
            </a:r>
            <a:r>
              <a:rPr sz="1700" b="0">
                <a:solidFill>
                  <a:srgbClr val="FFFFFF"/>
                </a:solidFill>
                <a:latin typeface="游ゴシック"/>
                <a:ea typeface="游ゴシック"/>
              </a:rPr>
              <a:t>テーマ1はお手本で学ぶ → テーマ2〜3は自分で埋める → 模範メモ・模範解答で答え合わせ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書き方の基本</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答案の基本フォーム</a:t>
            </a:r>
          </a:p>
        </p:txBody>
      </p:sp>
      <p:sp>
        <p:nvSpPr>
          <p:cNvPr id="4" name="TextBox 3"/>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5" name="TextBox 4"/>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5</a:t>
            </a:r>
          </a:p>
        </p:txBody>
      </p:sp>
      <p:sp>
        <p:nvSpPr>
          <p:cNvPr id="6" name="Rounded Rectangle 5"/>
          <p:cNvSpPr/>
          <p:nvPr/>
        </p:nvSpPr>
        <p:spPr>
          <a:xfrm>
            <a:off x="548640" y="1691640"/>
            <a:ext cx="3520440" cy="54864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序論　15〜20%</a:t>
            </a:r>
          </a:p>
        </p:txBody>
      </p:sp>
      <p:sp>
        <p:nvSpPr>
          <p:cNvPr id="7" name="Rounded Rectangle 6"/>
          <p:cNvSpPr/>
          <p:nvPr/>
        </p:nvSpPr>
        <p:spPr>
          <a:xfrm>
            <a:off x="548640" y="2286000"/>
            <a:ext cx="3520440" cy="1188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377440"/>
            <a:ext cx="3154680" cy="1005840"/>
          </a:xfrm>
          <a:prstGeom prst="rect">
            <a:avLst/>
          </a:prstGeom>
          <a:noFill/>
        </p:spPr>
        <p:txBody>
          <a:bodyPr wrap="square" lIns="45720" rIns="45720" tIns="27432" bIns="27432" anchor="ctr">
            <a:spAutoFit/>
            <a:spAutoFit/>
          </a:bodyPr>
          <a:lstStyle/>
          <a:p>
            <a:pPr algn="ctr">
              <a:lnSpc>
                <a:spcPct val="115000"/>
              </a:lnSpc>
              <a:spcAft>
                <a:spcPts val="0"/>
              </a:spcAft>
            </a:pPr>
            <a:r>
              <a:rPr sz="1800" b="0">
                <a:solidFill>
                  <a:srgbClr val="23301F"/>
                </a:solidFill>
                <a:latin typeface="游ゴシック"/>
                <a:ea typeface="游ゴシック"/>
              </a:rPr>
              <a:t>自分の意見・結論を</a:t>
            </a:r>
          </a:p>
          <a:p>
            <a:pPr algn="ctr">
              <a:lnSpc>
                <a:spcPct val="115000"/>
              </a:lnSpc>
              <a:spcAft>
                <a:spcPts val="0"/>
              </a:spcAft>
            </a:pPr>
            <a:r>
              <a:rPr sz="1800" b="0">
                <a:solidFill>
                  <a:srgbClr val="23301F"/>
                </a:solidFill>
                <a:latin typeface="游ゴシック"/>
                <a:ea typeface="游ゴシック"/>
              </a:rPr>
              <a:t>先に示す</a:t>
            </a:r>
          </a:p>
        </p:txBody>
      </p:sp>
      <p:sp>
        <p:nvSpPr>
          <p:cNvPr id="9" name="Rounded Rectangle 8"/>
          <p:cNvSpPr/>
          <p:nvPr/>
        </p:nvSpPr>
        <p:spPr>
          <a:xfrm>
            <a:off x="4297679" y="1691640"/>
            <a:ext cx="3520440" cy="54864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本論　60〜70%</a:t>
            </a:r>
          </a:p>
        </p:txBody>
      </p:sp>
      <p:sp>
        <p:nvSpPr>
          <p:cNvPr id="10" name="Rounded Rectangle 9"/>
          <p:cNvSpPr/>
          <p:nvPr/>
        </p:nvSpPr>
        <p:spPr>
          <a:xfrm>
            <a:off x="4297679" y="2286000"/>
            <a:ext cx="3520440" cy="1188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59" y="2377440"/>
            <a:ext cx="3154680" cy="1005840"/>
          </a:xfrm>
          <a:prstGeom prst="rect">
            <a:avLst/>
          </a:prstGeom>
          <a:noFill/>
        </p:spPr>
        <p:txBody>
          <a:bodyPr wrap="square" lIns="45720" rIns="45720" tIns="27432" bIns="27432" anchor="ctr">
            <a:spAutoFit/>
            <a:spAutoFit/>
          </a:bodyPr>
          <a:lstStyle/>
          <a:p>
            <a:pPr algn="ctr">
              <a:lnSpc>
                <a:spcPct val="115000"/>
              </a:lnSpc>
              <a:spcAft>
                <a:spcPts val="0"/>
              </a:spcAft>
            </a:pPr>
            <a:r>
              <a:rPr sz="1800" b="0">
                <a:solidFill>
                  <a:srgbClr val="23301F"/>
                </a:solidFill>
                <a:latin typeface="游ゴシック"/>
                <a:ea typeface="游ゴシック"/>
              </a:rPr>
              <a:t>理由・根拠・具体例を</a:t>
            </a:r>
          </a:p>
          <a:p>
            <a:pPr algn="ctr">
              <a:lnSpc>
                <a:spcPct val="115000"/>
              </a:lnSpc>
              <a:spcAft>
                <a:spcPts val="0"/>
              </a:spcAft>
            </a:pPr>
            <a:r>
              <a:rPr sz="1800" b="0">
                <a:solidFill>
                  <a:srgbClr val="23301F"/>
                </a:solidFill>
                <a:latin typeface="游ゴシック"/>
                <a:ea typeface="游ゴシック"/>
              </a:rPr>
              <a:t>2〜3点で展開する</a:t>
            </a:r>
          </a:p>
        </p:txBody>
      </p:sp>
      <p:sp>
        <p:nvSpPr>
          <p:cNvPr id="12" name="Rounded Rectangle 11"/>
          <p:cNvSpPr/>
          <p:nvPr/>
        </p:nvSpPr>
        <p:spPr>
          <a:xfrm>
            <a:off x="8046719" y="1691640"/>
            <a:ext cx="3520440" cy="54864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結論　15〜20%</a:t>
            </a:r>
          </a:p>
        </p:txBody>
      </p:sp>
      <p:sp>
        <p:nvSpPr>
          <p:cNvPr id="13" name="Rounded Rectangle 12"/>
          <p:cNvSpPr/>
          <p:nvPr/>
        </p:nvSpPr>
        <p:spPr>
          <a:xfrm>
            <a:off x="8046719" y="2286000"/>
            <a:ext cx="3520440" cy="1188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9" y="2377440"/>
            <a:ext cx="3154680" cy="1005840"/>
          </a:xfrm>
          <a:prstGeom prst="rect">
            <a:avLst/>
          </a:prstGeom>
          <a:noFill/>
        </p:spPr>
        <p:txBody>
          <a:bodyPr wrap="square" lIns="45720" rIns="45720" tIns="27432" bIns="27432" anchor="ctr">
            <a:spAutoFit/>
            <a:spAutoFit/>
          </a:bodyPr>
          <a:lstStyle/>
          <a:p>
            <a:pPr algn="ctr">
              <a:lnSpc>
                <a:spcPct val="115000"/>
              </a:lnSpc>
              <a:spcAft>
                <a:spcPts val="0"/>
              </a:spcAft>
            </a:pPr>
            <a:r>
              <a:rPr sz="1800" b="0">
                <a:solidFill>
                  <a:srgbClr val="23301F"/>
                </a:solidFill>
                <a:latin typeface="游ゴシック"/>
                <a:ea typeface="游ゴシック"/>
              </a:rPr>
              <a:t>主張を確認し、</a:t>
            </a:r>
          </a:p>
          <a:p>
            <a:pPr algn="ctr">
              <a:lnSpc>
                <a:spcPct val="115000"/>
              </a:lnSpc>
              <a:spcAft>
                <a:spcPts val="0"/>
              </a:spcAft>
            </a:pPr>
            <a:r>
              <a:rPr sz="1800" b="0">
                <a:solidFill>
                  <a:srgbClr val="23301F"/>
                </a:solidFill>
                <a:latin typeface="游ゴシック"/>
                <a:ea typeface="游ゴシック"/>
              </a:rPr>
              <a:t>大学での学びにつなげる</a:t>
            </a:r>
          </a:p>
        </p:txBody>
      </p:sp>
      <p:sp>
        <p:nvSpPr>
          <p:cNvPr id="15" name="Rounded Rectangle 14"/>
          <p:cNvSpPr/>
          <p:nvPr/>
        </p:nvSpPr>
        <p:spPr>
          <a:xfrm>
            <a:off x="548640" y="3703320"/>
            <a:ext cx="5486400" cy="1828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794760"/>
            <a:ext cx="5120640" cy="1691640"/>
          </a:xfrm>
          <a:prstGeom prst="rect">
            <a:avLst/>
          </a:prstGeom>
          <a:noFill/>
        </p:spPr>
        <p:txBody>
          <a:bodyPr wrap="square" lIns="45720" rIns="45720" tIns="27432" bIns="27432" anchor="t">
            <a:spAutoFit/>
            <a:spAutoFit/>
          </a:bodyPr>
          <a:lstStyle/>
          <a:p>
            <a:pPr algn="l">
              <a:lnSpc>
                <a:spcPct val="115000"/>
              </a:lnSpc>
              <a:spcAft>
                <a:spcPts val="300"/>
              </a:spcAft>
            </a:pPr>
            <a:r>
              <a:rPr sz="1800" b="1">
                <a:solidFill>
                  <a:srgbClr val="2C5F2D"/>
                </a:solidFill>
                <a:latin typeface="游ゴシック"/>
                <a:ea typeface="游ゴシック"/>
              </a:rPr>
              <a:t>文体のルール</a:t>
            </a:r>
          </a:p>
          <a:p>
            <a:pPr algn="l">
              <a:lnSpc>
                <a:spcPct val="115000"/>
              </a:lnSpc>
              <a:spcAft>
                <a:spcPts val="300"/>
              </a:spcAft>
            </a:pPr>
            <a:r>
              <a:rPr sz="1600" b="0">
                <a:solidFill>
                  <a:srgbClr val="23301F"/>
                </a:solidFill>
                <a:latin typeface="游ゴシック"/>
                <a:ea typeface="游ゴシック"/>
              </a:rPr>
              <a:t>・「だ・である」調で統一する</a:t>
            </a:r>
          </a:p>
          <a:p>
            <a:pPr algn="l">
              <a:lnSpc>
                <a:spcPct val="115000"/>
              </a:lnSpc>
              <a:spcAft>
                <a:spcPts val="300"/>
              </a:spcAft>
            </a:pPr>
            <a:r>
              <a:rPr sz="1600" b="0">
                <a:solidFill>
                  <a:srgbClr val="23301F"/>
                </a:solidFill>
                <a:latin typeface="游ゴシック"/>
                <a:ea typeface="游ゴシック"/>
              </a:rPr>
              <a:t>・一文を短く、一文一意</a:t>
            </a:r>
          </a:p>
          <a:p>
            <a:pPr algn="l">
              <a:lnSpc>
                <a:spcPct val="115000"/>
              </a:lnSpc>
              <a:spcAft>
                <a:spcPts val="0"/>
              </a:spcAft>
            </a:pPr>
            <a:r>
              <a:rPr sz="1600" b="0">
                <a:solidFill>
                  <a:srgbClr val="23301F"/>
                </a:solidFill>
                <a:latin typeface="游ゴシック"/>
                <a:ea typeface="游ゴシック"/>
              </a:rPr>
              <a:t>・話し言葉（〜だと思う、〜なので）を避ける</a:t>
            </a:r>
          </a:p>
        </p:txBody>
      </p:sp>
      <p:sp>
        <p:nvSpPr>
          <p:cNvPr id="17" name="Rounded Rectangle 16"/>
          <p:cNvSpPr/>
          <p:nvPr/>
        </p:nvSpPr>
        <p:spPr>
          <a:xfrm>
            <a:off x="6172200" y="3703320"/>
            <a:ext cx="5468112" cy="1828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794760"/>
            <a:ext cx="5102352" cy="1691640"/>
          </a:xfrm>
          <a:prstGeom prst="rect">
            <a:avLst/>
          </a:prstGeom>
          <a:noFill/>
        </p:spPr>
        <p:txBody>
          <a:bodyPr wrap="square" lIns="45720" rIns="45720" tIns="27432" bIns="27432" anchor="t">
            <a:spAutoFit/>
            <a:spAutoFit/>
          </a:bodyPr>
          <a:lstStyle/>
          <a:p>
            <a:pPr algn="l">
              <a:lnSpc>
                <a:spcPct val="115000"/>
              </a:lnSpc>
              <a:spcAft>
                <a:spcPts val="300"/>
              </a:spcAft>
            </a:pPr>
            <a:r>
              <a:rPr sz="1800" b="1">
                <a:solidFill>
                  <a:srgbClr val="2C5F2D"/>
                </a:solidFill>
                <a:latin typeface="游ゴシック"/>
                <a:ea typeface="游ゴシック"/>
              </a:rPr>
              <a:t>大学が見ていること</a:t>
            </a:r>
          </a:p>
          <a:p>
            <a:pPr algn="l">
              <a:lnSpc>
                <a:spcPct val="115000"/>
              </a:lnSpc>
              <a:spcAft>
                <a:spcPts val="300"/>
              </a:spcAft>
            </a:pPr>
            <a:r>
              <a:rPr sz="1600" b="0">
                <a:solidFill>
                  <a:srgbClr val="23301F"/>
                </a:solidFill>
                <a:latin typeface="游ゴシック"/>
                <a:ea typeface="游ゴシック"/>
              </a:rPr>
              <a:t>・課題文の主張を正確に読み取れているか</a:t>
            </a:r>
          </a:p>
          <a:p>
            <a:pPr algn="l">
              <a:lnSpc>
                <a:spcPct val="115000"/>
              </a:lnSpc>
              <a:spcAft>
                <a:spcPts val="300"/>
              </a:spcAft>
            </a:pPr>
            <a:r>
              <a:rPr sz="1600" b="0">
                <a:solidFill>
                  <a:srgbClr val="23301F"/>
                </a:solidFill>
                <a:latin typeface="游ゴシック"/>
                <a:ea typeface="游ゴシック"/>
              </a:rPr>
              <a:t>・患者・家族の立場から考えられているか</a:t>
            </a:r>
          </a:p>
          <a:p>
            <a:pPr algn="l">
              <a:lnSpc>
                <a:spcPct val="115000"/>
              </a:lnSpc>
              <a:spcAft>
                <a:spcPts val="0"/>
              </a:spcAft>
            </a:pPr>
            <a:r>
              <a:rPr sz="1600" b="0">
                <a:solidFill>
                  <a:srgbClr val="23301F"/>
                </a:solidFill>
                <a:latin typeface="游ゴシック"/>
                <a:ea typeface="游ゴシック"/>
              </a:rPr>
              <a:t>・看護職として学びたいことにつなげているか</a:t>
            </a:r>
          </a:p>
        </p:txBody>
      </p:sp>
      <p:sp>
        <p:nvSpPr>
          <p:cNvPr id="19" name="Rounded Rectangle 18"/>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字数　</a:t>
            </a:r>
            <a:r>
              <a:rPr sz="1800" b="0">
                <a:solidFill>
                  <a:srgbClr val="FFFFFF"/>
                </a:solidFill>
                <a:latin typeface="游ゴシック"/>
                <a:ea typeface="游ゴシック"/>
              </a:rPr>
              <a:t>1000字以内なら、最低でも900字（9割）を目標に書き切る。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テーマ1｜高齢者の孤立と看護</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オリジナル予想問題（看護学部の出題傾向に準拠）／1000字以内</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読む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6</a:t>
            </a:r>
          </a:p>
        </p:txBody>
      </p:sp>
      <p:sp>
        <p:nvSpPr>
          <p:cNvPr id="8" name="Rounded Rectangle 7"/>
          <p:cNvSpPr/>
          <p:nvPr/>
        </p:nvSpPr>
        <p:spPr>
          <a:xfrm>
            <a:off x="548640" y="1783080"/>
            <a:ext cx="667512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問題（要旨）</a:t>
            </a:r>
          </a:p>
        </p:txBody>
      </p:sp>
      <p:sp>
        <p:nvSpPr>
          <p:cNvPr id="10" name="TextBox 9"/>
          <p:cNvSpPr txBox="1"/>
          <p:nvPr/>
        </p:nvSpPr>
        <p:spPr>
          <a:xfrm>
            <a:off x="777240" y="2240280"/>
            <a:ext cx="6309360" cy="1345945"/>
          </a:xfrm>
          <a:prstGeom prst="rect">
            <a:avLst/>
          </a:prstGeom>
          <a:noFill/>
        </p:spPr>
        <p:txBody>
          <a:bodyPr wrap="square" lIns="45720" rIns="45720" tIns="27432" bIns="27432" anchor="t">
            <a:spAutoFit/>
            <a:spAutoFit/>
          </a:bodyPr>
          <a:lstStyle/>
          <a:p>
            <a:pPr algn="l">
              <a:lnSpc>
                <a:spcPct val="115000"/>
              </a:lnSpc>
              <a:spcAft>
                <a:spcPts val="0"/>
              </a:spcAft>
            </a:pPr>
            <a:r>
              <a:rPr sz="1700" b="0">
                <a:solidFill>
                  <a:srgbClr val="23301F"/>
                </a:solidFill>
                <a:latin typeface="游ゴシック"/>
                <a:ea typeface="游ゴシック"/>
              </a:rPr>
              <a:t>一人暮らしの高齢者が地域で孤立しやすくなっていることを述べた課題文を読み、筆者の主張を要約したうえで、孤立を防ぐために看護職が果たすべき役割について、あなたの考えを述べなさい。</a:t>
            </a:r>
          </a:p>
        </p:txBody>
      </p:sp>
      <p:sp>
        <p:nvSpPr>
          <p:cNvPr id="11" name="TextBox 10"/>
          <p:cNvSpPr txBox="1"/>
          <p:nvPr/>
        </p:nvSpPr>
        <p:spPr>
          <a:xfrm>
            <a:off x="777240" y="3695954"/>
            <a:ext cx="6309360" cy="1790445"/>
          </a:xfrm>
          <a:prstGeom prst="rect">
            <a:avLst/>
          </a:prstGeom>
          <a:noFill/>
        </p:spPr>
        <p:txBody>
          <a:bodyPr wrap="square" lIns="45720" rIns="45720" tIns="27432" bIns="27432" anchor="t">
            <a:spAutoFit/>
            <a:spAutoFit/>
          </a:bodyPr>
          <a:lstStyle/>
          <a:p>
            <a:pPr algn="l">
              <a:lnSpc>
                <a:spcPct val="115000"/>
              </a:lnSpc>
              <a:spcAft>
                <a:spcPts val="200"/>
              </a:spcAft>
            </a:pPr>
            <a:r>
              <a:rPr sz="1500" b="1">
                <a:solidFill>
                  <a:srgbClr val="2C5F2D"/>
                </a:solidFill>
                <a:latin typeface="游ゴシック"/>
                <a:ea typeface="游ゴシック"/>
              </a:rPr>
              <a:t>課題文（要旨）</a:t>
            </a:r>
          </a:p>
          <a:p>
            <a:pPr algn="l">
              <a:lnSpc>
                <a:spcPct val="115000"/>
              </a:lnSpc>
              <a:spcAft>
                <a:spcPts val="0"/>
              </a:spcAft>
            </a:pPr>
            <a:r>
              <a:rPr sz="1500" b="0">
                <a:solidFill>
                  <a:srgbClr val="23301F"/>
                </a:solidFill>
                <a:latin typeface="游ゴシック"/>
                <a:ea typeface="游ゴシック"/>
              </a:rPr>
              <a:t>高齢者の一人暮らしが増え、近所づきあいや外出の機会が減った人は、体調の変化に気づかれにくい。筆者は、病院の中だけで患者を待つ医療では、孤立した高齢者に手が届かないと指摘し、地域に出向いて暮らしを支える看護の重要性を訴えている。</a:t>
            </a:r>
          </a:p>
        </p:txBody>
      </p:sp>
      <p:sp>
        <p:nvSpPr>
          <p:cNvPr id="12" name="Rounded Rectangle 11"/>
          <p:cNvSpPr/>
          <p:nvPr/>
        </p:nvSpPr>
        <p:spPr>
          <a:xfrm>
            <a:off x="7406640" y="1783080"/>
            <a:ext cx="4233672" cy="3794760"/>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874519"/>
            <a:ext cx="384048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読むときに線を引くところ</a:t>
            </a:r>
          </a:p>
        </p:txBody>
      </p:sp>
      <p:sp>
        <p:nvSpPr>
          <p:cNvPr id="14" name="TextBox 13"/>
          <p:cNvSpPr txBox="1"/>
          <p:nvPr/>
        </p:nvSpPr>
        <p:spPr>
          <a:xfrm>
            <a:off x="7635240" y="2286000"/>
            <a:ext cx="3840480" cy="3200400"/>
          </a:xfrm>
          <a:prstGeom prst="rect">
            <a:avLst/>
          </a:prstGeom>
          <a:noFill/>
        </p:spPr>
        <p:txBody>
          <a:bodyPr wrap="square" lIns="45720" rIns="45720" tIns="27432" bIns="27432" anchor="t">
            <a:spAutoFit/>
            <a:spAutoFit/>
          </a:bodyPr>
          <a:lstStyle/>
          <a:p>
            <a:pPr algn="l">
              <a:lnSpc>
                <a:spcPct val="115000"/>
              </a:lnSpc>
              <a:spcAft>
                <a:spcPts val="600"/>
              </a:spcAft>
            </a:pPr>
            <a:r>
              <a:rPr sz="1500" b="0">
                <a:solidFill>
                  <a:srgbClr val="23301F"/>
                </a:solidFill>
                <a:latin typeface="游ゴシック"/>
                <a:ea typeface="游ゴシック"/>
              </a:rPr>
              <a:t>① 「筆者の主張を要約」＝課題文の読み取りが必須</a:t>
            </a:r>
          </a:p>
          <a:p>
            <a:pPr algn="l">
              <a:lnSpc>
                <a:spcPct val="115000"/>
              </a:lnSpc>
              <a:spcAft>
                <a:spcPts val="600"/>
              </a:spcAft>
            </a:pPr>
            <a:r>
              <a:rPr sz="1500" b="0">
                <a:solidFill>
                  <a:srgbClr val="23301F"/>
                </a:solidFill>
                <a:latin typeface="游ゴシック"/>
                <a:ea typeface="游ゴシック"/>
              </a:rPr>
              <a:t>② 「看護職が果たすべき役割」＝看護の立場で書く</a:t>
            </a:r>
          </a:p>
          <a:p>
            <a:pPr algn="l">
              <a:lnSpc>
                <a:spcPct val="115000"/>
              </a:lnSpc>
              <a:spcAft>
                <a:spcPts val="600"/>
              </a:spcAft>
            </a:pPr>
            <a:r>
              <a:rPr sz="1500" b="0">
                <a:solidFill>
                  <a:srgbClr val="23301F"/>
                </a:solidFill>
                <a:latin typeface="游ゴシック"/>
                <a:ea typeface="游ゴシック"/>
              </a:rPr>
              <a:t>③ 「あなたの考え」＝自分の意見として書く</a:t>
            </a:r>
          </a:p>
          <a:p>
            <a:pPr algn="l">
              <a:lnSpc>
                <a:spcPct val="115000"/>
              </a:lnSpc>
              <a:spcAft>
                <a:spcPts val="0"/>
              </a:spcAft>
            </a:pPr>
            <a:r>
              <a:rPr sz="1500" b="0">
                <a:solidFill>
                  <a:srgbClr val="23301F"/>
                </a:solidFill>
                <a:latin typeface="游ゴシック"/>
                <a:ea typeface="游ゴシック"/>
              </a:rPr>
              <a:t>④ キーワード：孤立・地域・出向く看護</a:t>
            </a:r>
          </a:p>
        </p:txBody>
      </p:sp>
      <p:sp>
        <p:nvSpPr>
          <p:cNvPr id="15" name="Rounded Rectangle 14"/>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最初の10分　</a:t>
            </a:r>
            <a:r>
              <a:rPr sz="1800" b="0">
                <a:solidFill>
                  <a:srgbClr val="FFFFFF"/>
                </a:solidFill>
                <a:latin typeface="游ゴシック"/>
                <a:ea typeface="游ゴシック"/>
              </a:rPr>
              <a:t>問題文と資料を読み、「何を問われているか」に線を引く。まだ書き始めない。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お手本｜Q1　要点をつかむ</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クリックするたびに、考える順番どおりに表示されます。</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7</a:t>
            </a:r>
          </a:p>
        </p:txBody>
      </p:sp>
      <p:grpSp>
        <p:nvGrpSpPr>
          <p:cNvPr id="11" name="Group 10"/>
          <p:cNvGrpSpPr/>
          <p:nvPr/>
        </p:nvGrpSpPr>
        <p:grpSpPr>
          <a:xfrm>
            <a:off x="548640" y="1783080"/>
            <a:ext cx="11091672" cy="804672"/>
            <a:chOff x="548640" y="1783080"/>
            <a:chExt cx="11091672" cy="804672"/>
          </a:xfrm>
        </p:grpSpPr>
        <p:sp>
          <p:nvSpPr>
            <p:cNvPr id="8" name="Rounded Rectangle 7"/>
            <p:cNvSpPr/>
            <p:nvPr/>
          </p:nvSpPr>
          <p:spPr>
            <a:xfrm>
              <a:off x="548640" y="1783080"/>
              <a:ext cx="11091672" cy="804672"/>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965960"/>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問われていること①</a:t>
              </a:r>
            </a:p>
          </p:txBody>
        </p:sp>
        <p:sp>
          <p:nvSpPr>
            <p:cNvPr id="10" name="TextBox 9"/>
            <p:cNvSpPr txBox="1"/>
            <p:nvPr/>
          </p:nvSpPr>
          <p:spPr>
            <a:xfrm>
              <a:off x="3291840" y="1783080"/>
              <a:ext cx="8138160" cy="804672"/>
            </a:xfrm>
            <a:prstGeom prst="rect">
              <a:avLst/>
            </a:prstGeom>
            <a:noFill/>
          </p:spPr>
          <p:txBody>
            <a:bodyPr wrap="square" lIns="45720" rIns="45720" tIns="27432" bIns="27432" anchor="ctr">
              <a:spAutoFit/>
              <a:spAutoFit/>
            </a:bodyPr>
            <a:lstStyle/>
            <a:p>
              <a:pPr algn="l">
                <a:lnSpc>
                  <a:spcPct val="115000"/>
                </a:lnSpc>
                <a:spcAft>
                  <a:spcPts val="0"/>
                </a:spcAft>
              </a:pPr>
              <a:r>
                <a:rPr sz="1800" b="0">
                  <a:solidFill>
                    <a:srgbClr val="23301F"/>
                  </a:solidFill>
                  <a:latin typeface="游ゴシック"/>
                  <a:ea typeface="游ゴシック"/>
                </a:rPr>
                <a:t>要約 ― 筆者の主張を、自分の言葉で短くまとめる</a:t>
              </a:r>
            </a:p>
          </p:txBody>
        </p:sp>
      </p:grpSp>
      <p:grpSp>
        <p:nvGrpSpPr>
          <p:cNvPr id="15" name="Group 14"/>
          <p:cNvGrpSpPr/>
          <p:nvPr/>
        </p:nvGrpSpPr>
        <p:grpSpPr>
          <a:xfrm>
            <a:off x="548640" y="2697480"/>
            <a:ext cx="11091672" cy="804672"/>
            <a:chOff x="548640" y="2697480"/>
            <a:chExt cx="11091672" cy="804672"/>
          </a:xfrm>
        </p:grpSpPr>
        <p:sp>
          <p:nvSpPr>
            <p:cNvPr id="12" name="Rounded Rectangle 11"/>
            <p:cNvSpPr/>
            <p:nvPr/>
          </p:nvSpPr>
          <p:spPr>
            <a:xfrm>
              <a:off x="548640" y="2697480"/>
              <a:ext cx="11091672" cy="804672"/>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2880360"/>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問われていること②</a:t>
              </a:r>
            </a:p>
          </p:txBody>
        </p:sp>
        <p:sp>
          <p:nvSpPr>
            <p:cNvPr id="14" name="TextBox 13"/>
            <p:cNvSpPr txBox="1"/>
            <p:nvPr/>
          </p:nvSpPr>
          <p:spPr>
            <a:xfrm>
              <a:off x="3291840" y="2697480"/>
              <a:ext cx="8138160" cy="804672"/>
            </a:xfrm>
            <a:prstGeom prst="rect">
              <a:avLst/>
            </a:prstGeom>
            <a:noFill/>
          </p:spPr>
          <p:txBody>
            <a:bodyPr wrap="square" lIns="45720" rIns="45720" tIns="27432" bIns="27432" anchor="ctr">
              <a:spAutoFit/>
              <a:spAutoFit/>
            </a:bodyPr>
            <a:lstStyle/>
            <a:p>
              <a:pPr algn="l">
                <a:lnSpc>
                  <a:spcPct val="115000"/>
                </a:lnSpc>
                <a:spcAft>
                  <a:spcPts val="0"/>
                </a:spcAft>
              </a:pPr>
              <a:r>
                <a:rPr sz="1800" b="0">
                  <a:solidFill>
                    <a:srgbClr val="23301F"/>
                  </a:solidFill>
                  <a:latin typeface="游ゴシック"/>
                  <a:ea typeface="游ゴシック"/>
                </a:rPr>
                <a:t>看護職の役割 ― 孤立を防ぐために何をするか</a:t>
              </a:r>
            </a:p>
          </p:txBody>
        </p:sp>
      </p:grpSp>
      <p:grpSp>
        <p:nvGrpSpPr>
          <p:cNvPr id="19" name="Group 18"/>
          <p:cNvGrpSpPr/>
          <p:nvPr/>
        </p:nvGrpSpPr>
        <p:grpSpPr>
          <a:xfrm>
            <a:off x="548640" y="3611880"/>
            <a:ext cx="11091672" cy="804672"/>
            <a:chOff x="548640" y="3611880"/>
            <a:chExt cx="11091672" cy="804672"/>
          </a:xfrm>
        </p:grpSpPr>
        <p:sp>
          <p:nvSpPr>
            <p:cNvPr id="16" name="Rounded Rectangle 15"/>
            <p:cNvSpPr/>
            <p:nvPr/>
          </p:nvSpPr>
          <p:spPr>
            <a:xfrm>
              <a:off x="548640" y="3611880"/>
              <a:ext cx="11091672" cy="804672"/>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3794760"/>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資料のポイント</a:t>
              </a:r>
            </a:p>
          </p:txBody>
        </p:sp>
        <p:sp>
          <p:nvSpPr>
            <p:cNvPr id="18" name="TextBox 17"/>
            <p:cNvSpPr txBox="1"/>
            <p:nvPr/>
          </p:nvSpPr>
          <p:spPr>
            <a:xfrm>
              <a:off x="3291840" y="3611880"/>
              <a:ext cx="8138160" cy="804672"/>
            </a:xfrm>
            <a:prstGeom prst="rect">
              <a:avLst/>
            </a:prstGeom>
            <a:noFill/>
          </p:spPr>
          <p:txBody>
            <a:bodyPr wrap="square" lIns="45720" rIns="45720" tIns="27432" bIns="27432" anchor="ctr">
              <a:spAutoFit/>
              <a:spAutoFit/>
            </a:bodyPr>
            <a:lstStyle/>
            <a:p>
              <a:pPr algn="l">
                <a:lnSpc>
                  <a:spcPct val="115000"/>
                </a:lnSpc>
                <a:spcAft>
                  <a:spcPts val="0"/>
                </a:spcAft>
              </a:pPr>
              <a:r>
                <a:rPr sz="1800" b="0">
                  <a:solidFill>
                    <a:srgbClr val="23301F"/>
                  </a:solidFill>
                  <a:latin typeface="游ゴシック"/>
                  <a:ea typeface="游ゴシック"/>
                </a:rPr>
                <a:t>病院で待つ医療では孤立した高齢者に届かない → 地域に出向く看護が必要</a:t>
              </a:r>
            </a:p>
          </p:txBody>
        </p:sp>
      </p:grpSp>
      <p:grpSp>
        <p:nvGrpSpPr>
          <p:cNvPr id="23" name="Group 22"/>
          <p:cNvGrpSpPr/>
          <p:nvPr/>
        </p:nvGrpSpPr>
        <p:grpSpPr>
          <a:xfrm>
            <a:off x="548640" y="4526280"/>
            <a:ext cx="11091672" cy="804672"/>
            <a:chOff x="548640" y="4526280"/>
            <a:chExt cx="11091672" cy="804672"/>
          </a:xfrm>
        </p:grpSpPr>
        <p:sp>
          <p:nvSpPr>
            <p:cNvPr id="20" name="Rounded Rectangle 19"/>
            <p:cNvSpPr/>
            <p:nvPr/>
          </p:nvSpPr>
          <p:spPr>
            <a:xfrm>
              <a:off x="548640" y="4526280"/>
              <a:ext cx="11091672" cy="804672"/>
            </a:xfrm>
            <a:prstGeom prst="roundRect">
              <a:avLst>
                <a:gd name="adj" fmla="val 6000"/>
              </a:avLst>
            </a:prstGeom>
            <a:solidFill>
              <a:srgbClr val="FCEFE3"/>
            </a:solidFill>
            <a:ln w="19050">
              <a:solidFill>
                <a:srgbClr val="D978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 y="4709160"/>
              <a:ext cx="2377440" cy="438912"/>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一言でいうと</a:t>
              </a:r>
            </a:p>
          </p:txBody>
        </p:sp>
        <p:sp>
          <p:nvSpPr>
            <p:cNvPr id="22" name="TextBox 21"/>
            <p:cNvSpPr txBox="1"/>
            <p:nvPr/>
          </p:nvSpPr>
          <p:spPr>
            <a:xfrm>
              <a:off x="3291840" y="4526280"/>
              <a:ext cx="8138160" cy="804672"/>
            </a:xfrm>
            <a:prstGeom prst="rect">
              <a:avLst/>
            </a:prstGeom>
            <a:noFill/>
          </p:spPr>
          <p:txBody>
            <a:bodyPr wrap="square" lIns="45720" rIns="45720" tIns="27432" bIns="27432" anchor="ctr">
              <a:spAutoFit/>
              <a:spAutoFit/>
            </a:bodyPr>
            <a:lstStyle/>
            <a:p>
              <a:pPr algn="l">
                <a:lnSpc>
                  <a:spcPct val="115000"/>
                </a:lnSpc>
                <a:spcAft>
                  <a:spcPts val="0"/>
                </a:spcAft>
              </a:pPr>
              <a:r>
                <a:rPr sz="1900" b="1">
                  <a:solidFill>
                    <a:srgbClr val="23301F"/>
                  </a:solidFill>
                  <a:latin typeface="游ゴシック"/>
                  <a:ea typeface="游ゴシック"/>
                </a:rPr>
                <a:t>孤立した高齢者に、看護がどう手を届けるか</a:t>
              </a:r>
            </a:p>
          </p:txBody>
        </p:sp>
      </p:grpSp>
      <p:sp>
        <p:nvSpPr>
          <p:cNvPr id="24" name="Rounded Rectangle 23"/>
          <p:cNvSpPr/>
          <p:nvPr/>
        </p:nvSpPr>
        <p:spPr>
          <a:xfrm>
            <a:off x="548640" y="557784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57784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コツ　</a:t>
            </a:r>
            <a:r>
              <a:rPr sz="1800" b="0">
                <a:solidFill>
                  <a:srgbClr val="FFFFFF"/>
                </a:solidFill>
                <a:latin typeface="游ゴシック"/>
                <a:ea typeface="游ゴシック"/>
              </a:rPr>
              <a:t>「要約したうえで」とあれば、要約の段落を必ず独立させる。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お手本｜Q2　段落の数を決める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問われていることが「要約」と「役割」の2つ → 本論は「要約・背景・役割」の3段にする</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8</a:t>
            </a:r>
          </a:p>
        </p:txBody>
      </p:sp>
      <p:grpSp>
        <p:nvGrpSpPr>
          <p:cNvPr id="12" name="Group 11"/>
          <p:cNvGrpSpPr/>
          <p:nvPr/>
        </p:nvGrpSpPr>
        <p:grpSpPr>
          <a:xfrm>
            <a:off x="548640" y="2011680"/>
            <a:ext cx="2108606" cy="2377440"/>
            <a:chOff x="548640" y="2011680"/>
            <a:chExt cx="2108606" cy="2377440"/>
          </a:xfrm>
        </p:grpSpPr>
        <p:sp>
          <p:nvSpPr>
            <p:cNvPr id="8" name="Rounded Rectangle 7"/>
            <p:cNvSpPr/>
            <p:nvPr/>
          </p:nvSpPr>
          <p:spPr>
            <a:xfrm>
              <a:off x="548640"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序論</a:t>
              </a:r>
            </a:p>
          </p:txBody>
        </p:sp>
        <p:sp>
          <p:nvSpPr>
            <p:cNvPr id="10" name="TextBox 9"/>
            <p:cNvSpPr txBox="1"/>
            <p:nvPr/>
          </p:nvSpPr>
          <p:spPr>
            <a:xfrm>
              <a:off x="640080"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約150字</a:t>
              </a:r>
            </a:p>
          </p:txBody>
        </p:sp>
        <p:sp>
          <p:nvSpPr>
            <p:cNvPr id="11" name="TextBox 10"/>
            <p:cNvSpPr txBox="1"/>
            <p:nvPr/>
          </p:nvSpPr>
          <p:spPr>
            <a:xfrm>
              <a:off x="640080"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結論（主張）を先に言う</a:t>
              </a:r>
            </a:p>
          </p:txBody>
        </p:sp>
      </p:grpSp>
      <p:grpSp>
        <p:nvGrpSpPr>
          <p:cNvPr id="17" name="Group 16"/>
          <p:cNvGrpSpPr/>
          <p:nvPr/>
        </p:nvGrpSpPr>
        <p:grpSpPr>
          <a:xfrm>
            <a:off x="2794406" y="2011680"/>
            <a:ext cx="2108606" cy="2377440"/>
            <a:chOff x="2794406" y="2011680"/>
            <a:chExt cx="2108606" cy="2377440"/>
          </a:xfrm>
        </p:grpSpPr>
        <p:sp>
          <p:nvSpPr>
            <p:cNvPr id="13" name="Rounded Rectangle 12"/>
            <p:cNvSpPr/>
            <p:nvPr/>
          </p:nvSpPr>
          <p:spPr>
            <a:xfrm>
              <a:off x="2794406"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31566"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本論①</a:t>
              </a:r>
            </a:p>
          </p:txBody>
        </p:sp>
        <p:sp>
          <p:nvSpPr>
            <p:cNvPr id="15" name="TextBox 14"/>
            <p:cNvSpPr txBox="1"/>
            <p:nvPr/>
          </p:nvSpPr>
          <p:spPr>
            <a:xfrm>
              <a:off x="2885846"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約200字</a:t>
              </a:r>
            </a:p>
          </p:txBody>
        </p:sp>
        <p:sp>
          <p:nvSpPr>
            <p:cNvPr id="16" name="TextBox 15"/>
            <p:cNvSpPr txBox="1"/>
            <p:nvPr/>
          </p:nvSpPr>
          <p:spPr>
            <a:xfrm>
              <a:off x="2885846"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課題文の要約</a:t>
              </a:r>
            </a:p>
          </p:txBody>
        </p:sp>
      </p:grpSp>
      <p:grpSp>
        <p:nvGrpSpPr>
          <p:cNvPr id="22" name="Group 21"/>
          <p:cNvGrpSpPr/>
          <p:nvPr/>
        </p:nvGrpSpPr>
        <p:grpSpPr>
          <a:xfrm>
            <a:off x="5040172" y="2011680"/>
            <a:ext cx="2108606" cy="2377440"/>
            <a:chOff x="5040172" y="2011680"/>
            <a:chExt cx="2108606" cy="2377440"/>
          </a:xfrm>
        </p:grpSpPr>
        <p:sp>
          <p:nvSpPr>
            <p:cNvPr id="18" name="Rounded Rectangle 17"/>
            <p:cNvSpPr/>
            <p:nvPr/>
          </p:nvSpPr>
          <p:spPr>
            <a:xfrm>
              <a:off x="5040172"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77332"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本論②</a:t>
              </a:r>
            </a:p>
          </p:txBody>
        </p:sp>
        <p:sp>
          <p:nvSpPr>
            <p:cNvPr id="20" name="TextBox 19"/>
            <p:cNvSpPr txBox="1"/>
            <p:nvPr/>
          </p:nvSpPr>
          <p:spPr>
            <a:xfrm>
              <a:off x="5131612"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約200字</a:t>
              </a:r>
            </a:p>
          </p:txBody>
        </p:sp>
        <p:sp>
          <p:nvSpPr>
            <p:cNvPr id="21" name="TextBox 20"/>
            <p:cNvSpPr txBox="1"/>
            <p:nvPr/>
          </p:nvSpPr>
          <p:spPr>
            <a:xfrm>
              <a:off x="5131612"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孤立が生まれる背景</a:t>
              </a:r>
            </a:p>
          </p:txBody>
        </p:sp>
      </p:grpSp>
      <p:grpSp>
        <p:nvGrpSpPr>
          <p:cNvPr id="27" name="Group 26"/>
          <p:cNvGrpSpPr/>
          <p:nvPr/>
        </p:nvGrpSpPr>
        <p:grpSpPr>
          <a:xfrm>
            <a:off x="7285939" y="2011680"/>
            <a:ext cx="2108606" cy="2377440"/>
            <a:chOff x="7285939" y="2011680"/>
            <a:chExt cx="2108606" cy="2377440"/>
          </a:xfrm>
        </p:grpSpPr>
        <p:sp>
          <p:nvSpPr>
            <p:cNvPr id="23" name="Rounded Rectangle 22"/>
            <p:cNvSpPr/>
            <p:nvPr/>
          </p:nvSpPr>
          <p:spPr>
            <a:xfrm>
              <a:off x="7285939"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23099"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本論③</a:t>
              </a:r>
            </a:p>
          </p:txBody>
        </p:sp>
        <p:sp>
          <p:nvSpPr>
            <p:cNvPr id="25" name="TextBox 24"/>
            <p:cNvSpPr txBox="1"/>
            <p:nvPr/>
          </p:nvSpPr>
          <p:spPr>
            <a:xfrm>
              <a:off x="7377379"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250〜300字</a:t>
              </a:r>
            </a:p>
          </p:txBody>
        </p:sp>
        <p:sp>
          <p:nvSpPr>
            <p:cNvPr id="26" name="TextBox 25"/>
            <p:cNvSpPr txBox="1"/>
            <p:nvPr/>
          </p:nvSpPr>
          <p:spPr>
            <a:xfrm>
              <a:off x="7377379"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看護職の役割（具体策）</a:t>
              </a:r>
            </a:p>
          </p:txBody>
        </p:sp>
      </p:grpSp>
      <p:grpSp>
        <p:nvGrpSpPr>
          <p:cNvPr id="32" name="Group 31"/>
          <p:cNvGrpSpPr/>
          <p:nvPr/>
        </p:nvGrpSpPr>
        <p:grpSpPr>
          <a:xfrm>
            <a:off x="9531705" y="2011680"/>
            <a:ext cx="2108606" cy="2377440"/>
            <a:chOff x="9531705" y="2011680"/>
            <a:chExt cx="2108606" cy="2377440"/>
          </a:xfrm>
        </p:grpSpPr>
        <p:sp>
          <p:nvSpPr>
            <p:cNvPr id="28" name="Rounded Rectangle 27"/>
            <p:cNvSpPr/>
            <p:nvPr/>
          </p:nvSpPr>
          <p:spPr>
            <a:xfrm>
              <a:off x="9531705"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68865"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結論</a:t>
              </a:r>
            </a:p>
          </p:txBody>
        </p:sp>
        <p:sp>
          <p:nvSpPr>
            <p:cNvPr id="30" name="TextBox 29"/>
            <p:cNvSpPr txBox="1"/>
            <p:nvPr/>
          </p:nvSpPr>
          <p:spPr>
            <a:xfrm>
              <a:off x="9623145"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約150字</a:t>
              </a:r>
            </a:p>
          </p:txBody>
        </p:sp>
        <p:sp>
          <p:nvSpPr>
            <p:cNvPr id="31" name="TextBox 30"/>
            <p:cNvSpPr txBox="1"/>
            <p:nvPr/>
          </p:nvSpPr>
          <p:spPr>
            <a:xfrm>
              <a:off x="9623145"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まとめ＋看護の学びへ</a:t>
              </a:r>
            </a:p>
          </p:txBody>
        </p:sp>
      </p:grpSp>
      <p:grpSp>
        <p:nvGrpSpPr>
          <p:cNvPr id="35" name="Group 34"/>
          <p:cNvGrpSpPr/>
          <p:nvPr/>
        </p:nvGrpSpPr>
        <p:grpSpPr>
          <a:xfrm>
            <a:off x="548640" y="4572000"/>
            <a:ext cx="11091672" cy="868680"/>
            <a:chOff x="548640" y="4572000"/>
            <a:chExt cx="11091672" cy="868680"/>
          </a:xfrm>
        </p:grpSpPr>
        <p:sp>
          <p:nvSpPr>
            <p:cNvPr id="33" name="Rounded Rectangle 32"/>
            <p:cNvSpPr/>
            <p:nvPr/>
          </p:nvSpPr>
          <p:spPr>
            <a:xfrm>
              <a:off x="548640" y="4572000"/>
              <a:ext cx="11091672" cy="868680"/>
            </a:xfrm>
            <a:prstGeom prst="roundRect">
              <a:avLst>
                <a:gd name="adj" fmla="val 6000"/>
              </a:avLst>
            </a:prstGeom>
            <a:solidFill>
              <a:srgbClr val="FCEFE3"/>
            </a:solidFill>
            <a:ln w="19050">
              <a:solidFill>
                <a:srgbClr val="D978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572000"/>
              <a:ext cx="10634472" cy="86868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D9782D"/>
                  </a:solidFill>
                  <a:latin typeface="游ゴシック"/>
                  <a:ea typeface="游ゴシック"/>
                </a:rPr>
                <a:t>決定：</a:t>
              </a:r>
              <a:r>
                <a:rPr sz="2000" b="1">
                  <a:solidFill>
                    <a:srgbClr val="23301F"/>
                  </a:solidFill>
                  <a:latin typeface="游ゴシック"/>
                  <a:ea typeface="游ゴシック"/>
                </a:rPr>
                <a:t>5段落（序論1・本論3・結論1）。合計900〜1000字をねらう。</a:t>
              </a:r>
            </a:p>
          </p:txBody>
        </p:sp>
      </p:grpSp>
      <p:sp>
        <p:nvSpPr>
          <p:cNvPr id="36" name="Rounded Rectangle 35"/>
          <p:cNvSpPr/>
          <p:nvPr/>
        </p:nvSpPr>
        <p:spPr>
          <a:xfrm>
            <a:off x="548640" y="557784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557784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なぜ3段？　</a:t>
            </a:r>
            <a:r>
              <a:rPr sz="1800" b="0">
                <a:solidFill>
                  <a:srgbClr val="FFFFFF"/>
                </a:solidFill>
                <a:latin typeface="游ゴシック"/>
                <a:ea typeface="游ゴシック"/>
              </a:rPr>
              <a:t>要約と役割の間に「背景」をはさむと、役割の必要性に説得力が出る。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お手本｜Q3　各段落を箇条書きで肉付けする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文章ではなく、短いメモでよい。このメモがそのまま答案になる。</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9</a:t>
            </a:r>
          </a:p>
        </p:txBody>
      </p:sp>
      <p:grpSp>
        <p:nvGrpSpPr>
          <p:cNvPr id="23" name="Group 22"/>
          <p:cNvGrpSpPr/>
          <p:nvPr/>
        </p:nvGrpSpPr>
        <p:grpSpPr>
          <a:xfrm>
            <a:off x="548640" y="1783080"/>
            <a:ext cx="11091672" cy="713231"/>
            <a:chOff x="548640" y="1783080"/>
            <a:chExt cx="11091672" cy="713231"/>
          </a:xfrm>
        </p:grpSpPr>
        <p:sp>
          <p:nvSpPr>
            <p:cNvPr id="8" name="Rounded Rectangle 7"/>
            <p:cNvSpPr/>
            <p:nvPr/>
          </p:nvSpPr>
          <p:spPr>
            <a:xfrm>
              <a:off x="548640" y="178308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856231"/>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0" name="TextBox 9"/>
            <p:cNvSpPr txBox="1"/>
            <p:nvPr/>
          </p:nvSpPr>
          <p:spPr>
            <a:xfrm>
              <a:off x="1874519" y="181965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孤立した高齢者には待つ医療では届かない → 看護職が地域に出向き、つながりをつくる役割を担うべき（主張）</a:t>
              </a:r>
            </a:p>
          </p:txBody>
        </p:sp>
      </p:grpSp>
      <p:grpSp>
        <p:nvGrpSpPr>
          <p:cNvPr id="24" name="Group 23"/>
          <p:cNvGrpSpPr/>
          <p:nvPr/>
        </p:nvGrpSpPr>
        <p:grpSpPr>
          <a:xfrm>
            <a:off x="548640" y="2560320"/>
            <a:ext cx="11091672" cy="713231"/>
            <a:chOff x="548640" y="2560320"/>
            <a:chExt cx="11091672" cy="713231"/>
          </a:xfrm>
        </p:grpSpPr>
        <p:sp>
          <p:nvSpPr>
            <p:cNvPr id="11" name="Rounded Rectangle 10"/>
            <p:cNvSpPr/>
            <p:nvPr/>
          </p:nvSpPr>
          <p:spPr>
            <a:xfrm>
              <a:off x="548640" y="256032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8368" y="2633472"/>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3" name="TextBox 12"/>
            <p:cNvSpPr txBox="1"/>
            <p:nvPr/>
          </p:nvSpPr>
          <p:spPr>
            <a:xfrm>
              <a:off x="1874519" y="259689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要約：一人暮らし・外出減 → 体調変化に気づかれにくい／病院で待つ医療の限界／出向く看護が必要</a:t>
              </a:r>
            </a:p>
          </p:txBody>
        </p:sp>
      </p:grpSp>
      <p:grpSp>
        <p:nvGrpSpPr>
          <p:cNvPr id="25" name="Group 24"/>
          <p:cNvGrpSpPr/>
          <p:nvPr/>
        </p:nvGrpSpPr>
        <p:grpSpPr>
          <a:xfrm>
            <a:off x="548640" y="3337559"/>
            <a:ext cx="11091672" cy="713231"/>
            <a:chOff x="548640" y="3337559"/>
            <a:chExt cx="11091672" cy="713231"/>
          </a:xfrm>
        </p:grpSpPr>
        <p:sp>
          <p:nvSpPr>
            <p:cNvPr id="14" name="Rounded Rectangle 13"/>
            <p:cNvSpPr/>
            <p:nvPr/>
          </p:nvSpPr>
          <p:spPr>
            <a:xfrm>
              <a:off x="548640" y="3337559"/>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410711"/>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6" name="TextBox 15"/>
            <p:cNvSpPr txBox="1"/>
            <p:nvPr/>
          </p:nvSpPr>
          <p:spPr>
            <a:xfrm>
              <a:off x="1874519" y="3374135"/>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背景：家族の小規模化・近所づきあいの減少／不調を我慢し受診が遅れる</a:t>
              </a:r>
            </a:p>
          </p:txBody>
        </p:sp>
      </p:grpSp>
      <p:grpSp>
        <p:nvGrpSpPr>
          <p:cNvPr id="26" name="Group 25"/>
          <p:cNvGrpSpPr/>
          <p:nvPr/>
        </p:nvGrpSpPr>
        <p:grpSpPr>
          <a:xfrm>
            <a:off x="548640" y="4114800"/>
            <a:ext cx="11091672" cy="713231"/>
            <a:chOff x="548640" y="4114800"/>
            <a:chExt cx="11091672" cy="713231"/>
          </a:xfrm>
        </p:grpSpPr>
        <p:sp>
          <p:nvSpPr>
            <p:cNvPr id="17" name="Rounded Rectangle 16"/>
            <p:cNvSpPr/>
            <p:nvPr/>
          </p:nvSpPr>
          <p:spPr>
            <a:xfrm>
              <a:off x="548640" y="411480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 y="4187952"/>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本論③</a:t>
              </a:r>
            </a:p>
          </p:txBody>
        </p:sp>
        <p:sp>
          <p:nvSpPr>
            <p:cNvPr id="19" name="TextBox 18"/>
            <p:cNvSpPr txBox="1"/>
            <p:nvPr/>
          </p:nvSpPr>
          <p:spPr>
            <a:xfrm>
              <a:off x="1874519" y="415137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役割1：訪問看護で暮らしの場の変化に気づく／役割2：地域の集まりで健康相談・顔なじみの関係</a:t>
              </a:r>
            </a:p>
          </p:txBody>
        </p:sp>
      </p:grpSp>
      <p:grpSp>
        <p:nvGrpSpPr>
          <p:cNvPr id="27" name="Group 26"/>
          <p:cNvGrpSpPr/>
          <p:nvPr/>
        </p:nvGrpSpPr>
        <p:grpSpPr>
          <a:xfrm>
            <a:off x="548640" y="4892040"/>
            <a:ext cx="11091672" cy="713231"/>
            <a:chOff x="548640" y="4892040"/>
            <a:chExt cx="11091672" cy="713231"/>
          </a:xfrm>
        </p:grpSpPr>
        <p:sp>
          <p:nvSpPr>
            <p:cNvPr id="20" name="Rounded Rectangle 19"/>
            <p:cNvSpPr/>
            <p:nvPr/>
          </p:nvSpPr>
          <p:spPr>
            <a:xfrm>
              <a:off x="548640" y="489204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8368" y="4965192"/>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2" name="TextBox 21"/>
            <p:cNvSpPr txBox="1"/>
            <p:nvPr/>
          </p:nvSpPr>
          <p:spPr>
            <a:xfrm>
              <a:off x="1874519" y="492861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看護は病院の外でこそ必要 → 地域看護を学び、暮らしに寄り添う看護師へ</a:t>
              </a:r>
            </a:p>
          </p:txBody>
        </p:sp>
      </p:grpSp>
      <p:sp>
        <p:nvSpPr>
          <p:cNvPr id="28" name="Rounded Rectangle 27"/>
          <p:cNvSpPr/>
          <p:nvPr/>
        </p:nvSpPr>
        <p:spPr>
          <a:xfrm>
            <a:off x="548640" y="5669280"/>
            <a:ext cx="11091672" cy="54864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669280"/>
            <a:ext cx="10634472" cy="548640"/>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ここまで25分　</a:t>
            </a:r>
            <a:r>
              <a:rPr sz="1800" b="0">
                <a:solidFill>
                  <a:srgbClr val="FFFFFF"/>
                </a:solidFill>
                <a:latin typeface="游ゴシック"/>
                <a:ea typeface="游ゴシック"/>
              </a:rPr>
              <a:t>メモが完成したら、あとは50分で書き写すように文章にするだけ。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テーマ1｜模範解答（1/2）</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Q3のメモを、そのまま文章にした完成答案</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書く 50分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10</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合計938字（序論126・本論①183・本論②210・本論③270・結論149）</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1" name="TextBox 10"/>
          <p:cNvSpPr txBox="1"/>
          <p:nvPr/>
        </p:nvSpPr>
        <p:spPr>
          <a:xfrm>
            <a:off x="1783080" y="1847088"/>
            <a:ext cx="9674352" cy="72351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一人暮らしの高齢者が地域で孤立すると、体調の変化に周りが気づけず、病気の発見や治療が遅れてしまう。私は、こうした高齢者に対しては病院で患者を待つだけの医療では手が届かないため、看護職が自ら地域に出向き、日常的なつながりをつくる役割を担うべきだと考える。</a:t>
            </a:r>
          </a:p>
        </p:txBody>
      </p:sp>
      <p:sp>
        <p:nvSpPr>
          <p:cNvPr id="12" name="Rounded Rectangle 11"/>
          <p:cNvSpPr/>
          <p:nvPr/>
        </p:nvSpPr>
        <p:spPr>
          <a:xfrm>
            <a:off x="704088" y="2671191"/>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3" name="TextBox 12"/>
          <p:cNvSpPr txBox="1"/>
          <p:nvPr/>
        </p:nvSpPr>
        <p:spPr>
          <a:xfrm>
            <a:off x="1783080" y="2634615"/>
            <a:ext cx="9674352" cy="94640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課題文の筆者は、高齢者の一人暮らしが増え、近所づきあいや外出の機会が減ったことで、体調の変化に気づかれにくい人が増えていると述べている。そのうえで、病院の中で患者が来るのを待つ医療では、孤立した高齢者には手が届かないと指摘し、地域に出向いて暮らしを支える看護が重要だと主張している。つまり筆者は、医療を受ける場を病院から暮らしの場へ広げる必要性を訴えているのである。</a:t>
            </a:r>
          </a:p>
        </p:txBody>
      </p:sp>
      <p:sp>
        <p:nvSpPr>
          <p:cNvPr id="14" name="Rounded Rectangle 13"/>
          <p:cNvSpPr/>
          <p:nvPr/>
        </p:nvSpPr>
        <p:spPr>
          <a:xfrm>
            <a:off x="704088" y="3681603"/>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5" name="TextBox 14"/>
          <p:cNvSpPr txBox="1"/>
          <p:nvPr/>
        </p:nvSpPr>
        <p:spPr>
          <a:xfrm>
            <a:off x="1783080" y="3645027"/>
            <a:ext cx="9674352" cy="116928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こうした孤立が生まれる背景には、家族の形の変化がある。子ども世代と離れて暮らす高齢者が増え、毎日の様子を見守る人が身近にいなくなった。また、地域の行事や近所どうしの付き合いも減り、困ったときに声をかけ合う関係が弱まっている。さらに、高齢者の中には「迷惑をかけたくない」と不調を我慢する人も多く、受診が遅れて症状が重くなってから見つかることも少なくない。孤立は、本人の性格の問題ではなく、社会の変化が生んだ問題なのである。</a:t>
            </a:r>
          </a:p>
        </p:txBody>
      </p:sp>
      <p:sp>
        <p:nvSpPr>
          <p:cNvPr id="16" name="Rounded Rectangle 15"/>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要約を独立させた　✓ 要約→背景→役割の順　✓ 看護の立場で具体策を示した</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テーマ1｜模範解答（2/2）</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Q3のメモを、そのまま文章にした完成答案</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書く 50分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11</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合計938字（序論126・本論①183・本論②210・本論③270・結論149）</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本論③</a:t>
            </a:r>
          </a:p>
        </p:txBody>
      </p:sp>
      <p:sp>
        <p:nvSpPr>
          <p:cNvPr id="11" name="TextBox 10"/>
          <p:cNvSpPr txBox="1"/>
          <p:nvPr/>
        </p:nvSpPr>
        <p:spPr>
          <a:xfrm>
            <a:off x="1783080" y="1847088"/>
            <a:ext cx="9674352" cy="139217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そこで私は、看護職が次の二つの役割を担うべきだと考える。第一に、訪問看護を通して暮らしの場で変化に気づくことである。看護師は病気だけでなく、その人の生活全体を見る専門職である。自宅を訪れれば、食事の量や部屋の様子、歩き方など、病院の診察だけでは見えない変化を捉えることができる。小さな変化を早く見つけて医師や家族につなげば、重症化を防げる。第二に、地域の集まりの場で健康相談を行い、顔なじみの関係をつくることである。公民館などで血圧測定や健康の話をする機会を設ければ、高齢者が気軽に相談できる相手が増え、不調を我慢せずに打ち明けやすくなる。</a:t>
            </a:r>
          </a:p>
        </p:txBody>
      </p:sp>
      <p:sp>
        <p:nvSpPr>
          <p:cNvPr id="12" name="Rounded Rectangle 11"/>
          <p:cNvSpPr/>
          <p:nvPr/>
        </p:nvSpPr>
        <p:spPr>
          <a:xfrm>
            <a:off x="704088" y="3339846"/>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13" name="TextBox 12"/>
          <p:cNvSpPr txBox="1"/>
          <p:nvPr/>
        </p:nvSpPr>
        <p:spPr>
          <a:xfrm>
            <a:off x="1783080" y="3303270"/>
            <a:ext cx="9674352" cy="72351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以上より、孤立した高齢者を支えるには、病院の外へ出向き、暮らしの中で変化に気づき、相談できる関係をつくる看護が欠かせない。私は看護学部で地域看護や在宅看護を学び、患者が住み慣れた場所で安心して暮らし続けられるよう、地域の保健師や介護職とも協力しながら、一人ひとりの生活に寄り添える看護師になりたい。</a:t>
            </a:r>
          </a:p>
        </p:txBody>
      </p:sp>
      <p:sp>
        <p:nvSpPr>
          <p:cNvPr id="14" name="Rounded Rectangle 13"/>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要約を独立させた　✓ 要約→背景→役割の順　✓ 看護の立場で具体策を示した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テーマ2｜チーム医療と看護師</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オリジナル予想問題（看護学部の出題傾向に準拠）／1000字以内</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読む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12</a:t>
            </a:r>
          </a:p>
        </p:txBody>
      </p:sp>
      <p:sp>
        <p:nvSpPr>
          <p:cNvPr id="8" name="Rounded Rectangle 7"/>
          <p:cNvSpPr/>
          <p:nvPr/>
        </p:nvSpPr>
        <p:spPr>
          <a:xfrm>
            <a:off x="548640" y="1783080"/>
            <a:ext cx="667512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問題（要旨）</a:t>
            </a:r>
          </a:p>
        </p:txBody>
      </p:sp>
      <p:sp>
        <p:nvSpPr>
          <p:cNvPr id="10" name="TextBox 9"/>
          <p:cNvSpPr txBox="1"/>
          <p:nvPr/>
        </p:nvSpPr>
        <p:spPr>
          <a:xfrm>
            <a:off x="777240" y="2240280"/>
            <a:ext cx="6309360" cy="1345945"/>
          </a:xfrm>
          <a:prstGeom prst="rect">
            <a:avLst/>
          </a:prstGeom>
          <a:noFill/>
        </p:spPr>
        <p:txBody>
          <a:bodyPr wrap="square" lIns="45720" rIns="45720" tIns="27432" bIns="27432" anchor="t">
            <a:spAutoFit/>
            <a:spAutoFit/>
          </a:bodyPr>
          <a:lstStyle/>
          <a:p>
            <a:pPr algn="l">
              <a:lnSpc>
                <a:spcPct val="115000"/>
              </a:lnSpc>
              <a:spcAft>
                <a:spcPts val="0"/>
              </a:spcAft>
            </a:pPr>
            <a:r>
              <a:rPr sz="1700" b="0">
                <a:solidFill>
                  <a:srgbClr val="23301F"/>
                </a:solidFill>
                <a:latin typeface="游ゴシック"/>
                <a:ea typeface="游ゴシック"/>
              </a:rPr>
              <a:t>医療の現場では、さまざまな職種が協力する「チーム医療」が進められている。下の職種を参考に、チーム医療の中で看護師に求められる役割は何か、具体例を挙げてあなたの考えを述べなさい。</a:t>
            </a:r>
          </a:p>
        </p:txBody>
      </p:sp>
      <p:sp>
        <p:nvSpPr>
          <p:cNvPr id="11" name="TextBox 10"/>
          <p:cNvSpPr txBox="1"/>
          <p:nvPr/>
        </p:nvSpPr>
        <p:spPr>
          <a:xfrm>
            <a:off x="777240" y="3695954"/>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2C5F2D"/>
                </a:solidFill>
                <a:latin typeface="游ゴシック"/>
                <a:ea typeface="游ゴシック"/>
              </a:rPr>
              <a:t>チーム医療に関わる職種（例）</a:t>
            </a:r>
          </a:p>
        </p:txBody>
      </p:sp>
      <p:sp>
        <p:nvSpPr>
          <p:cNvPr id="12" name="Rounded Rectangle 11"/>
          <p:cNvSpPr/>
          <p:nvPr/>
        </p:nvSpPr>
        <p:spPr>
          <a:xfrm>
            <a:off x="777240" y="4134866"/>
            <a:ext cx="3017520" cy="389551"/>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医師</a:t>
            </a:r>
          </a:p>
        </p:txBody>
      </p:sp>
      <p:sp>
        <p:nvSpPr>
          <p:cNvPr id="13" name="Rounded Rectangle 12"/>
          <p:cNvSpPr/>
          <p:nvPr/>
        </p:nvSpPr>
        <p:spPr>
          <a:xfrm>
            <a:off x="3931920" y="4134866"/>
            <a:ext cx="3017520" cy="389551"/>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看護師</a:t>
            </a:r>
          </a:p>
        </p:txBody>
      </p:sp>
      <p:sp>
        <p:nvSpPr>
          <p:cNvPr id="14" name="Rounded Rectangle 13"/>
          <p:cNvSpPr/>
          <p:nvPr/>
        </p:nvSpPr>
        <p:spPr>
          <a:xfrm>
            <a:off x="777240" y="4615857"/>
            <a:ext cx="3017520" cy="389551"/>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薬剤師</a:t>
            </a:r>
          </a:p>
        </p:txBody>
      </p:sp>
      <p:sp>
        <p:nvSpPr>
          <p:cNvPr id="15" name="Rounded Rectangle 14"/>
          <p:cNvSpPr/>
          <p:nvPr/>
        </p:nvSpPr>
        <p:spPr>
          <a:xfrm>
            <a:off x="3931920" y="4615857"/>
            <a:ext cx="3017520" cy="389551"/>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管理栄養士</a:t>
            </a:r>
          </a:p>
        </p:txBody>
      </p:sp>
      <p:sp>
        <p:nvSpPr>
          <p:cNvPr id="16" name="Rounded Rectangle 15"/>
          <p:cNvSpPr/>
          <p:nvPr/>
        </p:nvSpPr>
        <p:spPr>
          <a:xfrm>
            <a:off x="777240" y="5096848"/>
            <a:ext cx="3017520" cy="389551"/>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理学療法士</a:t>
            </a:r>
          </a:p>
        </p:txBody>
      </p:sp>
      <p:sp>
        <p:nvSpPr>
          <p:cNvPr id="17" name="Rounded Rectangle 16"/>
          <p:cNvSpPr/>
          <p:nvPr/>
        </p:nvSpPr>
        <p:spPr>
          <a:xfrm>
            <a:off x="3931920" y="5096848"/>
            <a:ext cx="3017520" cy="389551"/>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医療ソーシャルワーカー</a:t>
            </a:r>
          </a:p>
        </p:txBody>
      </p:sp>
      <p:sp>
        <p:nvSpPr>
          <p:cNvPr id="18" name="Rounded Rectangle 17"/>
          <p:cNvSpPr/>
          <p:nvPr/>
        </p:nvSpPr>
        <p:spPr>
          <a:xfrm>
            <a:off x="7406640" y="1783080"/>
            <a:ext cx="4233672" cy="3794760"/>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35240" y="1874519"/>
            <a:ext cx="384048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読むときに線を引くところ</a:t>
            </a:r>
          </a:p>
        </p:txBody>
      </p:sp>
      <p:sp>
        <p:nvSpPr>
          <p:cNvPr id="20" name="TextBox 19"/>
          <p:cNvSpPr txBox="1"/>
          <p:nvPr/>
        </p:nvSpPr>
        <p:spPr>
          <a:xfrm>
            <a:off x="7635240" y="2286000"/>
            <a:ext cx="3840480" cy="3200400"/>
          </a:xfrm>
          <a:prstGeom prst="rect">
            <a:avLst/>
          </a:prstGeom>
          <a:noFill/>
        </p:spPr>
        <p:txBody>
          <a:bodyPr wrap="square" lIns="45720" rIns="45720" tIns="27432" bIns="27432" anchor="t">
            <a:spAutoFit/>
            <a:spAutoFit/>
          </a:bodyPr>
          <a:lstStyle/>
          <a:p>
            <a:pPr algn="l">
              <a:lnSpc>
                <a:spcPct val="115000"/>
              </a:lnSpc>
              <a:spcAft>
                <a:spcPts val="600"/>
              </a:spcAft>
            </a:pPr>
            <a:r>
              <a:rPr sz="1500" b="0">
                <a:solidFill>
                  <a:srgbClr val="23301F"/>
                </a:solidFill>
                <a:latin typeface="游ゴシック"/>
                <a:ea typeface="游ゴシック"/>
              </a:rPr>
              <a:t>① 「チーム医療の中で」＝他職種との関係で考える</a:t>
            </a:r>
          </a:p>
          <a:p>
            <a:pPr algn="l">
              <a:lnSpc>
                <a:spcPct val="115000"/>
              </a:lnSpc>
              <a:spcAft>
                <a:spcPts val="600"/>
              </a:spcAft>
            </a:pPr>
            <a:r>
              <a:rPr sz="1500" b="0">
                <a:solidFill>
                  <a:srgbClr val="23301F"/>
                </a:solidFill>
                <a:latin typeface="游ゴシック"/>
                <a:ea typeface="游ゴシック"/>
              </a:rPr>
              <a:t>② 「看護師に求められる役割」＝役割を絞って示す</a:t>
            </a:r>
          </a:p>
          <a:p>
            <a:pPr algn="l">
              <a:lnSpc>
                <a:spcPct val="115000"/>
              </a:lnSpc>
              <a:spcAft>
                <a:spcPts val="600"/>
              </a:spcAft>
            </a:pPr>
            <a:r>
              <a:rPr sz="1500" b="0">
                <a:solidFill>
                  <a:srgbClr val="23301F"/>
                </a:solidFill>
                <a:latin typeface="游ゴシック"/>
                <a:ea typeface="游ゴシック"/>
              </a:rPr>
              <a:t>③ 「具体例を挙げて」＝場面を具体的に</a:t>
            </a:r>
          </a:p>
          <a:p>
            <a:pPr algn="l">
              <a:lnSpc>
                <a:spcPct val="115000"/>
              </a:lnSpc>
              <a:spcAft>
                <a:spcPts val="0"/>
              </a:spcAft>
            </a:pPr>
            <a:r>
              <a:rPr sz="1500" b="0">
                <a:solidFill>
                  <a:srgbClr val="23301F"/>
                </a:solidFill>
                <a:latin typeface="游ゴシック"/>
                <a:ea typeface="游ゴシック"/>
              </a:rPr>
              <a:t>④ 職種の名前はそのまま使ってよい</a:t>
            </a:r>
          </a:p>
        </p:txBody>
      </p:sp>
      <p:sp>
        <p:nvSpPr>
          <p:cNvPr id="21" name="Rounded Rectangle 20"/>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最初の10分　</a:t>
            </a:r>
            <a:r>
              <a:rPr sz="1800" b="0">
                <a:solidFill>
                  <a:srgbClr val="FFFFFF"/>
                </a:solidFill>
                <a:latin typeface="游ゴシック"/>
                <a:ea typeface="游ゴシック"/>
              </a:rPr>
              <a:t>問題文と資料を読み、「何を問われているか」に線を引く。まだ書き始めない。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テーマ2｜ワークシート ①</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チーム医療と看護師　― ノート（解答用紙）に書き出そう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13</a:t>
            </a:r>
          </a:p>
        </p:txBody>
      </p:sp>
      <p:sp>
        <p:nvSpPr>
          <p:cNvPr id="8" name="Rounded Rectangle 7"/>
          <p:cNvSpPr/>
          <p:nvPr/>
        </p:nvSpPr>
        <p:spPr>
          <a:xfrm>
            <a:off x="54864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Q1</a:t>
            </a:r>
          </a:p>
        </p:txBody>
      </p:sp>
      <p:sp>
        <p:nvSpPr>
          <p:cNvPr id="9" name="TextBox 8"/>
          <p:cNvSpPr txBox="1"/>
          <p:nvPr/>
        </p:nvSpPr>
        <p:spPr>
          <a:xfrm>
            <a:off x="146304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この問題・資料の「要点」は何か</a:t>
            </a:r>
          </a:p>
        </p:txBody>
      </p:sp>
      <p:sp>
        <p:nvSpPr>
          <p:cNvPr id="10" name="Rounded Rectangle 9"/>
          <p:cNvSpPr/>
          <p:nvPr/>
        </p:nvSpPr>
        <p:spPr>
          <a:xfrm>
            <a:off x="54864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・問われていることはいくつある？</a:t>
            </a:r>
          </a:p>
          <a:p>
            <a:pPr algn="l">
              <a:lnSpc>
                <a:spcPct val="115000"/>
              </a:lnSpc>
              <a:spcAft>
                <a:spcPts val="300"/>
              </a:spcAft>
            </a:pPr>
            <a:r>
              <a:rPr sz="1500" b="0">
                <a:solidFill>
                  <a:srgbClr val="23301F"/>
                </a:solidFill>
                <a:latin typeface="游ゴシック"/>
                <a:ea typeface="游ゴシック"/>
              </a:rPr>
              <a:t>・看護師だけにできることは何？</a:t>
            </a:r>
          </a:p>
          <a:p>
            <a:pPr algn="l">
              <a:lnSpc>
                <a:spcPct val="115000"/>
              </a:lnSpc>
              <a:spcAft>
                <a:spcPts val="0"/>
              </a:spcAft>
            </a:pPr>
            <a:r>
              <a:rPr sz="1500" b="0">
                <a:solidFill>
                  <a:srgbClr val="23301F"/>
                </a:solidFill>
                <a:latin typeface="游ゴシック"/>
                <a:ea typeface="游ゴシック"/>
              </a:rPr>
              <a:t>・具体例はどの職種と組み合わせる？</a:t>
            </a:r>
          </a:p>
        </p:txBody>
      </p:sp>
      <p:sp>
        <p:nvSpPr>
          <p:cNvPr id="12" name="Rounded Rectangle 11"/>
          <p:cNvSpPr/>
          <p:nvPr/>
        </p:nvSpPr>
        <p:spPr>
          <a:xfrm>
            <a:off x="54864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14" name="Rounded Rectangle 13"/>
          <p:cNvSpPr/>
          <p:nvPr/>
        </p:nvSpPr>
        <p:spPr>
          <a:xfrm>
            <a:off x="617220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Q2</a:t>
            </a:r>
          </a:p>
        </p:txBody>
      </p:sp>
      <p:sp>
        <p:nvSpPr>
          <p:cNvPr id="15" name="TextBox 14"/>
          <p:cNvSpPr txBox="1"/>
          <p:nvPr/>
        </p:nvSpPr>
        <p:spPr>
          <a:xfrm>
            <a:off x="708660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全体を何段落で書くか</a:t>
            </a:r>
          </a:p>
        </p:txBody>
      </p:sp>
      <p:sp>
        <p:nvSpPr>
          <p:cNvPr id="16" name="Rounded Rectangle 15"/>
          <p:cNvSpPr/>
          <p:nvPr/>
        </p:nvSpPr>
        <p:spPr>
          <a:xfrm>
            <a:off x="617220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・役割をいくつに絞る？</a:t>
            </a:r>
          </a:p>
          <a:p>
            <a:pPr algn="l">
              <a:lnSpc>
                <a:spcPct val="115000"/>
              </a:lnSpc>
              <a:spcAft>
                <a:spcPts val="300"/>
              </a:spcAft>
            </a:pPr>
            <a:r>
              <a:rPr sz="1500" b="0">
                <a:solidFill>
                  <a:srgbClr val="23301F"/>
                </a:solidFill>
                <a:latin typeface="游ゴシック"/>
                <a:ea typeface="游ゴシック"/>
              </a:rPr>
              <a:t>・役割の前に「現状」を入れると？</a:t>
            </a:r>
          </a:p>
          <a:p>
            <a:pPr algn="l">
              <a:lnSpc>
                <a:spcPct val="115000"/>
              </a:lnSpc>
              <a:spcAft>
                <a:spcPts val="0"/>
              </a:spcAft>
            </a:pPr>
            <a:r>
              <a:rPr sz="1500" b="0">
                <a:solidFill>
                  <a:srgbClr val="23301F"/>
                </a:solidFill>
                <a:latin typeface="游ゴシック"/>
                <a:ea typeface="游ゴシック"/>
              </a:rPr>
              <a:t>・1000字なら各段落の字数は？</a:t>
            </a:r>
          </a:p>
        </p:txBody>
      </p:sp>
      <p:sp>
        <p:nvSpPr>
          <p:cNvPr id="18" name="Rounded Rectangle 17"/>
          <p:cNvSpPr/>
          <p:nvPr/>
        </p:nvSpPr>
        <p:spPr>
          <a:xfrm>
            <a:off x="617220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20" name="Rounded Rectangle 19"/>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目安　</a:t>
            </a:r>
            <a:r>
              <a:rPr sz="1800" b="0">
                <a:solidFill>
                  <a:srgbClr val="FFFFFF"/>
                </a:solidFill>
                <a:latin typeface="游ゴシック"/>
                <a:ea typeface="游ゴシック"/>
              </a:rPr>
              <a:t>Q1・Q2で3〜4分。迷ったら、問われていることの数＝本論の段落数で決める。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テーマ2｜ワークシート ②</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　各段落に書く内容を、箇条書きで（文章にしなくてよい）</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14</a:t>
            </a:r>
          </a:p>
        </p:txBody>
      </p:sp>
      <p:sp>
        <p:nvSpPr>
          <p:cNvPr id="8" name="Rounded Rectangle 7"/>
          <p:cNvSpPr/>
          <p:nvPr/>
        </p:nvSpPr>
        <p:spPr>
          <a:xfrm>
            <a:off x="548640" y="1783080"/>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933955"/>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0" name="TextBox 9"/>
          <p:cNvSpPr txBox="1"/>
          <p:nvPr/>
        </p:nvSpPr>
        <p:spPr>
          <a:xfrm>
            <a:off x="2148840" y="1801368"/>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看護師の役割を一文で</a:t>
            </a:r>
          </a:p>
        </p:txBody>
      </p:sp>
      <p:sp>
        <p:nvSpPr>
          <p:cNvPr id="11" name="Rounded Rectangle 10"/>
          <p:cNvSpPr/>
          <p:nvPr/>
        </p:nvSpPr>
        <p:spPr>
          <a:xfrm>
            <a:off x="6446520" y="1847088"/>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542032"/>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5800" y="2692908"/>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①</a:t>
            </a:r>
          </a:p>
        </p:txBody>
      </p:sp>
      <p:sp>
        <p:nvSpPr>
          <p:cNvPr id="14" name="TextBox 13"/>
          <p:cNvSpPr txBox="1"/>
          <p:nvPr/>
        </p:nvSpPr>
        <p:spPr>
          <a:xfrm>
            <a:off x="2148840" y="2560320"/>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チーム医療はなぜ必要？</a:t>
            </a:r>
          </a:p>
        </p:txBody>
      </p:sp>
      <p:sp>
        <p:nvSpPr>
          <p:cNvPr id="15" name="Rounded Rectangle 14"/>
          <p:cNvSpPr/>
          <p:nvPr/>
        </p:nvSpPr>
        <p:spPr>
          <a:xfrm>
            <a:off x="6446520" y="2606039"/>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300984"/>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3451860"/>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②</a:t>
            </a:r>
          </a:p>
        </p:txBody>
      </p:sp>
      <p:sp>
        <p:nvSpPr>
          <p:cNvPr id="18" name="TextBox 17"/>
          <p:cNvSpPr txBox="1"/>
          <p:nvPr/>
        </p:nvSpPr>
        <p:spPr>
          <a:xfrm>
            <a:off x="2148840" y="3319272"/>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役割1は？ どんな場面？</a:t>
            </a:r>
          </a:p>
        </p:txBody>
      </p:sp>
      <p:sp>
        <p:nvSpPr>
          <p:cNvPr id="19" name="Rounded Rectangle 18"/>
          <p:cNvSpPr/>
          <p:nvPr/>
        </p:nvSpPr>
        <p:spPr>
          <a:xfrm>
            <a:off x="6446520" y="3364991"/>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4059935"/>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800" y="4210812"/>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③</a:t>
            </a:r>
          </a:p>
        </p:txBody>
      </p:sp>
      <p:sp>
        <p:nvSpPr>
          <p:cNvPr id="22" name="TextBox 21"/>
          <p:cNvSpPr txBox="1"/>
          <p:nvPr/>
        </p:nvSpPr>
        <p:spPr>
          <a:xfrm>
            <a:off x="2148840" y="4078223"/>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役割2は？ どんな場面？</a:t>
            </a:r>
          </a:p>
        </p:txBody>
      </p:sp>
      <p:sp>
        <p:nvSpPr>
          <p:cNvPr id="23" name="Rounded Rectangle 22"/>
          <p:cNvSpPr/>
          <p:nvPr/>
        </p:nvSpPr>
        <p:spPr>
          <a:xfrm>
            <a:off x="6446520" y="4123944"/>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4818888"/>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4969764"/>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6" name="TextBox 25"/>
          <p:cNvSpPr txBox="1"/>
          <p:nvPr/>
        </p:nvSpPr>
        <p:spPr>
          <a:xfrm>
            <a:off x="2148840" y="4837175"/>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まとめ＋看護学部で何を学び、どう貢献したいか</a:t>
            </a:r>
          </a:p>
        </p:txBody>
      </p:sp>
      <p:sp>
        <p:nvSpPr>
          <p:cNvPr id="27" name="Rounded Rectangle 26"/>
          <p:cNvSpPr/>
          <p:nvPr/>
        </p:nvSpPr>
        <p:spPr>
          <a:xfrm>
            <a:off x="6446520" y="4882896"/>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48640" y="5760720"/>
            <a:ext cx="11091672" cy="530352"/>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760720"/>
            <a:ext cx="10634472" cy="530352"/>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メモができたら　</a:t>
            </a:r>
            <a:r>
              <a:rPr sz="1800" b="0">
                <a:solidFill>
                  <a:srgbClr val="FFFFFF"/>
                </a:solidFill>
                <a:latin typeface="游ゴシック"/>
                <a:ea typeface="游ゴシック"/>
              </a:rPr>
              <a:t>続く50分で、このメモどおりに一気に書く → 最後の15分で見直す。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テーマ2｜模範メモ</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チーム医療と看護師　― 自分のメモと見比べよう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15</a:t>
            </a:r>
          </a:p>
        </p:txBody>
      </p:sp>
      <p:sp>
        <p:nvSpPr>
          <p:cNvPr id="8" name="Rounded Rectangle 7"/>
          <p:cNvSpPr/>
          <p:nvPr/>
        </p:nvSpPr>
        <p:spPr>
          <a:xfrm>
            <a:off x="548640" y="1783080"/>
            <a:ext cx="457200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4206240" cy="3657600"/>
          </a:xfrm>
          <a:prstGeom prst="rect">
            <a:avLst/>
          </a:prstGeom>
          <a:noFill/>
        </p:spPr>
        <p:txBody>
          <a:bodyPr wrap="square" lIns="45720" rIns="45720" tIns="27432" bIns="27432" anchor="t">
            <a:spAutoFit/>
            <a:spAutoFit/>
          </a:bodyPr>
          <a:lstStyle/>
          <a:p>
            <a:pPr algn="l">
              <a:lnSpc>
                <a:spcPct val="115000"/>
              </a:lnSpc>
              <a:spcAft>
                <a:spcPts val="300"/>
              </a:spcAft>
            </a:pPr>
            <a:r>
              <a:rPr sz="1700" b="1">
                <a:solidFill>
                  <a:srgbClr val="D9782D"/>
                </a:solidFill>
                <a:latin typeface="游ゴシック"/>
                <a:ea typeface="游ゴシック"/>
              </a:rPr>
              <a:t>Q1　要点</a:t>
            </a:r>
          </a:p>
          <a:p>
            <a:pPr algn="l">
              <a:lnSpc>
                <a:spcPct val="115000"/>
              </a:lnSpc>
              <a:spcAft>
                <a:spcPts val="300"/>
              </a:spcAft>
            </a:pPr>
            <a:r>
              <a:rPr sz="1450" b="0">
                <a:solidFill>
                  <a:srgbClr val="23301F"/>
                </a:solidFill>
                <a:latin typeface="游ゴシック"/>
                <a:ea typeface="游ゴシック"/>
              </a:rPr>
              <a:t>・問いは2つ：①看護師の役割 ②具体例</a:t>
            </a:r>
          </a:p>
          <a:p>
            <a:pPr algn="l">
              <a:lnSpc>
                <a:spcPct val="115000"/>
              </a:lnSpc>
              <a:spcAft>
                <a:spcPts val="300"/>
              </a:spcAft>
            </a:pPr>
            <a:r>
              <a:rPr sz="1450" b="0">
                <a:solidFill>
                  <a:srgbClr val="23301F"/>
                </a:solidFill>
                <a:latin typeface="游ゴシック"/>
                <a:ea typeface="游ゴシック"/>
              </a:rPr>
              <a:t>・資料は職種名のみ → 他職種との関係で書く</a:t>
            </a:r>
          </a:p>
          <a:p>
            <a:pPr algn="l">
              <a:lnSpc>
                <a:spcPct val="115000"/>
              </a:lnSpc>
              <a:spcAft>
                <a:spcPts val="300"/>
              </a:spcAft>
            </a:pPr>
            <a:r>
              <a:rPr sz="1450" b="0">
                <a:solidFill>
                  <a:srgbClr val="23301F"/>
                </a:solidFill>
                <a:latin typeface="游ゴシック"/>
                <a:ea typeface="游ゴシック"/>
              </a:rPr>
              <a:t>・一言で：患者の近くにいる看護師がチームをつなぐ</a:t>
            </a:r>
          </a:p>
          <a:p>
            <a:pPr algn="l">
              <a:lnSpc>
                <a:spcPct val="115000"/>
              </a:lnSpc>
              <a:spcAft>
                <a:spcPts val="300"/>
              </a:spcAft>
            </a:pPr>
            <a:r>
              <a:rPr sz="1700" b="1">
                <a:solidFill>
                  <a:srgbClr val="D9782D"/>
                </a:solidFill>
                <a:latin typeface="游ゴシック"/>
                <a:ea typeface="游ゴシック"/>
              </a:rPr>
              <a:t>Q2　段落構成</a:t>
            </a:r>
          </a:p>
          <a:p>
            <a:pPr algn="l">
              <a:lnSpc>
                <a:spcPct val="115000"/>
              </a:lnSpc>
              <a:spcAft>
                <a:spcPts val="300"/>
              </a:spcAft>
            </a:pPr>
            <a:r>
              <a:rPr sz="1450" b="0">
                <a:solidFill>
                  <a:srgbClr val="23301F"/>
                </a:solidFill>
                <a:latin typeface="游ゴシック"/>
                <a:ea typeface="游ゴシック"/>
              </a:rPr>
              <a:t>・5段落（序論1・本論3・結論1）</a:t>
            </a:r>
          </a:p>
          <a:p>
            <a:pPr algn="l">
              <a:lnSpc>
                <a:spcPct val="115000"/>
              </a:lnSpc>
              <a:spcAft>
                <a:spcPts val="300"/>
              </a:spcAft>
            </a:pPr>
            <a:r>
              <a:rPr sz="1450" b="0">
                <a:solidFill>
                  <a:srgbClr val="23301F"/>
                </a:solidFill>
                <a:latin typeface="游ゴシック"/>
                <a:ea typeface="游ゴシック"/>
              </a:rPr>
              <a:t>・本論＝現状 → 役割1 → 役割2</a:t>
            </a:r>
          </a:p>
          <a:p>
            <a:pPr algn="l">
              <a:lnSpc>
                <a:spcPct val="115000"/>
              </a:lnSpc>
              <a:spcAft>
                <a:spcPts val="0"/>
              </a:spcAft>
            </a:pPr>
            <a:r>
              <a:rPr sz="1450" b="0">
                <a:solidFill>
                  <a:srgbClr val="23301F"/>
                </a:solidFill>
                <a:latin typeface="游ゴシック"/>
                <a:ea typeface="游ゴシック"/>
              </a:rPr>
              <a:t>・序論150／本論200・250・250／結論130字前後</a:t>
            </a:r>
          </a:p>
        </p:txBody>
      </p:sp>
      <p:sp>
        <p:nvSpPr>
          <p:cNvPr id="10" name="TextBox 9"/>
          <p:cNvSpPr txBox="1"/>
          <p:nvPr/>
        </p:nvSpPr>
        <p:spPr>
          <a:xfrm>
            <a:off x="5349240" y="1783080"/>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700" b="1">
                <a:solidFill>
                  <a:srgbClr val="D9782D"/>
                </a:solidFill>
                <a:latin typeface="游ゴシック"/>
                <a:ea typeface="游ゴシック"/>
              </a:rPr>
              <a:t>Q3　各段落のメモ</a:t>
            </a:r>
          </a:p>
        </p:txBody>
      </p:sp>
      <p:sp>
        <p:nvSpPr>
          <p:cNvPr id="11" name="Rounded Rectangle 10"/>
          <p:cNvSpPr/>
          <p:nvPr/>
        </p:nvSpPr>
        <p:spPr>
          <a:xfrm>
            <a:off x="5349240" y="2194560"/>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58968" y="2267712"/>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3" name="TextBox 12"/>
          <p:cNvSpPr txBox="1"/>
          <p:nvPr/>
        </p:nvSpPr>
        <p:spPr>
          <a:xfrm>
            <a:off x="6583679" y="2231136"/>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看護師は患者の最も近くにいる職種 → 患者の思いと情報をチームにつなぐ役割（主張）</a:t>
            </a:r>
          </a:p>
        </p:txBody>
      </p:sp>
      <p:sp>
        <p:nvSpPr>
          <p:cNvPr id="14" name="Rounded Rectangle 13"/>
          <p:cNvSpPr/>
          <p:nvPr/>
        </p:nvSpPr>
        <p:spPr>
          <a:xfrm>
            <a:off x="5349240" y="2876702"/>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58968" y="2949854"/>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6" name="TextBox 15"/>
          <p:cNvSpPr txBox="1"/>
          <p:nvPr/>
        </p:nvSpPr>
        <p:spPr>
          <a:xfrm>
            <a:off x="6583679" y="2913278"/>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現状：医療の高度化・専門分化 → 多職種の協力が不可欠／情報がばらばらになりやすい</a:t>
            </a:r>
          </a:p>
        </p:txBody>
      </p:sp>
      <p:sp>
        <p:nvSpPr>
          <p:cNvPr id="17" name="Rounded Rectangle 16"/>
          <p:cNvSpPr/>
          <p:nvPr/>
        </p:nvSpPr>
        <p:spPr>
          <a:xfrm>
            <a:off x="5349240" y="3558844"/>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58968" y="3631996"/>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9" name="TextBox 18"/>
          <p:cNvSpPr txBox="1"/>
          <p:nvPr/>
        </p:nvSpPr>
        <p:spPr>
          <a:xfrm>
            <a:off x="6583679" y="3595420"/>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役割1：日々の変化を観察し共有（例：食事量の低下を管理栄養士へ）</a:t>
            </a:r>
          </a:p>
        </p:txBody>
      </p:sp>
      <p:sp>
        <p:nvSpPr>
          <p:cNvPr id="20" name="Rounded Rectangle 19"/>
          <p:cNvSpPr/>
          <p:nvPr/>
        </p:nvSpPr>
        <p:spPr>
          <a:xfrm>
            <a:off x="5349240" y="4240987"/>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58968" y="4314139"/>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本論③</a:t>
            </a:r>
          </a:p>
        </p:txBody>
      </p:sp>
      <p:sp>
        <p:nvSpPr>
          <p:cNvPr id="22" name="TextBox 21"/>
          <p:cNvSpPr txBox="1"/>
          <p:nvPr/>
        </p:nvSpPr>
        <p:spPr>
          <a:xfrm>
            <a:off x="6583679" y="4277563"/>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役割2：患者の思いの代弁（例：退院後の不安を医療ソーシャルワーカーへ）</a:t>
            </a:r>
          </a:p>
        </p:txBody>
      </p:sp>
      <p:sp>
        <p:nvSpPr>
          <p:cNvPr id="23" name="Rounded Rectangle 22"/>
          <p:cNvSpPr/>
          <p:nvPr/>
        </p:nvSpPr>
        <p:spPr>
          <a:xfrm>
            <a:off x="5349240" y="4923129"/>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58968" y="4996281"/>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5" name="TextBox 24"/>
          <p:cNvSpPr txBox="1"/>
          <p:nvPr/>
        </p:nvSpPr>
        <p:spPr>
          <a:xfrm>
            <a:off x="6583679" y="4959705"/>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つなぐ役割こそ看護師の専門性 → 観察力と伝える力を学びたい</a:t>
            </a:r>
          </a:p>
        </p:txBody>
      </p:sp>
      <p:sp>
        <p:nvSpPr>
          <p:cNvPr id="26" name="Rounded Rectangle 25"/>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チェック　</a:t>
            </a:r>
            <a:r>
              <a:rPr sz="1800" b="0">
                <a:solidFill>
                  <a:srgbClr val="FFFFFF"/>
                </a:solidFill>
                <a:latin typeface="游ゴシック"/>
                <a:ea typeface="游ゴシック"/>
              </a:rPr>
              <a:t>問われていることに全部答えているか。段落の役割が重なっていないか。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テーマ2｜模範解答（1/2）</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役割を2つに絞り、場面で示す／5段落</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16</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合計923字（序論152・本論①216・本論②221・本論③213・結論121）</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1" name="TextBox 10"/>
          <p:cNvSpPr txBox="1"/>
          <p:nvPr/>
        </p:nvSpPr>
        <p:spPr>
          <a:xfrm>
            <a:off x="1783080" y="1847088"/>
            <a:ext cx="9674352" cy="72351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チーム医療の中で、看護師は患者のいちばん近くで、昼も夜も長い時間を過ごす職種である。私は、看護師に求められる役割は、患者の小さな変化や本当の思いをすくい取り、それを医師や薬剤師、管理栄養士などの他職種へ確実につなぐことだと考える。チームの力は、メンバーの間で情報がどれだけ共有されるかで決まるからである。</a:t>
            </a:r>
          </a:p>
        </p:txBody>
      </p:sp>
      <p:sp>
        <p:nvSpPr>
          <p:cNvPr id="12" name="Rounded Rectangle 11"/>
          <p:cNvSpPr/>
          <p:nvPr/>
        </p:nvSpPr>
        <p:spPr>
          <a:xfrm>
            <a:off x="704088" y="2671191"/>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3" name="TextBox 12"/>
          <p:cNvSpPr txBox="1"/>
          <p:nvPr/>
        </p:nvSpPr>
        <p:spPr>
          <a:xfrm>
            <a:off x="1783080" y="2634615"/>
            <a:ext cx="9674352" cy="116928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医療が高度になり、専門が細かく分かれるにつれて、一人の患者に多くの職種が関わるようになった。医師が治療方針を決め、薬剤師が薬の効果や副作用を確かめ、理学療法士がリハビリを担う。こうした協力は患者にとって心強い一方で、それぞれが持つ情報がばらばらになり、患者の全体像が見えにくくなるおそれもある。そのため、職種の間をつなぐ存在が欠かせない。どの職種よりも患者のそばにいる時間が長い看護師は、その役割を担うのに最もふさわしい立場にある。</a:t>
            </a:r>
          </a:p>
        </p:txBody>
      </p:sp>
      <p:sp>
        <p:nvSpPr>
          <p:cNvPr id="14" name="Rounded Rectangle 13"/>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役割を2つに絞った　✓ 職種名を使って具体化　✓ 看護師の専門性に結びつけた</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テーマ2｜模範解答（2/2）</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役割を2つに絞り、場面で示す／5段落</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17</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合計923字（序論152・本論①216・本論②221・本論③213・結論121）</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1" name="TextBox 10"/>
          <p:cNvSpPr txBox="1"/>
          <p:nvPr/>
        </p:nvSpPr>
        <p:spPr>
          <a:xfrm>
            <a:off x="1783080" y="1847088"/>
            <a:ext cx="9674352" cy="116928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第一の役割は、日々の観察で気づいた変化をチームに共有することである。看護師は食事や睡眠、表情など、患者の生活そのものを毎日見ている。例えば、入院中の高齢者の食事量が少しずつ減っていることに気づいたら、それを管理栄養士に伝えることで、食べやすい形に献立を変えることができる。また、飲み込みにくそうな様子があれば、薬剤師に相談して薬の形を変えてもらうこともできる。小さな変化を見逃さずに伝えることが、治療やケアの質を高めることにつながるのである。</a:t>
            </a:r>
          </a:p>
        </p:txBody>
      </p:sp>
      <p:sp>
        <p:nvSpPr>
          <p:cNvPr id="12" name="Rounded Rectangle 11"/>
          <p:cNvSpPr/>
          <p:nvPr/>
        </p:nvSpPr>
        <p:spPr>
          <a:xfrm>
            <a:off x="704088" y="3116961"/>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本論③</a:t>
            </a:r>
          </a:p>
        </p:txBody>
      </p:sp>
      <p:sp>
        <p:nvSpPr>
          <p:cNvPr id="13" name="TextBox 12"/>
          <p:cNvSpPr txBox="1"/>
          <p:nvPr/>
        </p:nvSpPr>
        <p:spPr>
          <a:xfrm>
            <a:off x="1783080" y="3080385"/>
            <a:ext cx="9674352" cy="116928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第二の役割は、患者の思いを代弁することである。患者は医師の前では遠慮して、不安や希望を言い出せないことが多い。例えば、退院後に一人で暮らせるか不安だという声を看護師が聞き取り、医療ソーシャルワーカーに伝えれば、介護サービスの利用や住まいの調整を早めに進められる。その結果、患者は安心して退院の日を迎えることができる。患者が言葉にしにくい思いを受け止め、チームの判断に反映させることは、身近にいる看護師にしかできない役割である。</a:t>
            </a:r>
          </a:p>
        </p:txBody>
      </p:sp>
      <p:sp>
        <p:nvSpPr>
          <p:cNvPr id="14" name="Rounded Rectangle 13"/>
          <p:cNvSpPr/>
          <p:nvPr/>
        </p:nvSpPr>
        <p:spPr>
          <a:xfrm>
            <a:off x="704088" y="4350258"/>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15" name="TextBox 14"/>
          <p:cNvSpPr txBox="1"/>
          <p:nvPr/>
        </p:nvSpPr>
        <p:spPr>
          <a:xfrm>
            <a:off x="1783080" y="4313682"/>
            <a:ext cx="9674352" cy="72351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以上より、チーム医療における看護師の役割は、観察と傾聴によって得た情報と思いを、他職種へつなぐことである。私は看護学部で患者を観察する力と、他職種に分かりやすく伝える力を身につけ、患者の声をチームに届ける、チームの要となる看護師を目指したい。</a:t>
            </a:r>
          </a:p>
        </p:txBody>
      </p:sp>
      <p:sp>
        <p:nvSpPr>
          <p:cNvPr id="16" name="Rounded Rectangle 15"/>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役割を2つに絞った　✓ 職種名を使って具体化　✓ 看護師の専門性に結びつけた</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テーマ3｜医療とAI</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オリジナル予想問題（看護学部の出題傾向に準拠）／1000字以内</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読む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18</a:t>
            </a:r>
          </a:p>
        </p:txBody>
      </p:sp>
      <p:sp>
        <p:nvSpPr>
          <p:cNvPr id="8" name="Rounded Rectangle 7"/>
          <p:cNvSpPr/>
          <p:nvPr/>
        </p:nvSpPr>
        <p:spPr>
          <a:xfrm>
            <a:off x="548640" y="1783080"/>
            <a:ext cx="667512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問題（要旨）</a:t>
            </a:r>
          </a:p>
        </p:txBody>
      </p:sp>
      <p:sp>
        <p:nvSpPr>
          <p:cNvPr id="10" name="TextBox 9"/>
          <p:cNvSpPr txBox="1"/>
          <p:nvPr/>
        </p:nvSpPr>
        <p:spPr>
          <a:xfrm>
            <a:off x="777240" y="2240280"/>
            <a:ext cx="6309360" cy="1345945"/>
          </a:xfrm>
          <a:prstGeom prst="rect">
            <a:avLst/>
          </a:prstGeom>
          <a:noFill/>
        </p:spPr>
        <p:txBody>
          <a:bodyPr wrap="square" lIns="45720" rIns="45720" tIns="27432" bIns="27432" anchor="t">
            <a:spAutoFit/>
            <a:spAutoFit/>
          </a:bodyPr>
          <a:lstStyle/>
          <a:p>
            <a:pPr algn="l">
              <a:lnSpc>
                <a:spcPct val="115000"/>
              </a:lnSpc>
              <a:spcAft>
                <a:spcPts val="0"/>
              </a:spcAft>
            </a:pPr>
            <a:r>
              <a:rPr sz="1700" b="0">
                <a:solidFill>
                  <a:srgbClr val="23301F"/>
                </a:solidFill>
                <a:latin typeface="游ゴシック"/>
                <a:ea typeface="游ゴシック"/>
              </a:rPr>
              <a:t>医療の現場では、AI（人工知能）を使った画像診断や、記録作業の自動化などが広がりつつある。AIの活用が進む中で、看護師にしかできないことは何か。あなたの考えを述べなさい。</a:t>
            </a:r>
          </a:p>
        </p:txBody>
      </p:sp>
      <p:sp>
        <p:nvSpPr>
          <p:cNvPr id="11" name="TextBox 10"/>
          <p:cNvSpPr txBox="1"/>
          <p:nvPr/>
        </p:nvSpPr>
        <p:spPr>
          <a:xfrm>
            <a:off x="777240" y="3695954"/>
            <a:ext cx="6309360" cy="1790445"/>
          </a:xfrm>
          <a:prstGeom prst="rect">
            <a:avLst/>
          </a:prstGeom>
          <a:noFill/>
        </p:spPr>
        <p:txBody>
          <a:bodyPr wrap="square" lIns="45720" rIns="45720" tIns="27432" bIns="27432" anchor="t">
            <a:spAutoFit/>
            <a:spAutoFit/>
          </a:bodyPr>
          <a:lstStyle/>
          <a:p>
            <a:pPr algn="l">
              <a:lnSpc>
                <a:spcPct val="115000"/>
              </a:lnSpc>
              <a:spcAft>
                <a:spcPts val="200"/>
              </a:spcAft>
            </a:pPr>
            <a:r>
              <a:rPr sz="1500" b="1">
                <a:solidFill>
                  <a:srgbClr val="2C5F2D"/>
                </a:solidFill>
                <a:latin typeface="游ゴシック"/>
                <a:ea typeface="游ゴシック"/>
              </a:rPr>
              <a:t>条件</a:t>
            </a:r>
          </a:p>
          <a:p>
            <a:pPr algn="l">
              <a:lnSpc>
                <a:spcPct val="115000"/>
              </a:lnSpc>
              <a:spcAft>
                <a:spcPts val="200"/>
              </a:spcAft>
            </a:pPr>
            <a:r>
              <a:rPr sz="1500" b="0">
                <a:solidFill>
                  <a:srgbClr val="23301F"/>
                </a:solidFill>
                <a:latin typeface="游ゴシック"/>
                <a:ea typeface="游ゴシック"/>
              </a:rPr>
              <a:t>・1000字以内</a:t>
            </a:r>
          </a:p>
          <a:p>
            <a:pPr algn="l">
              <a:lnSpc>
                <a:spcPct val="115000"/>
              </a:lnSpc>
              <a:spcAft>
                <a:spcPts val="200"/>
              </a:spcAft>
            </a:pPr>
            <a:r>
              <a:rPr sz="1500" b="0">
                <a:solidFill>
                  <a:srgbClr val="23301F"/>
                </a:solidFill>
                <a:latin typeface="游ゴシック"/>
                <a:ea typeface="游ゴシック"/>
              </a:rPr>
              <a:t>・資料はなし → 知っている事例・身近な経験で根拠を示す</a:t>
            </a:r>
          </a:p>
          <a:p>
            <a:pPr algn="l">
              <a:lnSpc>
                <a:spcPct val="115000"/>
              </a:lnSpc>
              <a:spcAft>
                <a:spcPts val="0"/>
              </a:spcAft>
            </a:pPr>
            <a:r>
              <a:rPr sz="1500" b="0">
                <a:solidFill>
                  <a:srgbClr val="23301F"/>
                </a:solidFill>
                <a:latin typeface="游ゴシック"/>
                <a:ea typeface="游ゴシック"/>
              </a:rPr>
              <a:t>・AIの利点も認めたうえで論じる</a:t>
            </a:r>
          </a:p>
        </p:txBody>
      </p:sp>
      <p:sp>
        <p:nvSpPr>
          <p:cNvPr id="12" name="Rounded Rectangle 11"/>
          <p:cNvSpPr/>
          <p:nvPr/>
        </p:nvSpPr>
        <p:spPr>
          <a:xfrm>
            <a:off x="7406640" y="1783080"/>
            <a:ext cx="4233672" cy="3794760"/>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874519"/>
            <a:ext cx="384048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読むときに線を引くところ</a:t>
            </a:r>
          </a:p>
        </p:txBody>
      </p:sp>
      <p:sp>
        <p:nvSpPr>
          <p:cNvPr id="14" name="TextBox 13"/>
          <p:cNvSpPr txBox="1"/>
          <p:nvPr/>
        </p:nvSpPr>
        <p:spPr>
          <a:xfrm>
            <a:off x="7635240" y="2286000"/>
            <a:ext cx="3840480" cy="3200400"/>
          </a:xfrm>
          <a:prstGeom prst="rect">
            <a:avLst/>
          </a:prstGeom>
          <a:noFill/>
        </p:spPr>
        <p:txBody>
          <a:bodyPr wrap="square" lIns="45720" rIns="45720" tIns="27432" bIns="27432" anchor="t">
            <a:spAutoFit/>
            <a:spAutoFit/>
          </a:bodyPr>
          <a:lstStyle/>
          <a:p>
            <a:pPr algn="l">
              <a:lnSpc>
                <a:spcPct val="115000"/>
              </a:lnSpc>
              <a:spcAft>
                <a:spcPts val="600"/>
              </a:spcAft>
            </a:pPr>
            <a:r>
              <a:rPr sz="1500" b="0">
                <a:solidFill>
                  <a:srgbClr val="23301F"/>
                </a:solidFill>
                <a:latin typeface="游ゴシック"/>
                <a:ea typeface="游ゴシック"/>
              </a:rPr>
              <a:t>① 「AIの活用が進む中で」＝AIの利点を前提にする</a:t>
            </a:r>
          </a:p>
          <a:p>
            <a:pPr algn="l">
              <a:lnSpc>
                <a:spcPct val="115000"/>
              </a:lnSpc>
              <a:spcAft>
                <a:spcPts val="600"/>
              </a:spcAft>
            </a:pPr>
            <a:r>
              <a:rPr sz="1500" b="0">
                <a:solidFill>
                  <a:srgbClr val="23301F"/>
                </a:solidFill>
                <a:latin typeface="游ゴシック"/>
                <a:ea typeface="游ゴシック"/>
              </a:rPr>
              <a:t>② 「看護師にしかできないこと」＝人にしかできない価値</a:t>
            </a:r>
          </a:p>
          <a:p>
            <a:pPr algn="l">
              <a:lnSpc>
                <a:spcPct val="115000"/>
              </a:lnSpc>
              <a:spcAft>
                <a:spcPts val="600"/>
              </a:spcAft>
            </a:pPr>
            <a:r>
              <a:rPr sz="1500" b="0">
                <a:solidFill>
                  <a:srgbClr val="23301F"/>
                </a:solidFill>
                <a:latin typeface="游ゴシック"/>
                <a:ea typeface="游ゴシック"/>
              </a:rPr>
              <a:t>③ 「あなたの考え」＝主張を1つに決める</a:t>
            </a:r>
          </a:p>
          <a:p>
            <a:pPr algn="l">
              <a:lnSpc>
                <a:spcPct val="115000"/>
              </a:lnSpc>
              <a:spcAft>
                <a:spcPts val="0"/>
              </a:spcAft>
            </a:pPr>
            <a:r>
              <a:rPr sz="1500" b="0">
                <a:solidFill>
                  <a:srgbClr val="23301F"/>
                </a:solidFill>
                <a:latin typeface="游ゴシック"/>
                <a:ea typeface="游ゴシック"/>
              </a:rPr>
              <a:t>④ AIを否定するだけの答案にしない</a:t>
            </a:r>
          </a:p>
        </p:txBody>
      </p:sp>
      <p:sp>
        <p:nvSpPr>
          <p:cNvPr id="15" name="Rounded Rectangle 14"/>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最初の10分　</a:t>
            </a:r>
            <a:r>
              <a:rPr sz="1800" b="0">
                <a:solidFill>
                  <a:srgbClr val="FFFFFF"/>
                </a:solidFill>
                <a:latin typeface="游ゴシック"/>
                <a:ea typeface="游ゴシック"/>
              </a:rPr>
              <a:t>問題文と資料を読み、「何を問われているか」に線を引く。まだ書き始めない。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テーマ3｜ワークシート ①</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医療とAI　― ノート（解答用紙）に書き出そう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19</a:t>
            </a:r>
          </a:p>
        </p:txBody>
      </p:sp>
      <p:sp>
        <p:nvSpPr>
          <p:cNvPr id="8" name="Rounded Rectangle 7"/>
          <p:cNvSpPr/>
          <p:nvPr/>
        </p:nvSpPr>
        <p:spPr>
          <a:xfrm>
            <a:off x="54864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Q1</a:t>
            </a:r>
          </a:p>
        </p:txBody>
      </p:sp>
      <p:sp>
        <p:nvSpPr>
          <p:cNvPr id="9" name="TextBox 8"/>
          <p:cNvSpPr txBox="1"/>
          <p:nvPr/>
        </p:nvSpPr>
        <p:spPr>
          <a:xfrm>
            <a:off x="146304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この問題・資料の「要点」は何か</a:t>
            </a:r>
          </a:p>
        </p:txBody>
      </p:sp>
      <p:sp>
        <p:nvSpPr>
          <p:cNvPr id="10" name="Rounded Rectangle 9"/>
          <p:cNvSpPr/>
          <p:nvPr/>
        </p:nvSpPr>
        <p:spPr>
          <a:xfrm>
            <a:off x="54864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・設問の前提（AIの活用が進む）をどう扱う？</a:t>
            </a:r>
          </a:p>
          <a:p>
            <a:pPr algn="l">
              <a:lnSpc>
                <a:spcPct val="115000"/>
              </a:lnSpc>
              <a:spcAft>
                <a:spcPts val="300"/>
              </a:spcAft>
            </a:pPr>
            <a:r>
              <a:rPr sz="1500" b="0">
                <a:solidFill>
                  <a:srgbClr val="23301F"/>
                </a:solidFill>
                <a:latin typeface="游ゴシック"/>
                <a:ea typeface="游ゴシック"/>
              </a:rPr>
              <a:t>・看護師にしかできないことを一言で？</a:t>
            </a:r>
          </a:p>
          <a:p>
            <a:pPr algn="l">
              <a:lnSpc>
                <a:spcPct val="115000"/>
              </a:lnSpc>
              <a:spcAft>
                <a:spcPts val="0"/>
              </a:spcAft>
            </a:pPr>
            <a:r>
              <a:rPr sz="1500" b="0">
                <a:solidFill>
                  <a:srgbClr val="23301F"/>
                </a:solidFill>
                <a:latin typeface="游ゴシック"/>
                <a:ea typeface="游ゴシック"/>
              </a:rPr>
              <a:t>・どんな場面なら具体的に書ける？</a:t>
            </a:r>
          </a:p>
        </p:txBody>
      </p:sp>
      <p:sp>
        <p:nvSpPr>
          <p:cNvPr id="12" name="Rounded Rectangle 11"/>
          <p:cNvSpPr/>
          <p:nvPr/>
        </p:nvSpPr>
        <p:spPr>
          <a:xfrm>
            <a:off x="54864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14" name="Rounded Rectangle 13"/>
          <p:cNvSpPr/>
          <p:nvPr/>
        </p:nvSpPr>
        <p:spPr>
          <a:xfrm>
            <a:off x="617220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Q2</a:t>
            </a:r>
          </a:p>
        </p:txBody>
      </p:sp>
      <p:sp>
        <p:nvSpPr>
          <p:cNvPr id="15" name="TextBox 14"/>
          <p:cNvSpPr txBox="1"/>
          <p:nvPr/>
        </p:nvSpPr>
        <p:spPr>
          <a:xfrm>
            <a:off x="708660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全体を何段落で書くか</a:t>
            </a:r>
          </a:p>
        </p:txBody>
      </p:sp>
      <p:sp>
        <p:nvSpPr>
          <p:cNvPr id="16" name="Rounded Rectangle 15"/>
          <p:cNvSpPr/>
          <p:nvPr/>
        </p:nvSpPr>
        <p:spPr>
          <a:xfrm>
            <a:off x="617220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・AIの利点と人の役割、何段ずつにする？</a:t>
            </a:r>
          </a:p>
          <a:p>
            <a:pPr algn="l">
              <a:lnSpc>
                <a:spcPct val="115000"/>
              </a:lnSpc>
              <a:spcAft>
                <a:spcPts val="300"/>
              </a:spcAft>
            </a:pPr>
            <a:r>
              <a:rPr sz="1500" b="0">
                <a:solidFill>
                  <a:srgbClr val="23301F"/>
                </a:solidFill>
                <a:latin typeface="游ゴシック"/>
                <a:ea typeface="游ゴシック"/>
              </a:rPr>
              <a:t>・利点を先に書くと、どう見える？</a:t>
            </a:r>
          </a:p>
          <a:p>
            <a:pPr algn="l">
              <a:lnSpc>
                <a:spcPct val="115000"/>
              </a:lnSpc>
              <a:spcAft>
                <a:spcPts val="0"/>
              </a:spcAft>
            </a:pPr>
            <a:r>
              <a:rPr sz="1500" b="0">
                <a:solidFill>
                  <a:srgbClr val="23301F"/>
                </a:solidFill>
                <a:latin typeface="游ゴシック"/>
                <a:ea typeface="游ゴシック"/>
              </a:rPr>
              <a:t>・1000字なら各段落の字数は？</a:t>
            </a:r>
          </a:p>
        </p:txBody>
      </p:sp>
      <p:sp>
        <p:nvSpPr>
          <p:cNvPr id="18" name="Rounded Rectangle 17"/>
          <p:cNvSpPr/>
          <p:nvPr/>
        </p:nvSpPr>
        <p:spPr>
          <a:xfrm>
            <a:off x="617220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20" name="Rounded Rectangle 19"/>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目安　</a:t>
            </a:r>
            <a:r>
              <a:rPr sz="1800" b="0">
                <a:solidFill>
                  <a:srgbClr val="FFFFFF"/>
                </a:solidFill>
                <a:latin typeface="游ゴシック"/>
                <a:ea typeface="游ゴシック"/>
              </a:rPr>
              <a:t>Q1・Q2で3〜4分。迷ったら、問われていることの数＝本論の段落数で決める。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テーマ3｜ワークシート ②</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　各段落に書く内容を、箇条書きで（文章にしなくてよい）</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20</a:t>
            </a:r>
          </a:p>
        </p:txBody>
      </p:sp>
      <p:sp>
        <p:nvSpPr>
          <p:cNvPr id="8" name="Rounded Rectangle 7"/>
          <p:cNvSpPr/>
          <p:nvPr/>
        </p:nvSpPr>
        <p:spPr>
          <a:xfrm>
            <a:off x="548640" y="1783080"/>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933955"/>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0" name="TextBox 9"/>
          <p:cNvSpPr txBox="1"/>
          <p:nvPr/>
        </p:nvSpPr>
        <p:spPr>
          <a:xfrm>
            <a:off x="2148840" y="1801368"/>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主張を一文で</a:t>
            </a:r>
          </a:p>
        </p:txBody>
      </p:sp>
      <p:sp>
        <p:nvSpPr>
          <p:cNvPr id="11" name="Rounded Rectangle 10"/>
          <p:cNvSpPr/>
          <p:nvPr/>
        </p:nvSpPr>
        <p:spPr>
          <a:xfrm>
            <a:off x="6446520" y="1847088"/>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542032"/>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5800" y="2692908"/>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①</a:t>
            </a:r>
          </a:p>
        </p:txBody>
      </p:sp>
      <p:sp>
        <p:nvSpPr>
          <p:cNvPr id="14" name="TextBox 13"/>
          <p:cNvSpPr txBox="1"/>
          <p:nvPr/>
        </p:nvSpPr>
        <p:spPr>
          <a:xfrm>
            <a:off x="2148840" y="2560320"/>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AIで何が便利になる？</a:t>
            </a:r>
          </a:p>
        </p:txBody>
      </p:sp>
      <p:sp>
        <p:nvSpPr>
          <p:cNvPr id="15" name="Rounded Rectangle 14"/>
          <p:cNvSpPr/>
          <p:nvPr/>
        </p:nvSpPr>
        <p:spPr>
          <a:xfrm>
            <a:off x="6446520" y="2606039"/>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300984"/>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3451860"/>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②</a:t>
            </a:r>
          </a:p>
        </p:txBody>
      </p:sp>
      <p:sp>
        <p:nvSpPr>
          <p:cNvPr id="18" name="TextBox 17"/>
          <p:cNvSpPr txBox="1"/>
          <p:nvPr/>
        </p:nvSpPr>
        <p:spPr>
          <a:xfrm>
            <a:off x="2148840" y="3319272"/>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人にしかできないことは？ 具体的な場面は？</a:t>
            </a:r>
          </a:p>
        </p:txBody>
      </p:sp>
      <p:sp>
        <p:nvSpPr>
          <p:cNvPr id="19" name="Rounded Rectangle 18"/>
          <p:cNvSpPr/>
          <p:nvPr/>
        </p:nvSpPr>
        <p:spPr>
          <a:xfrm>
            <a:off x="6446520" y="3364991"/>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4059935"/>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800" y="4210812"/>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③</a:t>
            </a:r>
          </a:p>
        </p:txBody>
      </p:sp>
      <p:sp>
        <p:nvSpPr>
          <p:cNvPr id="22" name="TextBox 21"/>
          <p:cNvSpPr txBox="1"/>
          <p:nvPr/>
        </p:nvSpPr>
        <p:spPr>
          <a:xfrm>
            <a:off x="2148840" y="4078223"/>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（必要なら）ほかに加えたい視点があれば</a:t>
            </a:r>
          </a:p>
        </p:txBody>
      </p:sp>
      <p:sp>
        <p:nvSpPr>
          <p:cNvPr id="23" name="Rounded Rectangle 22"/>
          <p:cNvSpPr/>
          <p:nvPr/>
        </p:nvSpPr>
        <p:spPr>
          <a:xfrm>
            <a:off x="6446520" y="4123944"/>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4818888"/>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4969764"/>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6" name="TextBox 25"/>
          <p:cNvSpPr txBox="1"/>
          <p:nvPr/>
        </p:nvSpPr>
        <p:spPr>
          <a:xfrm>
            <a:off x="2148840" y="4837175"/>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まとめ＋看護学部で何を学び、どう貢献したいか</a:t>
            </a:r>
          </a:p>
        </p:txBody>
      </p:sp>
      <p:sp>
        <p:nvSpPr>
          <p:cNvPr id="27" name="Rounded Rectangle 26"/>
          <p:cNvSpPr/>
          <p:nvPr/>
        </p:nvSpPr>
        <p:spPr>
          <a:xfrm>
            <a:off x="6446520" y="4882896"/>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48640" y="5760720"/>
            <a:ext cx="11091672" cy="530352"/>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760720"/>
            <a:ext cx="10634472" cy="530352"/>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メモができたら　</a:t>
            </a:r>
            <a:r>
              <a:rPr sz="1800" b="0">
                <a:solidFill>
                  <a:srgbClr val="FFFFFF"/>
                </a:solidFill>
                <a:latin typeface="游ゴシック"/>
                <a:ea typeface="游ゴシック"/>
              </a:rPr>
              <a:t>続く50分で、このメモどおりに一気に書く → 最後の15分で見直す。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テーマ3｜模範メモ</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医療とAI　― 自分のメモと見比べよう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21</a:t>
            </a:r>
          </a:p>
        </p:txBody>
      </p:sp>
      <p:sp>
        <p:nvSpPr>
          <p:cNvPr id="8" name="Rounded Rectangle 7"/>
          <p:cNvSpPr/>
          <p:nvPr/>
        </p:nvSpPr>
        <p:spPr>
          <a:xfrm>
            <a:off x="548640" y="1783080"/>
            <a:ext cx="457200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4206240" cy="3657600"/>
          </a:xfrm>
          <a:prstGeom prst="rect">
            <a:avLst/>
          </a:prstGeom>
          <a:noFill/>
        </p:spPr>
        <p:txBody>
          <a:bodyPr wrap="square" lIns="45720" rIns="45720" tIns="27432" bIns="27432" anchor="t">
            <a:spAutoFit/>
            <a:spAutoFit/>
          </a:bodyPr>
          <a:lstStyle/>
          <a:p>
            <a:pPr algn="l">
              <a:lnSpc>
                <a:spcPct val="115000"/>
              </a:lnSpc>
              <a:spcAft>
                <a:spcPts val="300"/>
              </a:spcAft>
            </a:pPr>
            <a:r>
              <a:rPr sz="1700" b="1">
                <a:solidFill>
                  <a:srgbClr val="D9782D"/>
                </a:solidFill>
                <a:latin typeface="游ゴシック"/>
                <a:ea typeface="游ゴシック"/>
              </a:rPr>
              <a:t>Q1　要点</a:t>
            </a:r>
          </a:p>
          <a:p>
            <a:pPr algn="l">
              <a:lnSpc>
                <a:spcPct val="115000"/>
              </a:lnSpc>
              <a:spcAft>
                <a:spcPts val="300"/>
              </a:spcAft>
            </a:pPr>
            <a:r>
              <a:rPr sz="1500" b="0">
                <a:solidFill>
                  <a:srgbClr val="23301F"/>
                </a:solidFill>
                <a:latin typeface="游ゴシック"/>
                <a:ea typeface="游ゴシック"/>
              </a:rPr>
              <a:t>・問いは1つ：看護師にしかできないこと</a:t>
            </a:r>
          </a:p>
          <a:p>
            <a:pPr algn="l">
              <a:lnSpc>
                <a:spcPct val="115000"/>
              </a:lnSpc>
              <a:spcAft>
                <a:spcPts val="300"/>
              </a:spcAft>
            </a:pPr>
            <a:r>
              <a:rPr sz="1500" b="0">
                <a:solidFill>
                  <a:srgbClr val="23301F"/>
                </a:solidFill>
                <a:latin typeface="游ゴシック"/>
                <a:ea typeface="游ゴシック"/>
              </a:rPr>
              <a:t>・AIの利点を認める段落を入れる（対立を作らない）</a:t>
            </a:r>
          </a:p>
          <a:p>
            <a:pPr algn="l">
              <a:lnSpc>
                <a:spcPct val="115000"/>
              </a:lnSpc>
              <a:spcAft>
                <a:spcPts val="300"/>
              </a:spcAft>
            </a:pPr>
            <a:r>
              <a:rPr sz="1500" b="0">
                <a:solidFill>
                  <a:srgbClr val="23301F"/>
                </a:solidFill>
                <a:latin typeface="游ゴシック"/>
                <a:ea typeface="游ゴシック"/>
              </a:rPr>
              <a:t>・一言で：AIと分担し、人は心に寄り添う</a:t>
            </a:r>
          </a:p>
          <a:p>
            <a:pPr algn="l">
              <a:lnSpc>
                <a:spcPct val="115000"/>
              </a:lnSpc>
              <a:spcAft>
                <a:spcPts val="300"/>
              </a:spcAft>
            </a:pPr>
            <a:r>
              <a:rPr sz="1700" b="1">
                <a:solidFill>
                  <a:srgbClr val="D9782D"/>
                </a:solidFill>
                <a:latin typeface="游ゴシック"/>
                <a:ea typeface="游ゴシック"/>
              </a:rPr>
              <a:t>Q2　段落構成</a:t>
            </a:r>
          </a:p>
          <a:p>
            <a:pPr algn="l">
              <a:lnSpc>
                <a:spcPct val="115000"/>
              </a:lnSpc>
              <a:spcAft>
                <a:spcPts val="300"/>
              </a:spcAft>
            </a:pPr>
            <a:r>
              <a:rPr sz="1500" b="0">
                <a:solidFill>
                  <a:srgbClr val="23301F"/>
                </a:solidFill>
                <a:latin typeface="游ゴシック"/>
                <a:ea typeface="游ゴシック"/>
              </a:rPr>
              <a:t>・4段落（序論1・本論2・結論1）</a:t>
            </a:r>
          </a:p>
          <a:p>
            <a:pPr algn="l">
              <a:lnSpc>
                <a:spcPct val="115000"/>
              </a:lnSpc>
              <a:spcAft>
                <a:spcPts val="300"/>
              </a:spcAft>
            </a:pPr>
            <a:r>
              <a:rPr sz="1500" b="0">
                <a:solidFill>
                  <a:srgbClr val="23301F"/>
                </a:solidFill>
                <a:latin typeface="游ゴシック"/>
                <a:ea typeface="游ゴシック"/>
              </a:rPr>
              <a:t>・本論①＝AIの利点、本論②＝人にしかできないこと</a:t>
            </a:r>
          </a:p>
          <a:p>
            <a:pPr algn="l">
              <a:lnSpc>
                <a:spcPct val="115000"/>
              </a:lnSpc>
              <a:spcAft>
                <a:spcPts val="0"/>
              </a:spcAft>
            </a:pPr>
            <a:r>
              <a:rPr sz="1500" b="0">
                <a:solidFill>
                  <a:srgbClr val="23301F"/>
                </a:solidFill>
                <a:latin typeface="游ゴシック"/>
                <a:ea typeface="游ゴシック"/>
              </a:rPr>
              <a:t>・序論150／本論250・300／結論200字前後</a:t>
            </a:r>
          </a:p>
        </p:txBody>
      </p:sp>
      <p:sp>
        <p:nvSpPr>
          <p:cNvPr id="10" name="TextBox 9"/>
          <p:cNvSpPr txBox="1"/>
          <p:nvPr/>
        </p:nvSpPr>
        <p:spPr>
          <a:xfrm>
            <a:off x="5349240" y="1783080"/>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700" b="1">
                <a:solidFill>
                  <a:srgbClr val="D9782D"/>
                </a:solidFill>
                <a:latin typeface="游ゴシック"/>
                <a:ea typeface="游ゴシック"/>
              </a:rPr>
              <a:t>Q3　各段落のメモ</a:t>
            </a:r>
          </a:p>
        </p:txBody>
      </p:sp>
      <p:sp>
        <p:nvSpPr>
          <p:cNvPr id="11" name="Rounded Rectangle 10"/>
          <p:cNvSpPr/>
          <p:nvPr/>
        </p:nvSpPr>
        <p:spPr>
          <a:xfrm>
            <a:off x="5349240" y="2194560"/>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58968" y="2267712"/>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3" name="TextBox 12"/>
          <p:cNvSpPr txBox="1"/>
          <p:nvPr/>
        </p:nvSpPr>
        <p:spPr>
          <a:xfrm>
            <a:off x="6583679" y="2231136"/>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AIで看護の負担は減る → 空いた時間で患者の心に寄り添うことこそ看護師にしかできない（主張）</a:t>
            </a:r>
          </a:p>
        </p:txBody>
      </p:sp>
      <p:sp>
        <p:nvSpPr>
          <p:cNvPr id="14" name="Rounded Rectangle 13"/>
          <p:cNvSpPr/>
          <p:nvPr/>
        </p:nvSpPr>
        <p:spPr>
          <a:xfrm>
            <a:off x="5349240" y="3047238"/>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58968" y="3120390"/>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6" name="TextBox 15"/>
          <p:cNvSpPr txBox="1"/>
          <p:nvPr/>
        </p:nvSpPr>
        <p:spPr>
          <a:xfrm>
            <a:off x="6583679" y="3083814"/>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AIの利点：画像診断の精度・記録の自動化 → 看護師の事務負担が減り、ベッドサイドの時間が増える</a:t>
            </a:r>
          </a:p>
        </p:txBody>
      </p:sp>
      <p:sp>
        <p:nvSpPr>
          <p:cNvPr id="17" name="Rounded Rectangle 16"/>
          <p:cNvSpPr/>
          <p:nvPr/>
        </p:nvSpPr>
        <p:spPr>
          <a:xfrm>
            <a:off x="5349240" y="3899915"/>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58968" y="3973068"/>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9" name="TextBox 18"/>
          <p:cNvSpPr txBox="1"/>
          <p:nvPr/>
        </p:nvSpPr>
        <p:spPr>
          <a:xfrm>
            <a:off x="6583679" y="3936491"/>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人にしかできないこと：表情や声の変化から不安を察する／手を握る・声をかける安心感</a:t>
            </a:r>
          </a:p>
        </p:txBody>
      </p:sp>
      <p:sp>
        <p:nvSpPr>
          <p:cNvPr id="20" name="Rounded Rectangle 19"/>
          <p:cNvSpPr/>
          <p:nvPr/>
        </p:nvSpPr>
        <p:spPr>
          <a:xfrm>
            <a:off x="5349240" y="4752594"/>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58968" y="4825746"/>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2" name="TextBox 21"/>
          <p:cNvSpPr txBox="1"/>
          <p:nvPr/>
        </p:nvSpPr>
        <p:spPr>
          <a:xfrm>
            <a:off x="6583679" y="4789170"/>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AIと分担してケアの質を高める → 寄り添う力と新しい技術の両方を学びたい</a:t>
            </a:r>
          </a:p>
        </p:txBody>
      </p:sp>
      <p:sp>
        <p:nvSpPr>
          <p:cNvPr id="23" name="Rounded Rectangle 22"/>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チェック　</a:t>
            </a:r>
            <a:r>
              <a:rPr sz="1800" b="0">
                <a:solidFill>
                  <a:srgbClr val="FFFFFF"/>
                </a:solidFill>
                <a:latin typeface="游ゴシック"/>
                <a:ea typeface="游ゴシック"/>
              </a:rPr>
              <a:t>問われていることに全部答えているか。段落の役割が重なっていないか。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テーマ3｜模範解答（1/2）</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AIの利点を認め、人の役割を示す／4段落</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22</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合計935字（序論148・本論①282・本論②295・結論210）</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1" name="TextBox 10"/>
          <p:cNvSpPr txBox="1"/>
          <p:nvPr/>
        </p:nvSpPr>
        <p:spPr>
          <a:xfrm>
            <a:off x="1783080" y="1847088"/>
            <a:ext cx="9674352" cy="72351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医療の現場でAIの活用が進めば、看護師の仕事の一部は機械に任せられるようになる。しかし私は、AIによって生まれた時間を使い、患者の不安や痛みに気づいて心に寄り添うことこそ、これからも看護師にしかできないことだと考える。AIと人がそれぞれの得意なことを分担すれば、看護の質はさらに高まるはずである。</a:t>
            </a:r>
          </a:p>
        </p:txBody>
      </p:sp>
      <p:sp>
        <p:nvSpPr>
          <p:cNvPr id="12" name="Rounded Rectangle 11"/>
          <p:cNvSpPr/>
          <p:nvPr/>
        </p:nvSpPr>
        <p:spPr>
          <a:xfrm>
            <a:off x="704088" y="2671191"/>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3" name="TextBox 12"/>
          <p:cNvSpPr txBox="1"/>
          <p:nvPr/>
        </p:nvSpPr>
        <p:spPr>
          <a:xfrm>
            <a:off x="1783080" y="2634615"/>
            <a:ext cx="9674352" cy="139217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まず、AIには大きな利点がある。画像診断では、AIが大量の画像を学習することで、人の目では見落としやすい小さな異常を見つけられるようになってきた。また、看護記録の作成や勤務表づくりといった事務作業を自動化できれば、看護師の負担は大きく減る。看護師は記録や書類の作業に多くの時間を取られていると言われており、その時間が減れば、患者のそばで過ごす時間を増やすことができる。さらに、AIが患者の脈拍や血圧の変化を常に見守り、異常があれば知らせてくれれば、夜間の見落としも防げる。AIは看護師の仕事を奪うものではなく、看護師を患者のもとへ戻すための道具になりうるのである。</a:t>
            </a:r>
          </a:p>
        </p:txBody>
      </p:sp>
      <p:sp>
        <p:nvSpPr>
          <p:cNvPr id="14" name="Rounded Rectangle 13"/>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AIの利点を認めた　✓ 人にしかできない場面を示した　✓ 分担という結論にまとめた</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テーマ3｜模範解答（2/2）</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AIの利点を認め、人の役割を示す／4段落</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23</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合計935字（序論148・本論①282・本論②295・結論210）</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1" name="TextBox 10"/>
          <p:cNvSpPr txBox="1"/>
          <p:nvPr/>
        </p:nvSpPr>
        <p:spPr>
          <a:xfrm>
            <a:off x="1783080" y="1847088"/>
            <a:ext cx="9674352" cy="139217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一方で、患者の心に寄り添うことは、人にしかできない。患者は、病気や手術への不安を言葉にできないまま抱えていることが多い。看護師は、いつもより口数が少ない、食事に手をつけていないといった様子から、その不安を察することができる。そして、ベッドのそばで話を聞き、手を握り、「大丈夫ですよ」と声をかけることで、患者は安心して治療に向かえるようになる。こうした関わりは、数値や画像には表れない患者の思いを受け止めることであり、同じ人間として向き合う看護師だからこそできることである。祖母が入院したとき、看護師が毎朝声をかけてくれたことが何よりの支えだったと話していたことも、私がそう考える理由である。</a:t>
            </a:r>
          </a:p>
        </p:txBody>
      </p:sp>
      <p:sp>
        <p:nvSpPr>
          <p:cNvPr id="12" name="Rounded Rectangle 11"/>
          <p:cNvSpPr/>
          <p:nvPr/>
        </p:nvSpPr>
        <p:spPr>
          <a:xfrm>
            <a:off x="704088" y="3339846"/>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13" name="TextBox 12"/>
          <p:cNvSpPr txBox="1"/>
          <p:nvPr/>
        </p:nvSpPr>
        <p:spPr>
          <a:xfrm>
            <a:off x="1783080" y="3303270"/>
            <a:ext cx="9674352" cy="94640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以上より、AIの活用が進む時代には、記録や分析などはAIに任せ、看護師は患者の心に寄り添うことに力を注ぐべきである。AIと人が役割を分担することで、医療はより安全で温かいものになる。技術が進むほど、人にしかできないことの価値はむしろ高まっていくと考える。私は看護学部で、患者の思いを汲み取るコミュニケーションの力と、新しい医療技術を正しく使いこなす知識の両方を学び、技術の時代にも人の温かさを届けられる看護師になりたい。</a:t>
            </a:r>
          </a:p>
        </p:txBody>
      </p:sp>
      <p:sp>
        <p:nvSpPr>
          <p:cNvPr id="14" name="Rounded Rectangle 13"/>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AIの利点を認めた　✓ 人にしかできない場面を示した　✓ 分担という結論にまとめた</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FINISH ｜ 最後の見直し</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見直しチェックリストとまとめ</a:t>
            </a:r>
          </a:p>
        </p:txBody>
      </p:sp>
      <p:sp>
        <p:nvSpPr>
          <p:cNvPr id="4" name="Rounded Rectangle 3"/>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見直す 15分</a:t>
            </a:r>
          </a:p>
        </p:txBody>
      </p:sp>
      <p:sp>
        <p:nvSpPr>
          <p:cNvPr id="5" name="TextBox 4"/>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サンプル大学 看護学部 小論文ワークシート</a:t>
            </a:r>
          </a:p>
        </p:txBody>
      </p:sp>
      <p:sp>
        <p:nvSpPr>
          <p:cNvPr id="6" name="TextBox 5"/>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24</a:t>
            </a:r>
          </a:p>
        </p:txBody>
      </p:sp>
      <p:sp>
        <p:nvSpPr>
          <p:cNvPr id="7" name="Rounded Rectangle 6"/>
          <p:cNvSpPr/>
          <p:nvPr/>
        </p:nvSpPr>
        <p:spPr>
          <a:xfrm>
            <a:off x="548640" y="1600200"/>
            <a:ext cx="6035040" cy="3977639"/>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5669280" cy="365760"/>
          </a:xfrm>
          <a:prstGeom prst="rect">
            <a:avLst/>
          </a:prstGeom>
          <a:noFill/>
        </p:spPr>
        <p:txBody>
          <a:bodyPr wrap="square" lIns="45720" rIns="45720" tIns="27432" bIns="27432" anchor="t">
            <a:spAutoFit/>
            <a:spAutoFit/>
          </a:bodyPr>
          <a:lstStyle/>
          <a:p>
            <a:pPr algn="l">
              <a:lnSpc>
                <a:spcPct val="115000"/>
              </a:lnSpc>
              <a:spcAft>
                <a:spcPts val="0"/>
              </a:spcAft>
            </a:pPr>
            <a:r>
              <a:rPr sz="1800" b="1">
                <a:solidFill>
                  <a:srgbClr val="D9782D"/>
                </a:solidFill>
                <a:latin typeface="游ゴシック"/>
                <a:ea typeface="游ゴシック"/>
              </a:rPr>
              <a:t>最後の15分で必ず見る3点</a:t>
            </a:r>
          </a:p>
        </p:txBody>
      </p:sp>
      <p:sp>
        <p:nvSpPr>
          <p:cNvPr id="9" name="TextBox 8"/>
          <p:cNvSpPr txBox="1"/>
          <p:nvPr/>
        </p:nvSpPr>
        <p:spPr>
          <a:xfrm>
            <a:off x="777240" y="2148840"/>
            <a:ext cx="5669280" cy="1371600"/>
          </a:xfrm>
          <a:prstGeom prst="rect">
            <a:avLst/>
          </a:prstGeom>
          <a:noFill/>
        </p:spPr>
        <p:txBody>
          <a:bodyPr wrap="square" lIns="45720" rIns="45720" tIns="27432" bIns="27432" anchor="t">
            <a:spAutoFit/>
            <a:spAutoFit/>
          </a:bodyPr>
          <a:lstStyle/>
          <a:p>
            <a:pPr algn="l">
              <a:lnSpc>
                <a:spcPct val="115000"/>
              </a:lnSpc>
              <a:spcAft>
                <a:spcPts val="400"/>
              </a:spcAft>
            </a:pPr>
            <a:r>
              <a:rPr sz="1600" b="0">
                <a:solidFill>
                  <a:srgbClr val="23301F"/>
                </a:solidFill>
                <a:latin typeface="游ゴシック"/>
                <a:ea typeface="游ゴシック"/>
              </a:rPr>
              <a:t>✓ 誤字脱字・送りがな・数字の書き間違い</a:t>
            </a:r>
          </a:p>
          <a:p>
            <a:pPr algn="l">
              <a:lnSpc>
                <a:spcPct val="115000"/>
              </a:lnSpc>
              <a:spcAft>
                <a:spcPts val="400"/>
              </a:spcAft>
            </a:pPr>
            <a:r>
              <a:rPr sz="1600" b="0">
                <a:solidFill>
                  <a:srgbClr val="23301F"/>
                </a:solidFill>
                <a:latin typeface="游ゴシック"/>
                <a:ea typeface="游ゴシック"/>
              </a:rPr>
              <a:t>✓ 文末が「だ・である」で統一されているか</a:t>
            </a:r>
          </a:p>
          <a:p>
            <a:pPr algn="l">
              <a:lnSpc>
                <a:spcPct val="115000"/>
              </a:lnSpc>
              <a:spcAft>
                <a:spcPts val="0"/>
              </a:spcAft>
            </a:pPr>
            <a:r>
              <a:rPr sz="1600" b="0">
                <a:solidFill>
                  <a:srgbClr val="23301F"/>
                </a:solidFill>
                <a:latin typeface="游ゴシック"/>
                <a:ea typeface="游ゴシック"/>
              </a:rPr>
              <a:t>✓ 論理のつながり（主張 → 理由 → 結論がずれていないか）</a:t>
            </a:r>
          </a:p>
        </p:txBody>
      </p:sp>
      <p:sp>
        <p:nvSpPr>
          <p:cNvPr id="10" name="TextBox 9"/>
          <p:cNvSpPr txBox="1"/>
          <p:nvPr/>
        </p:nvSpPr>
        <p:spPr>
          <a:xfrm>
            <a:off x="777240" y="3566160"/>
            <a:ext cx="5669280" cy="365760"/>
          </a:xfrm>
          <a:prstGeom prst="rect">
            <a:avLst/>
          </a:prstGeom>
          <a:noFill/>
        </p:spPr>
        <p:txBody>
          <a:bodyPr wrap="square" lIns="45720" rIns="45720" tIns="27432" bIns="27432" anchor="t">
            <a:spAutoFit/>
            <a:spAutoFit/>
          </a:bodyPr>
          <a:lstStyle/>
          <a:p>
            <a:pPr algn="l">
              <a:lnSpc>
                <a:spcPct val="115000"/>
              </a:lnSpc>
              <a:spcAft>
                <a:spcPts val="0"/>
              </a:spcAft>
            </a:pPr>
            <a:r>
              <a:rPr sz="1800" b="1">
                <a:solidFill>
                  <a:srgbClr val="2C5F2D"/>
                </a:solidFill>
                <a:latin typeface="游ゴシック"/>
                <a:ea typeface="游ゴシック"/>
              </a:rPr>
              <a:t>あわせて確認</a:t>
            </a:r>
          </a:p>
        </p:txBody>
      </p:sp>
      <p:sp>
        <p:nvSpPr>
          <p:cNvPr id="11" name="TextBox 10"/>
          <p:cNvSpPr txBox="1"/>
          <p:nvPr/>
        </p:nvSpPr>
        <p:spPr>
          <a:xfrm>
            <a:off x="777240" y="3977639"/>
            <a:ext cx="5669280" cy="1554480"/>
          </a:xfrm>
          <a:prstGeom prst="rect">
            <a:avLst/>
          </a:prstGeom>
          <a:noFill/>
        </p:spPr>
        <p:txBody>
          <a:bodyPr wrap="square" lIns="45720" rIns="45720" tIns="27432" bIns="27432" anchor="t">
            <a:spAutoFit/>
            <a:spAutoFit/>
          </a:bodyPr>
          <a:lstStyle/>
          <a:p>
            <a:pPr algn="l">
              <a:lnSpc>
                <a:spcPct val="115000"/>
              </a:lnSpc>
              <a:spcAft>
                <a:spcPts val="400"/>
              </a:spcAft>
            </a:pPr>
            <a:r>
              <a:rPr sz="1600" b="0">
                <a:solidFill>
                  <a:srgbClr val="23301F"/>
                </a:solidFill>
                <a:latin typeface="游ゴシック"/>
                <a:ea typeface="游ゴシック"/>
              </a:rPr>
              <a:t>✓ 課題文の主張に触れたか</a:t>
            </a:r>
          </a:p>
          <a:p>
            <a:pPr algn="l">
              <a:lnSpc>
                <a:spcPct val="115000"/>
              </a:lnSpc>
              <a:spcAft>
                <a:spcPts val="400"/>
              </a:spcAft>
            </a:pPr>
            <a:r>
              <a:rPr sz="1600" b="0">
                <a:solidFill>
                  <a:srgbClr val="23301F"/>
                </a:solidFill>
                <a:latin typeface="游ゴシック"/>
                <a:ea typeface="游ゴシック"/>
              </a:rPr>
              <a:t>✓ 自分の体験や具体例を入れたか</a:t>
            </a:r>
          </a:p>
          <a:p>
            <a:pPr algn="l">
              <a:lnSpc>
                <a:spcPct val="115000"/>
              </a:lnSpc>
              <a:spcAft>
                <a:spcPts val="400"/>
              </a:spcAft>
            </a:pPr>
            <a:r>
              <a:rPr sz="1600" b="0">
                <a:solidFill>
                  <a:srgbClr val="23301F"/>
                </a:solidFill>
                <a:latin typeface="游ゴシック"/>
                <a:ea typeface="游ゴシック"/>
              </a:rPr>
              <a:t>✓ 看護の学び・将来につなげたか</a:t>
            </a:r>
          </a:p>
          <a:p>
            <a:pPr algn="l">
              <a:lnSpc>
                <a:spcPct val="115000"/>
              </a:lnSpc>
              <a:spcAft>
                <a:spcPts val="0"/>
              </a:spcAft>
            </a:pPr>
            <a:r>
              <a:rPr sz="1600" b="0">
                <a:solidFill>
                  <a:srgbClr val="23301F"/>
                </a:solidFill>
                <a:latin typeface="游ゴシック"/>
                <a:ea typeface="游ゴシック"/>
              </a:rPr>
              <a:t>✓ 900字（9割）以上書けているか</a:t>
            </a:r>
          </a:p>
        </p:txBody>
      </p:sp>
      <p:sp>
        <p:nvSpPr>
          <p:cNvPr id="12" name="Rounded Rectangle 11"/>
          <p:cNvSpPr/>
          <p:nvPr/>
        </p:nvSpPr>
        <p:spPr>
          <a:xfrm>
            <a:off x="6858000" y="1600200"/>
            <a:ext cx="1371600" cy="8686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10分</a:t>
            </a:r>
          </a:p>
        </p:txBody>
      </p:sp>
      <p:sp>
        <p:nvSpPr>
          <p:cNvPr id="13" name="TextBox 12"/>
          <p:cNvSpPr txBox="1"/>
          <p:nvPr/>
        </p:nvSpPr>
        <p:spPr>
          <a:xfrm>
            <a:off x="8412480" y="1600200"/>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読む</a:t>
            </a:r>
          </a:p>
        </p:txBody>
      </p:sp>
      <p:sp>
        <p:nvSpPr>
          <p:cNvPr id="14" name="Rounded Rectangle 13"/>
          <p:cNvSpPr/>
          <p:nvPr/>
        </p:nvSpPr>
        <p:spPr>
          <a:xfrm>
            <a:off x="6858000" y="2624328"/>
            <a:ext cx="1371600" cy="8686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15分</a:t>
            </a:r>
          </a:p>
        </p:txBody>
      </p:sp>
      <p:sp>
        <p:nvSpPr>
          <p:cNvPr id="15" name="TextBox 14"/>
          <p:cNvSpPr txBox="1"/>
          <p:nvPr/>
        </p:nvSpPr>
        <p:spPr>
          <a:xfrm>
            <a:off x="8412480" y="2624328"/>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構成する</a:t>
            </a:r>
          </a:p>
        </p:txBody>
      </p:sp>
      <p:sp>
        <p:nvSpPr>
          <p:cNvPr id="16" name="Rounded Rectangle 15"/>
          <p:cNvSpPr/>
          <p:nvPr/>
        </p:nvSpPr>
        <p:spPr>
          <a:xfrm>
            <a:off x="6858000" y="3648456"/>
            <a:ext cx="1371600" cy="8686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50分</a:t>
            </a:r>
          </a:p>
        </p:txBody>
      </p:sp>
      <p:sp>
        <p:nvSpPr>
          <p:cNvPr id="17" name="TextBox 16"/>
          <p:cNvSpPr txBox="1"/>
          <p:nvPr/>
        </p:nvSpPr>
        <p:spPr>
          <a:xfrm>
            <a:off x="8412480" y="3648456"/>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書く</a:t>
            </a:r>
          </a:p>
        </p:txBody>
      </p:sp>
      <p:sp>
        <p:nvSpPr>
          <p:cNvPr id="18" name="Rounded Rectangle 17"/>
          <p:cNvSpPr/>
          <p:nvPr/>
        </p:nvSpPr>
        <p:spPr>
          <a:xfrm>
            <a:off x="6858000" y="4672584"/>
            <a:ext cx="1371600" cy="8686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15分</a:t>
            </a:r>
          </a:p>
        </p:txBody>
      </p:sp>
      <p:sp>
        <p:nvSpPr>
          <p:cNvPr id="19" name="TextBox 18"/>
          <p:cNvSpPr txBox="1"/>
          <p:nvPr/>
        </p:nvSpPr>
        <p:spPr>
          <a:xfrm>
            <a:off x="8412480" y="4672584"/>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見直す</a:t>
            </a:r>
          </a:p>
        </p:txBody>
      </p:sp>
      <p:sp>
        <p:nvSpPr>
          <p:cNvPr id="20" name="Rounded Rectangle 19"/>
          <p:cNvSpPr/>
          <p:nvPr/>
        </p:nvSpPr>
        <p:spPr>
          <a:xfrm>
            <a:off x="548640" y="5760720"/>
            <a:ext cx="11091672" cy="54864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60720"/>
            <a:ext cx="10634472" cy="548640"/>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まとめ　</a:t>
            </a:r>
            <a:r>
              <a:rPr sz="1800" b="0">
                <a:solidFill>
                  <a:srgbClr val="FFFFFF"/>
                </a:solidFill>
                <a:latin typeface="游ゴシック"/>
                <a:ea typeface="游ゴシック"/>
              </a:rPr>
              <a:t>考えるのは最初の25分。3つの問いで、初見の問題も同じ手順で書き切れる。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