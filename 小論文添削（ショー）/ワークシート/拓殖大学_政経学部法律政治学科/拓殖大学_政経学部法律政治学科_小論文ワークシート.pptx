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320040" cy="6858000"/>
          </a:xfrm>
          <a:prstGeom prst="roundRect">
            <a:avLst>
              <a:gd name="adj" fmla="val 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34440"/>
            <a:ext cx="10058400" cy="457200"/>
          </a:xfrm>
          <a:prstGeom prst="rect">
            <a:avLst/>
          </a:prstGeom>
          <a:noFill/>
        </p:spPr>
        <p:txBody>
          <a:bodyPr wrap="square" lIns="45720" rIns="45720" tIns="27432" bIns="27432" anchor="t">
            <a:spAutoFit/>
            <a:spAutoFit/>
          </a:bodyPr>
          <a:lstStyle/>
          <a:p>
            <a:pPr algn="l">
              <a:lnSpc>
                <a:spcPct val="115000"/>
              </a:lnSpc>
              <a:spcAft>
                <a:spcPts val="0"/>
              </a:spcAft>
            </a:pPr>
            <a:r>
              <a:rPr sz="2000" b="1">
                <a:solidFill>
                  <a:srgbClr val="D9782D"/>
                </a:solidFill>
                <a:latin typeface="游ゴシック"/>
                <a:ea typeface="游ゴシック"/>
              </a:rPr>
              <a:t>拓殖大学　政経学部 法律政治学科　総合型選抜</a:t>
            </a:r>
          </a:p>
        </p:txBody>
      </p:sp>
      <p:sp>
        <p:nvSpPr>
          <p:cNvPr id="4" name="TextBox 3"/>
          <p:cNvSpPr txBox="1"/>
          <p:nvPr/>
        </p:nvSpPr>
        <p:spPr>
          <a:xfrm>
            <a:off x="914400" y="1783080"/>
            <a:ext cx="10515600" cy="1097280"/>
          </a:xfrm>
          <a:prstGeom prst="rect">
            <a:avLst/>
          </a:prstGeom>
          <a:noFill/>
        </p:spPr>
        <p:txBody>
          <a:bodyPr wrap="square" lIns="45720" rIns="45720" tIns="27432" bIns="27432" anchor="t">
            <a:spAutoFit/>
            <a:spAutoFit/>
          </a:bodyPr>
          <a:lstStyle/>
          <a:p>
            <a:pPr algn="l">
              <a:lnSpc>
                <a:spcPct val="115000"/>
              </a:lnSpc>
              <a:spcAft>
                <a:spcPts val="0"/>
              </a:spcAft>
            </a:pPr>
            <a:r>
              <a:rPr sz="5400" b="1">
                <a:solidFill>
                  <a:srgbClr val="17321A"/>
                </a:solidFill>
                <a:latin typeface="游ゴシック"/>
                <a:ea typeface="游ゴシック"/>
              </a:rPr>
              <a:t>小論文ワークシート</a:t>
            </a:r>
          </a:p>
        </p:txBody>
      </p:sp>
      <p:sp>
        <p:nvSpPr>
          <p:cNvPr id="5" name="TextBox 4"/>
          <p:cNvSpPr txBox="1"/>
          <p:nvPr/>
        </p:nvSpPr>
        <p:spPr>
          <a:xfrm>
            <a:off x="914400" y="2926080"/>
            <a:ext cx="10515600" cy="548640"/>
          </a:xfrm>
          <a:prstGeom prst="rect">
            <a:avLst/>
          </a:prstGeom>
          <a:noFill/>
        </p:spPr>
        <p:txBody>
          <a:bodyPr wrap="square" lIns="45720" rIns="45720" tIns="27432" bIns="27432" anchor="t">
            <a:spAutoFit/>
            <a:spAutoFit/>
          </a:bodyPr>
          <a:lstStyle/>
          <a:p>
            <a:pPr algn="l">
              <a:lnSpc>
                <a:spcPct val="115000"/>
              </a:lnSpc>
              <a:spcAft>
                <a:spcPts val="0"/>
              </a:spcAft>
            </a:pPr>
            <a:r>
              <a:rPr sz="2800" b="1">
                <a:solidFill>
                  <a:srgbClr val="2C5F2D"/>
                </a:solidFill>
                <a:latin typeface="游ゴシック"/>
                <a:ea typeface="游ゴシック"/>
              </a:rPr>
              <a:t>60分で、迷わず、1000字を書き切る</a:t>
            </a:r>
          </a:p>
        </p:txBody>
      </p:sp>
      <p:sp>
        <p:nvSpPr>
          <p:cNvPr id="6" name="TextBox 5"/>
          <p:cNvSpPr txBox="1"/>
          <p:nvPr/>
        </p:nvSpPr>
        <p:spPr>
          <a:xfrm>
            <a:off x="914400" y="3703320"/>
            <a:ext cx="10515600" cy="457200"/>
          </a:xfrm>
          <a:prstGeom prst="rect">
            <a:avLst/>
          </a:prstGeom>
          <a:noFill/>
        </p:spPr>
        <p:txBody>
          <a:bodyPr wrap="square" lIns="45720" rIns="45720" tIns="27432" bIns="27432" anchor="t">
            <a:spAutoFit/>
            <a:spAutoFit/>
          </a:bodyPr>
          <a:lstStyle/>
          <a:p>
            <a:pPr algn="l">
              <a:lnSpc>
                <a:spcPct val="115000"/>
              </a:lnSpc>
              <a:spcAft>
                <a:spcPts val="0"/>
              </a:spcAft>
            </a:pPr>
            <a:r>
              <a:rPr sz="1800" b="0">
                <a:solidFill>
                  <a:srgbClr val="5B6B54"/>
                </a:solidFill>
                <a:latin typeface="游ゴシック"/>
                <a:ea typeface="游ゴシック"/>
              </a:rPr>
              <a:t>見て学ぶ（お手本）→ やってみる（演習）→ 答え合わせ　を3つのテーマで繰り返す</a:t>
            </a:r>
          </a:p>
        </p:txBody>
      </p:sp>
      <p:sp>
        <p:nvSpPr>
          <p:cNvPr id="7" name="TextBox 6"/>
          <p:cNvSpPr txBox="1"/>
          <p:nvPr/>
        </p:nvSpPr>
        <p:spPr>
          <a:xfrm>
            <a:off x="914400" y="489204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23301F"/>
                </a:solidFill>
                <a:latin typeface="游ゴシック"/>
                <a:ea typeface="游ゴシック"/>
              </a:rPr>
              <a:t>対象：政経学部 法律政治学科 総合型選抜（全体ガイダンス・作文）志願者</a:t>
            </a:r>
          </a:p>
        </p:txBody>
      </p:sp>
      <p:sp>
        <p:nvSpPr>
          <p:cNvPr id="8" name="TextBox 7"/>
          <p:cNvSpPr txBox="1"/>
          <p:nvPr/>
        </p:nvSpPr>
        <p:spPr>
          <a:xfrm>
            <a:off x="914400" y="5303520"/>
            <a:ext cx="10515600" cy="365760"/>
          </a:xfrm>
          <a:prstGeom prst="rect">
            <a:avLst/>
          </a:prstGeom>
          <a:noFill/>
        </p:spPr>
        <p:txBody>
          <a:bodyPr wrap="square" lIns="45720" rIns="45720" tIns="27432" bIns="27432" anchor="t">
            <a:spAutoFit/>
            <a:spAutoFit/>
          </a:bodyPr>
          <a:lstStyle/>
          <a:p>
            <a:pPr algn="l">
              <a:lnSpc>
                <a:spcPct val="115000"/>
              </a:lnSpc>
              <a:spcAft>
                <a:spcPts val="0"/>
              </a:spcAft>
            </a:pPr>
            <a:r>
              <a:rPr sz="1500" b="0">
                <a:solidFill>
                  <a:srgbClr val="5B6B54"/>
                </a:solidFill>
                <a:latin typeface="游ゴシック"/>
                <a:ea typeface="游ゴシック"/>
              </a:rPr>
              <a:t>個人指導塾PLATZ　学習支援資料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試験を知る</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試験の全体像</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a:t>
            </a:r>
          </a:p>
        </p:txBody>
      </p:sp>
      <p:sp>
        <p:nvSpPr>
          <p:cNvPr id="6" name="Rounded Rectangle 5"/>
          <p:cNvSpPr/>
          <p:nvPr/>
        </p:nvSpPr>
        <p:spPr>
          <a:xfrm>
            <a:off x="548640"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60分</a:t>
            </a:r>
          </a:p>
        </p:txBody>
      </p:sp>
      <p:sp>
        <p:nvSpPr>
          <p:cNvPr id="8" name="TextBox 7"/>
          <p:cNvSpPr txBox="1"/>
          <p:nvPr/>
        </p:nvSpPr>
        <p:spPr>
          <a:xfrm>
            <a:off x="731520"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小論文の試験時間</a:t>
            </a:r>
          </a:p>
        </p:txBody>
      </p:sp>
      <p:sp>
        <p:nvSpPr>
          <p:cNvPr id="9" name="Rounded Rectangle 8"/>
          <p:cNvSpPr/>
          <p:nvPr/>
        </p:nvSpPr>
        <p:spPr>
          <a:xfrm>
            <a:off x="429767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7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1000字以内</a:t>
            </a:r>
          </a:p>
        </p:txBody>
      </p:sp>
      <p:sp>
        <p:nvSpPr>
          <p:cNvPr id="11" name="TextBox 10"/>
          <p:cNvSpPr txBox="1"/>
          <p:nvPr/>
        </p:nvSpPr>
        <p:spPr>
          <a:xfrm>
            <a:off x="448055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700" b="0">
                <a:solidFill>
                  <a:srgbClr val="23301F"/>
                </a:solidFill>
                <a:latin typeface="游ゴシック"/>
                <a:ea typeface="游ゴシック"/>
              </a:rPr>
              <a:t>字数制限</a:t>
            </a:r>
          </a:p>
        </p:txBody>
      </p:sp>
      <p:sp>
        <p:nvSpPr>
          <p:cNvPr id="12" name="Rounded Rectangle 11"/>
          <p:cNvSpPr/>
          <p:nvPr/>
        </p:nvSpPr>
        <p:spPr>
          <a:xfrm>
            <a:off x="8046719" y="1783080"/>
            <a:ext cx="3520440" cy="20574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19" y="2011680"/>
            <a:ext cx="3520440" cy="914400"/>
          </a:xfrm>
          <a:prstGeom prst="rect">
            <a:avLst/>
          </a:prstGeom>
          <a:noFill/>
        </p:spPr>
        <p:txBody>
          <a:bodyPr wrap="square" lIns="45720" rIns="45720" tIns="27432" bIns="27432" anchor="t">
            <a:spAutoFit/>
            <a:spAutoFit/>
          </a:bodyPr>
          <a:lstStyle/>
          <a:p>
            <a:pPr algn="ctr">
              <a:lnSpc>
                <a:spcPct val="115000"/>
              </a:lnSpc>
              <a:spcAft>
                <a:spcPts val="0"/>
              </a:spcAft>
            </a:pPr>
            <a:r>
              <a:rPr sz="4000" b="1">
                <a:solidFill>
                  <a:srgbClr val="2C5F2D"/>
                </a:solidFill>
                <a:latin typeface="游ゴシック"/>
                <a:ea typeface="游ゴシック"/>
              </a:rPr>
              <a:t>自己アピール</a:t>
            </a:r>
          </a:p>
        </p:txBody>
      </p:sp>
      <p:sp>
        <p:nvSpPr>
          <p:cNvPr id="14" name="TextBox 13"/>
          <p:cNvSpPr txBox="1"/>
          <p:nvPr/>
        </p:nvSpPr>
        <p:spPr>
          <a:xfrm>
            <a:off x="8229599" y="3017520"/>
            <a:ext cx="3154680" cy="640080"/>
          </a:xfrm>
          <a:prstGeom prst="rect">
            <a:avLst/>
          </a:prstGeom>
          <a:noFill/>
        </p:spPr>
        <p:txBody>
          <a:bodyPr wrap="square" lIns="45720" rIns="45720" tIns="27432" bIns="27432" anchor="t">
            <a:spAutoFit/>
            <a:spAutoFit/>
          </a:bodyPr>
          <a:lstStyle/>
          <a:p>
            <a:pPr algn="ctr">
              <a:lnSpc>
                <a:spcPct val="115000"/>
              </a:lnSpc>
              <a:spcAft>
                <a:spcPts val="0"/>
              </a:spcAft>
            </a:pPr>
            <a:r>
              <a:rPr sz="1300" b="0">
                <a:solidFill>
                  <a:srgbClr val="23301F"/>
                </a:solidFill>
                <a:latin typeface="游ゴシック"/>
                <a:ea typeface="游ゴシック"/>
              </a:rPr>
              <a:t>20分のガイダンスを聞き、建学の理念とAPを踏まえた自己アピールを1,000字以内で書く</a:t>
            </a:r>
          </a:p>
        </p:txBody>
      </p:sp>
      <p:sp>
        <p:nvSpPr>
          <p:cNvPr id="15" name="TextBox 14"/>
          <p:cNvSpPr txBox="1"/>
          <p:nvPr/>
        </p:nvSpPr>
        <p:spPr>
          <a:xfrm>
            <a:off x="548640" y="4114800"/>
            <a:ext cx="11064240" cy="1188720"/>
          </a:xfrm>
          <a:prstGeom prst="rect">
            <a:avLst/>
          </a:prstGeom>
          <a:noFill/>
        </p:spPr>
        <p:txBody>
          <a:bodyPr wrap="square" lIns="45720" rIns="45720" tIns="27432" bIns="27432" anchor="t">
            <a:spAutoFit/>
            <a:spAutoFit/>
          </a:bodyPr>
          <a:lstStyle/>
          <a:p>
            <a:pPr algn="l">
              <a:lnSpc>
                <a:spcPct val="115000"/>
              </a:lnSpc>
              <a:spcAft>
                <a:spcPts val="600"/>
              </a:spcAft>
            </a:pPr>
            <a:r>
              <a:rPr sz="1400" b="0">
                <a:solidFill>
                  <a:srgbClr val="23301F"/>
                </a:solidFill>
                <a:latin typeface="游ゴシック"/>
                <a:ea typeface="游ゴシック"/>
              </a:rPr>
              <a:t>当日は最初に全体ガイダンス（20分）で、建学の理念と政経学部のアドミッション・ポリシー（AP）の説明を聞く。そのあと60分で、それらを踏まえた「自己アピール」を1,000字以内で書く。</a:t>
            </a:r>
          </a:p>
          <a:p>
            <a:pPr algn="l">
              <a:lnSpc>
                <a:spcPct val="115000"/>
              </a:lnSpc>
              <a:spcAft>
                <a:spcPts val="0"/>
              </a:spcAft>
            </a:pPr>
            <a:r>
              <a:rPr sz="1400" b="0">
                <a:solidFill>
                  <a:srgbClr val="23301F"/>
                </a:solidFill>
                <a:latin typeface="游ゴシック"/>
                <a:ea typeface="游ゴシック"/>
              </a:rPr>
              <a:t>テーマは事前に分かっている。経験・強み・学科で学ぶこと・将来像を準備しておき、当日はガイダンスで聞いた言葉と結びつけて書き切る。</a:t>
            </a:r>
          </a:p>
        </p:txBody>
      </p:sp>
      <p:sp>
        <p:nvSpPr>
          <p:cNvPr id="16" name="TextBox 15"/>
          <p:cNvSpPr txBox="1"/>
          <p:nvPr/>
        </p:nvSpPr>
        <p:spPr>
          <a:xfrm>
            <a:off x="548640" y="5440680"/>
            <a:ext cx="11064240" cy="457200"/>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5B6B54"/>
                </a:solidFill>
                <a:latin typeface="游ゴシック"/>
                <a:ea typeface="游ゴシック"/>
              </a:rPr>
              <a:t>※ 課題と字数は募集要項「全体ガイダンス・作文について」で確認。ガイダンス20分のあと作文60分。最新の学生募集要項で確認すること。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時間配分</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60分の使い方 ― 考えるのは最初の15分</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書きながら考えると、途中で手が止まる。先に「何を書くか」を決めてから、一気に書く。</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3</a:t>
            </a:r>
          </a:p>
        </p:txBody>
      </p:sp>
      <p:sp>
        <p:nvSpPr>
          <p:cNvPr id="7" name="Rounded Rectangle 6"/>
          <p:cNvSpPr/>
          <p:nvPr/>
        </p:nvSpPr>
        <p:spPr>
          <a:xfrm>
            <a:off x="548640" y="2011680"/>
            <a:ext cx="91059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1207" y="2011680"/>
            <a:ext cx="965454" cy="640080"/>
          </a:xfrm>
          <a:prstGeom prst="rect">
            <a:avLst/>
          </a:prstGeom>
          <a:noFill/>
        </p:spPr>
        <p:txBody>
          <a:bodyPr wrap="square" lIns="45720" rIns="45720" tIns="27432" bIns="27432" anchor="ctr">
            <a:spAutoFit/>
            <a:spAutoFit/>
          </a:bodyPr>
          <a:lstStyle/>
          <a:p>
            <a:pPr algn="ctr">
              <a:lnSpc>
                <a:spcPct val="115000"/>
              </a:lnSpc>
              <a:spcAft>
                <a:spcPts val="0"/>
              </a:spcAft>
            </a:pPr>
            <a:r>
              <a:rPr sz="1600" b="1">
                <a:solidFill>
                  <a:srgbClr val="FFFFFF"/>
                </a:solidFill>
                <a:latin typeface="游ゴシック"/>
                <a:ea typeface="游ゴシック"/>
              </a:rPr>
              <a:t>5分</a:t>
            </a:r>
          </a:p>
        </p:txBody>
      </p:sp>
      <p:sp>
        <p:nvSpPr>
          <p:cNvPr id="9" name="Rounded Rectangle 8"/>
          <p:cNvSpPr/>
          <p:nvPr/>
        </p:nvSpPr>
        <p:spPr>
          <a:xfrm>
            <a:off x="1514094" y="2011680"/>
            <a:ext cx="1821180" cy="6400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86662" y="2011680"/>
            <a:ext cx="1876044"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10分</a:t>
            </a:r>
          </a:p>
        </p:txBody>
      </p:sp>
      <p:sp>
        <p:nvSpPr>
          <p:cNvPr id="11" name="Rounded Rectangle 10"/>
          <p:cNvSpPr/>
          <p:nvPr/>
        </p:nvSpPr>
        <p:spPr>
          <a:xfrm>
            <a:off x="3390138" y="2011680"/>
            <a:ext cx="6738366"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62706" y="2011680"/>
            <a:ext cx="6793230"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37分</a:t>
            </a:r>
          </a:p>
        </p:txBody>
      </p:sp>
      <p:sp>
        <p:nvSpPr>
          <p:cNvPr id="13" name="Rounded Rectangle 12"/>
          <p:cNvSpPr/>
          <p:nvPr/>
        </p:nvSpPr>
        <p:spPr>
          <a:xfrm>
            <a:off x="10183368" y="2011680"/>
            <a:ext cx="1456944" cy="6400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155936" y="2011680"/>
            <a:ext cx="1511808" cy="640080"/>
          </a:xfrm>
          <a:prstGeom prst="rect">
            <a:avLst/>
          </a:prstGeom>
          <a:noFill/>
        </p:spPr>
        <p:txBody>
          <a:bodyPr wrap="square" lIns="45720" rIns="45720" tIns="27432" bIns="27432" anchor="ctr">
            <a:spAutoFit/>
            <a:spAutoFit/>
          </a:bodyPr>
          <a:lstStyle/>
          <a:p>
            <a:pPr algn="ctr">
              <a:lnSpc>
                <a:spcPct val="115000"/>
              </a:lnSpc>
              <a:spcAft>
                <a:spcPts val="0"/>
              </a:spcAft>
            </a:pPr>
            <a:r>
              <a:rPr sz="2000" b="1">
                <a:solidFill>
                  <a:srgbClr val="FFFFFF"/>
                </a:solidFill>
                <a:latin typeface="游ゴシック"/>
                <a:ea typeface="游ゴシック"/>
              </a:rPr>
              <a:t>8分</a:t>
            </a:r>
          </a:p>
        </p:txBody>
      </p:sp>
      <p:sp>
        <p:nvSpPr>
          <p:cNvPr id="15" name="Rounded Rectangle 14"/>
          <p:cNvSpPr/>
          <p:nvPr/>
        </p:nvSpPr>
        <p:spPr>
          <a:xfrm>
            <a:off x="548640"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最初の5分</a:t>
            </a:r>
          </a:p>
        </p:txBody>
      </p:sp>
      <p:sp>
        <p:nvSpPr>
          <p:cNvPr id="17" name="TextBox 16"/>
          <p:cNvSpPr txBox="1"/>
          <p:nvPr/>
        </p:nvSpPr>
        <p:spPr>
          <a:xfrm>
            <a:off x="731520"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読む</a:t>
            </a:r>
          </a:p>
        </p:txBody>
      </p:sp>
      <p:sp>
        <p:nvSpPr>
          <p:cNvPr id="18" name="TextBox 17"/>
          <p:cNvSpPr txBox="1"/>
          <p:nvPr/>
        </p:nvSpPr>
        <p:spPr>
          <a:xfrm>
            <a:off x="731520"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問題文と資料を読み、</a:t>
            </a:r>
          </a:p>
          <a:p>
            <a:pPr algn="l">
              <a:lnSpc>
                <a:spcPct val="115000"/>
              </a:lnSpc>
              <a:spcAft>
                <a:spcPts val="0"/>
              </a:spcAft>
            </a:pPr>
            <a:r>
              <a:rPr sz="1600" b="0">
                <a:solidFill>
                  <a:srgbClr val="23301F"/>
                </a:solidFill>
                <a:latin typeface="游ゴシック"/>
                <a:ea typeface="游ゴシック"/>
              </a:rPr>
              <a:t>要点をつかむ</a:t>
            </a:r>
          </a:p>
        </p:txBody>
      </p:sp>
      <p:sp>
        <p:nvSpPr>
          <p:cNvPr id="19" name="Rounded Rectangle 18"/>
          <p:cNvSpPr/>
          <p:nvPr/>
        </p:nvSpPr>
        <p:spPr>
          <a:xfrm>
            <a:off x="3364992"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47872"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次の10分</a:t>
            </a:r>
          </a:p>
        </p:txBody>
      </p:sp>
      <p:sp>
        <p:nvSpPr>
          <p:cNvPr id="21" name="TextBox 20"/>
          <p:cNvSpPr txBox="1"/>
          <p:nvPr/>
        </p:nvSpPr>
        <p:spPr>
          <a:xfrm>
            <a:off x="3547872"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構成する</a:t>
            </a:r>
          </a:p>
        </p:txBody>
      </p:sp>
      <p:sp>
        <p:nvSpPr>
          <p:cNvPr id="22" name="TextBox 21"/>
          <p:cNvSpPr txBox="1"/>
          <p:nvPr/>
        </p:nvSpPr>
        <p:spPr>
          <a:xfrm>
            <a:off x="3547872"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骨組みと各段落の中身を</a:t>
            </a:r>
          </a:p>
          <a:p>
            <a:pPr algn="l">
              <a:lnSpc>
                <a:spcPct val="115000"/>
              </a:lnSpc>
              <a:spcAft>
                <a:spcPts val="0"/>
              </a:spcAft>
            </a:pPr>
            <a:r>
              <a:rPr sz="1600" b="0">
                <a:solidFill>
                  <a:srgbClr val="23301F"/>
                </a:solidFill>
                <a:latin typeface="游ゴシック"/>
                <a:ea typeface="游ゴシック"/>
              </a:rPr>
              <a:t>箇条書きでメモ</a:t>
            </a:r>
          </a:p>
        </p:txBody>
      </p:sp>
      <p:sp>
        <p:nvSpPr>
          <p:cNvPr id="23" name="Rounded Rectangle 22"/>
          <p:cNvSpPr/>
          <p:nvPr/>
        </p:nvSpPr>
        <p:spPr>
          <a:xfrm>
            <a:off x="6181344"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続く37分</a:t>
            </a:r>
          </a:p>
        </p:txBody>
      </p:sp>
      <p:sp>
        <p:nvSpPr>
          <p:cNvPr id="25" name="TextBox 24"/>
          <p:cNvSpPr txBox="1"/>
          <p:nvPr/>
        </p:nvSpPr>
        <p:spPr>
          <a:xfrm>
            <a:off x="6364224"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書く</a:t>
            </a:r>
          </a:p>
        </p:txBody>
      </p:sp>
      <p:sp>
        <p:nvSpPr>
          <p:cNvPr id="26" name="TextBox 25"/>
          <p:cNvSpPr txBox="1"/>
          <p:nvPr/>
        </p:nvSpPr>
        <p:spPr>
          <a:xfrm>
            <a:off x="6364224"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メモに沿って</a:t>
            </a:r>
          </a:p>
          <a:p>
            <a:pPr algn="l">
              <a:lnSpc>
                <a:spcPct val="115000"/>
              </a:lnSpc>
              <a:spcAft>
                <a:spcPts val="0"/>
              </a:spcAft>
            </a:pPr>
            <a:r>
              <a:rPr sz="1600" b="0">
                <a:solidFill>
                  <a:srgbClr val="23301F"/>
                </a:solidFill>
                <a:latin typeface="游ゴシック"/>
                <a:ea typeface="游ゴシック"/>
              </a:rPr>
              <a:t>一気に1000字以内を書き切る</a:t>
            </a:r>
          </a:p>
        </p:txBody>
      </p:sp>
      <p:sp>
        <p:nvSpPr>
          <p:cNvPr id="27" name="Rounded Rectangle 26"/>
          <p:cNvSpPr/>
          <p:nvPr/>
        </p:nvSpPr>
        <p:spPr>
          <a:xfrm>
            <a:off x="8997696" y="2926080"/>
            <a:ext cx="2651760" cy="251460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0576" y="3063240"/>
            <a:ext cx="237744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最後の8分</a:t>
            </a:r>
          </a:p>
        </p:txBody>
      </p:sp>
      <p:sp>
        <p:nvSpPr>
          <p:cNvPr id="29" name="TextBox 28"/>
          <p:cNvSpPr txBox="1"/>
          <p:nvPr/>
        </p:nvSpPr>
        <p:spPr>
          <a:xfrm>
            <a:off x="9180576" y="3474720"/>
            <a:ext cx="2377440" cy="640080"/>
          </a:xfrm>
          <a:prstGeom prst="rect">
            <a:avLst/>
          </a:prstGeom>
          <a:noFill/>
        </p:spPr>
        <p:txBody>
          <a:bodyPr wrap="square" lIns="45720" rIns="45720" tIns="27432" bIns="27432" anchor="t">
            <a:spAutoFit/>
            <a:spAutoFit/>
          </a:bodyPr>
          <a:lstStyle/>
          <a:p>
            <a:pPr algn="l">
              <a:lnSpc>
                <a:spcPct val="115000"/>
              </a:lnSpc>
              <a:spcAft>
                <a:spcPts val="0"/>
              </a:spcAft>
            </a:pPr>
            <a:r>
              <a:rPr sz="3000" b="1">
                <a:solidFill>
                  <a:srgbClr val="17321A"/>
                </a:solidFill>
                <a:latin typeface="游ゴシック"/>
                <a:ea typeface="游ゴシック"/>
              </a:rPr>
              <a:t>見直す</a:t>
            </a:r>
          </a:p>
        </p:txBody>
      </p:sp>
      <p:sp>
        <p:nvSpPr>
          <p:cNvPr id="30" name="TextBox 29"/>
          <p:cNvSpPr txBox="1"/>
          <p:nvPr/>
        </p:nvSpPr>
        <p:spPr>
          <a:xfrm>
            <a:off x="9180576" y="4251960"/>
            <a:ext cx="2377440" cy="10972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誤字脱字・文末の統一・</a:t>
            </a:r>
          </a:p>
          <a:p>
            <a:pPr algn="l">
              <a:lnSpc>
                <a:spcPct val="115000"/>
              </a:lnSpc>
              <a:spcAft>
                <a:spcPts val="0"/>
              </a:spcAft>
            </a:pPr>
            <a:r>
              <a:rPr sz="1600" b="0">
                <a:solidFill>
                  <a:srgbClr val="23301F"/>
                </a:solidFill>
                <a:latin typeface="游ゴシック"/>
                <a:ea typeface="游ゴシック"/>
              </a:rPr>
              <a:t>論理のつながりを確認</a:t>
            </a:r>
          </a:p>
        </p:txBody>
      </p:sp>
      <p:sp>
        <p:nvSpPr>
          <p:cNvPr id="31" name="Rounded Rectangle 30"/>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POINT　</a:t>
            </a:r>
            <a:r>
              <a:rPr sz="1800" b="0">
                <a:solidFill>
                  <a:srgbClr val="FFFFFF"/>
                </a:solidFill>
                <a:latin typeface="游ゴシック"/>
                <a:ea typeface="游ゴシック"/>
              </a:rPr>
              <a:t>ワークシート（次のページ）は「構成する10分」でやることそのもの。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ワークシートの使い方</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構成メモは、3つの問いで作る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どのテーマでも、この順番で考えて、ノート（解答用紙）に書き出す。</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4</a:t>
            </a:r>
          </a:p>
        </p:txBody>
      </p:sp>
      <p:sp>
        <p:nvSpPr>
          <p:cNvPr id="7" name="Rounded Rectangle 6"/>
          <p:cNvSpPr/>
          <p:nvPr/>
        </p:nvSpPr>
        <p:spPr>
          <a:xfrm>
            <a:off x="548640"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Q1</a:t>
            </a:r>
          </a:p>
        </p:txBody>
      </p:sp>
      <p:sp>
        <p:nvSpPr>
          <p:cNvPr id="9" name="TextBox 8"/>
          <p:cNvSpPr txBox="1"/>
          <p:nvPr/>
        </p:nvSpPr>
        <p:spPr>
          <a:xfrm>
            <a:off x="777240"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この問題・資料の「要点」は何か</a:t>
            </a:r>
          </a:p>
        </p:txBody>
      </p:sp>
      <p:sp>
        <p:nvSpPr>
          <p:cNvPr id="10" name="TextBox 9"/>
          <p:cNvSpPr txBox="1"/>
          <p:nvPr/>
        </p:nvSpPr>
        <p:spPr>
          <a:xfrm>
            <a:off x="777240"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・何を問われているか（説明？意見？具体策？）</a:t>
            </a:r>
          </a:p>
          <a:p>
            <a:pPr algn="l">
              <a:lnSpc>
                <a:spcPct val="115000"/>
              </a:lnSpc>
              <a:spcAft>
                <a:spcPts val="400"/>
              </a:spcAft>
            </a:pPr>
            <a:r>
              <a:rPr sz="1500" b="0">
                <a:solidFill>
                  <a:srgbClr val="23301F"/>
                </a:solidFill>
                <a:latin typeface="游ゴシック"/>
                <a:ea typeface="游ゴシック"/>
              </a:rPr>
              <a:t>・資料から必ず使う事実・数字は何か</a:t>
            </a:r>
          </a:p>
          <a:p>
            <a:pPr algn="l">
              <a:lnSpc>
                <a:spcPct val="115000"/>
              </a:lnSpc>
              <a:spcAft>
                <a:spcPts val="0"/>
              </a:spcAft>
            </a:pPr>
            <a:r>
              <a:rPr sz="1500" b="0">
                <a:solidFill>
                  <a:srgbClr val="23301F"/>
                </a:solidFill>
                <a:latin typeface="游ゴシック"/>
                <a:ea typeface="游ゴシック"/>
              </a:rPr>
              <a:t>・一言でいうと、何について書く問題か</a:t>
            </a:r>
          </a:p>
        </p:txBody>
      </p:sp>
      <p:sp>
        <p:nvSpPr>
          <p:cNvPr id="11" name="Rounded Rectangle 10"/>
          <p:cNvSpPr/>
          <p:nvPr/>
        </p:nvSpPr>
        <p:spPr>
          <a:xfrm>
            <a:off x="429767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2627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Q2</a:t>
            </a:r>
          </a:p>
        </p:txBody>
      </p:sp>
      <p:sp>
        <p:nvSpPr>
          <p:cNvPr id="13" name="TextBox 12"/>
          <p:cNvSpPr txBox="1"/>
          <p:nvPr/>
        </p:nvSpPr>
        <p:spPr>
          <a:xfrm>
            <a:off x="452627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全体を何段落で書くか</a:t>
            </a:r>
          </a:p>
        </p:txBody>
      </p:sp>
      <p:sp>
        <p:nvSpPr>
          <p:cNvPr id="14" name="TextBox 13"/>
          <p:cNvSpPr txBox="1"/>
          <p:nvPr/>
        </p:nvSpPr>
        <p:spPr>
          <a:xfrm>
            <a:off x="452627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・序論・本論・結論をそれぞれ何段落にするか</a:t>
            </a:r>
          </a:p>
          <a:p>
            <a:pPr algn="l">
              <a:lnSpc>
                <a:spcPct val="115000"/>
              </a:lnSpc>
              <a:spcAft>
                <a:spcPts val="400"/>
              </a:spcAft>
            </a:pPr>
            <a:r>
              <a:rPr sz="1500" b="0">
                <a:solidFill>
                  <a:srgbClr val="23301F"/>
                </a:solidFill>
                <a:latin typeface="游ゴシック"/>
                <a:ea typeface="游ゴシック"/>
              </a:rPr>
              <a:t>・問いが2つなら本論も2つ、が基本</a:t>
            </a:r>
          </a:p>
          <a:p>
            <a:pPr algn="l">
              <a:lnSpc>
                <a:spcPct val="115000"/>
              </a:lnSpc>
              <a:spcAft>
                <a:spcPts val="0"/>
              </a:spcAft>
            </a:pPr>
            <a:r>
              <a:rPr sz="1500" b="0">
                <a:solidFill>
                  <a:srgbClr val="23301F"/>
                </a:solidFill>
                <a:latin typeface="游ゴシック"/>
                <a:ea typeface="游ゴシック"/>
              </a:rPr>
              <a:t>・各段落のおおよその字数を決める</a:t>
            </a:r>
          </a:p>
        </p:txBody>
      </p:sp>
      <p:sp>
        <p:nvSpPr>
          <p:cNvPr id="15" name="Rounded Rectangle 14"/>
          <p:cNvSpPr/>
          <p:nvPr/>
        </p:nvSpPr>
        <p:spPr>
          <a:xfrm>
            <a:off x="8046719" y="1920240"/>
            <a:ext cx="3520440" cy="3474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75319" y="2103120"/>
            <a:ext cx="822960" cy="50292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Q3</a:t>
            </a:r>
          </a:p>
        </p:txBody>
      </p:sp>
      <p:sp>
        <p:nvSpPr>
          <p:cNvPr id="17" name="TextBox 16"/>
          <p:cNvSpPr txBox="1"/>
          <p:nvPr/>
        </p:nvSpPr>
        <p:spPr>
          <a:xfrm>
            <a:off x="8275319" y="2743200"/>
            <a:ext cx="3154680" cy="822960"/>
          </a:xfrm>
          <a:prstGeom prst="rect">
            <a:avLst/>
          </a:prstGeom>
          <a:noFill/>
        </p:spPr>
        <p:txBody>
          <a:bodyPr wrap="square" lIns="45720" rIns="45720" tIns="27432" bIns="27432" anchor="t">
            <a:spAutoFit/>
            <a:spAutoFit/>
          </a:bodyPr>
          <a:lstStyle/>
          <a:p>
            <a:pPr algn="l">
              <a:lnSpc>
                <a:spcPct val="115000"/>
              </a:lnSpc>
              <a:spcAft>
                <a:spcPts val="0"/>
              </a:spcAft>
            </a:pPr>
            <a:r>
              <a:rPr sz="1900" b="1">
                <a:solidFill>
                  <a:srgbClr val="17321A"/>
                </a:solidFill>
                <a:latin typeface="游ゴシック"/>
                <a:ea typeface="游ゴシック"/>
              </a:rPr>
              <a:t>各段落に書く内容は何か</a:t>
            </a:r>
          </a:p>
        </p:txBody>
      </p:sp>
      <p:sp>
        <p:nvSpPr>
          <p:cNvPr id="18" name="TextBox 17"/>
          <p:cNvSpPr txBox="1"/>
          <p:nvPr/>
        </p:nvSpPr>
        <p:spPr>
          <a:xfrm>
            <a:off x="8275319" y="3611880"/>
            <a:ext cx="3154680" cy="1737360"/>
          </a:xfrm>
          <a:prstGeom prst="rect">
            <a:avLst/>
          </a:prstGeom>
          <a:noFill/>
        </p:spPr>
        <p:txBody>
          <a:bodyPr wrap="square" lIns="45720" rIns="45720" tIns="27432" bIns="27432" anchor="t">
            <a:spAutoFit/>
            <a:spAutoFit/>
          </a:bodyPr>
          <a:lstStyle/>
          <a:p>
            <a:pPr algn="l">
              <a:lnSpc>
                <a:spcPct val="115000"/>
              </a:lnSpc>
              <a:spcAft>
                <a:spcPts val="400"/>
              </a:spcAft>
            </a:pPr>
            <a:r>
              <a:rPr sz="1500" b="0">
                <a:solidFill>
                  <a:srgbClr val="23301F"/>
                </a:solidFill>
                <a:latin typeface="游ゴシック"/>
                <a:ea typeface="游ゴシック"/>
              </a:rPr>
              <a:t>・段落ごとに、書く中身を箇条書きにする</a:t>
            </a:r>
          </a:p>
          <a:p>
            <a:pPr algn="l">
              <a:lnSpc>
                <a:spcPct val="115000"/>
              </a:lnSpc>
              <a:spcAft>
                <a:spcPts val="400"/>
              </a:spcAft>
            </a:pPr>
            <a:r>
              <a:rPr sz="1500" b="0">
                <a:solidFill>
                  <a:srgbClr val="23301F"/>
                </a:solidFill>
                <a:latin typeface="游ゴシック"/>
                <a:ea typeface="游ゴシック"/>
              </a:rPr>
              <a:t>・文章にしなくてよい（単語・短いメモで十分）</a:t>
            </a:r>
          </a:p>
          <a:p>
            <a:pPr algn="l">
              <a:lnSpc>
                <a:spcPct val="115000"/>
              </a:lnSpc>
              <a:spcAft>
                <a:spcPts val="0"/>
              </a:spcAft>
            </a:pPr>
            <a:r>
              <a:rPr sz="1500" b="0">
                <a:solidFill>
                  <a:srgbClr val="23301F"/>
                </a:solidFill>
                <a:latin typeface="游ゴシック"/>
                <a:ea typeface="游ゴシック"/>
              </a:rPr>
              <a:t>・このメモがそのまま答案の設計図になる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00" b="1">
                <a:solidFill>
                  <a:srgbClr val="FFFFFF"/>
                </a:solidFill>
                <a:latin typeface="游ゴシック"/>
                <a:ea typeface="游ゴシック"/>
              </a:rPr>
              <a:t>流れ　</a:t>
            </a:r>
            <a:r>
              <a:rPr sz="1700" b="0">
                <a:solidFill>
                  <a:srgbClr val="FFFFFF"/>
                </a:solidFill>
                <a:latin typeface="游ゴシック"/>
                <a:ea typeface="游ゴシック"/>
              </a:rPr>
              <a:t>テーマ1はお手本で学ぶ → テーマ2〜3は自分で埋める → 模範メモ・模範解答で答え合わせ</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INTRODUCTION ｜ 書き方の基本</a:t>
            </a:r>
          </a:p>
        </p:txBody>
      </p:sp>
      <p:sp>
        <p:nvSpPr>
          <p:cNvPr id="3" name="TextBox 2"/>
          <p:cNvSpPr txBox="1"/>
          <p:nvPr/>
        </p:nvSpPr>
        <p:spPr>
          <a:xfrm>
            <a:off x="548640" y="658368"/>
            <a:ext cx="1106424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答案の基本フォーム</a:t>
            </a:r>
          </a:p>
        </p:txBody>
      </p:sp>
      <p:sp>
        <p:nvSpPr>
          <p:cNvPr id="4" name="TextBox 3"/>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5" name="TextBox 4"/>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5</a:t>
            </a:r>
          </a:p>
        </p:txBody>
      </p:sp>
      <p:sp>
        <p:nvSpPr>
          <p:cNvPr id="6" name="Rounded Rectangle 5"/>
          <p:cNvSpPr/>
          <p:nvPr/>
        </p:nvSpPr>
        <p:spPr>
          <a:xfrm>
            <a:off x="548640"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序論　15〜20%</a:t>
            </a:r>
          </a:p>
        </p:txBody>
      </p:sp>
      <p:sp>
        <p:nvSpPr>
          <p:cNvPr id="7" name="Rounded Rectangle 6"/>
          <p:cNvSpPr/>
          <p:nvPr/>
        </p:nvSpPr>
        <p:spPr>
          <a:xfrm>
            <a:off x="548640"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自分の意見・結論を</a:t>
            </a:r>
          </a:p>
          <a:p>
            <a:pPr algn="ctr">
              <a:lnSpc>
                <a:spcPct val="115000"/>
              </a:lnSpc>
              <a:spcAft>
                <a:spcPts val="0"/>
              </a:spcAft>
            </a:pPr>
            <a:r>
              <a:rPr sz="1800" b="0">
                <a:solidFill>
                  <a:srgbClr val="23301F"/>
                </a:solidFill>
                <a:latin typeface="游ゴシック"/>
                <a:ea typeface="游ゴシック"/>
              </a:rPr>
              <a:t>先に示す</a:t>
            </a:r>
          </a:p>
        </p:txBody>
      </p:sp>
      <p:sp>
        <p:nvSpPr>
          <p:cNvPr id="9" name="Rounded Rectangle 8"/>
          <p:cNvSpPr/>
          <p:nvPr/>
        </p:nvSpPr>
        <p:spPr>
          <a:xfrm>
            <a:off x="429767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本論　60〜70%</a:t>
            </a:r>
          </a:p>
        </p:txBody>
      </p:sp>
      <p:sp>
        <p:nvSpPr>
          <p:cNvPr id="10" name="Rounded Rectangle 9"/>
          <p:cNvSpPr/>
          <p:nvPr/>
        </p:nvSpPr>
        <p:spPr>
          <a:xfrm>
            <a:off x="429767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5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理由・根拠・具体例を</a:t>
            </a:r>
          </a:p>
          <a:p>
            <a:pPr algn="ctr">
              <a:lnSpc>
                <a:spcPct val="115000"/>
              </a:lnSpc>
              <a:spcAft>
                <a:spcPts val="0"/>
              </a:spcAft>
            </a:pPr>
            <a:r>
              <a:rPr sz="1800" b="0">
                <a:solidFill>
                  <a:srgbClr val="23301F"/>
                </a:solidFill>
                <a:latin typeface="游ゴシック"/>
                <a:ea typeface="游ゴシック"/>
              </a:rPr>
              <a:t>2〜3点で展開する</a:t>
            </a:r>
          </a:p>
        </p:txBody>
      </p:sp>
      <p:sp>
        <p:nvSpPr>
          <p:cNvPr id="12" name="Rounded Rectangle 11"/>
          <p:cNvSpPr/>
          <p:nvPr/>
        </p:nvSpPr>
        <p:spPr>
          <a:xfrm>
            <a:off x="8046719" y="1691640"/>
            <a:ext cx="3520440" cy="54864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000" b="1">
                <a:solidFill>
                  <a:srgbClr val="FFFFFF"/>
                </a:solidFill>
                <a:latin typeface="游ゴシック"/>
                <a:ea typeface="游ゴシック"/>
              </a:rPr>
              <a:t>結論　15〜20%</a:t>
            </a:r>
          </a:p>
        </p:txBody>
      </p:sp>
      <p:sp>
        <p:nvSpPr>
          <p:cNvPr id="13" name="Rounded Rectangle 12"/>
          <p:cNvSpPr/>
          <p:nvPr/>
        </p:nvSpPr>
        <p:spPr>
          <a:xfrm>
            <a:off x="8046719" y="2286000"/>
            <a:ext cx="3520440" cy="118872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2377440"/>
            <a:ext cx="3154680" cy="1005840"/>
          </a:xfrm>
          <a:prstGeom prst="rect">
            <a:avLst/>
          </a:prstGeom>
          <a:noFill/>
        </p:spPr>
        <p:txBody>
          <a:bodyPr wrap="square" lIns="45720" rIns="45720" tIns="27432" bIns="27432" anchor="ctr">
            <a:spAutoFit/>
            <a:spAutoFit/>
          </a:bodyPr>
          <a:lstStyle/>
          <a:p>
            <a:pPr algn="ctr">
              <a:lnSpc>
                <a:spcPct val="115000"/>
              </a:lnSpc>
              <a:spcAft>
                <a:spcPts val="0"/>
              </a:spcAft>
            </a:pPr>
            <a:r>
              <a:rPr sz="1800" b="0">
                <a:solidFill>
                  <a:srgbClr val="23301F"/>
                </a:solidFill>
                <a:latin typeface="游ゴシック"/>
                <a:ea typeface="游ゴシック"/>
              </a:rPr>
              <a:t>主張を確認し、</a:t>
            </a:r>
          </a:p>
          <a:p>
            <a:pPr algn="ctr">
              <a:lnSpc>
                <a:spcPct val="115000"/>
              </a:lnSpc>
              <a:spcAft>
                <a:spcPts val="0"/>
              </a:spcAft>
            </a:pPr>
            <a:r>
              <a:rPr sz="1800" b="0">
                <a:solidFill>
                  <a:srgbClr val="23301F"/>
                </a:solidFill>
                <a:latin typeface="游ゴシック"/>
                <a:ea typeface="游ゴシック"/>
              </a:rPr>
              <a:t>大学での学びにつなげる</a:t>
            </a:r>
          </a:p>
        </p:txBody>
      </p:sp>
      <p:sp>
        <p:nvSpPr>
          <p:cNvPr id="15" name="Rounded Rectangle 14"/>
          <p:cNvSpPr/>
          <p:nvPr/>
        </p:nvSpPr>
        <p:spPr>
          <a:xfrm>
            <a:off x="548640" y="3703320"/>
            <a:ext cx="5486400"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794760"/>
            <a:ext cx="5120640"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文体のルール</a:t>
            </a:r>
          </a:p>
          <a:p>
            <a:pPr algn="l">
              <a:lnSpc>
                <a:spcPct val="115000"/>
              </a:lnSpc>
              <a:spcAft>
                <a:spcPts val="300"/>
              </a:spcAft>
            </a:pPr>
            <a:r>
              <a:rPr sz="1600" b="0">
                <a:solidFill>
                  <a:srgbClr val="23301F"/>
                </a:solidFill>
                <a:latin typeface="游ゴシック"/>
                <a:ea typeface="游ゴシック"/>
              </a:rPr>
              <a:t>・「だ・である」調で統一する</a:t>
            </a:r>
          </a:p>
          <a:p>
            <a:pPr algn="l">
              <a:lnSpc>
                <a:spcPct val="115000"/>
              </a:lnSpc>
              <a:spcAft>
                <a:spcPts val="300"/>
              </a:spcAft>
            </a:pPr>
            <a:r>
              <a:rPr sz="1600" b="0">
                <a:solidFill>
                  <a:srgbClr val="23301F"/>
                </a:solidFill>
                <a:latin typeface="游ゴシック"/>
                <a:ea typeface="游ゴシック"/>
              </a:rPr>
              <a:t>・一文を短く、一文一意</a:t>
            </a:r>
          </a:p>
          <a:p>
            <a:pPr algn="l">
              <a:lnSpc>
                <a:spcPct val="115000"/>
              </a:lnSpc>
              <a:spcAft>
                <a:spcPts val="0"/>
              </a:spcAft>
            </a:pPr>
            <a:r>
              <a:rPr sz="1600" b="0">
                <a:solidFill>
                  <a:srgbClr val="23301F"/>
                </a:solidFill>
                <a:latin typeface="游ゴシック"/>
                <a:ea typeface="游ゴシック"/>
              </a:rPr>
              <a:t>・話し言葉（〜だと思う、〜なので）を避ける</a:t>
            </a:r>
          </a:p>
        </p:txBody>
      </p:sp>
      <p:sp>
        <p:nvSpPr>
          <p:cNvPr id="17" name="Rounded Rectangle 16"/>
          <p:cNvSpPr/>
          <p:nvPr/>
        </p:nvSpPr>
        <p:spPr>
          <a:xfrm>
            <a:off x="6172200" y="3703320"/>
            <a:ext cx="5468112" cy="1828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794760"/>
            <a:ext cx="5102352" cy="1691640"/>
          </a:xfrm>
          <a:prstGeom prst="rect">
            <a:avLst/>
          </a:prstGeom>
          <a:noFill/>
        </p:spPr>
        <p:txBody>
          <a:bodyPr wrap="square" lIns="45720" rIns="45720" tIns="27432" bIns="27432" anchor="t">
            <a:spAutoFit/>
            <a:spAutoFit/>
          </a:bodyPr>
          <a:lstStyle/>
          <a:p>
            <a:pPr algn="l">
              <a:lnSpc>
                <a:spcPct val="115000"/>
              </a:lnSpc>
              <a:spcAft>
                <a:spcPts val="300"/>
              </a:spcAft>
            </a:pPr>
            <a:r>
              <a:rPr sz="1800" b="1">
                <a:solidFill>
                  <a:srgbClr val="2C5F2D"/>
                </a:solidFill>
                <a:latin typeface="游ゴシック"/>
                <a:ea typeface="游ゴシック"/>
              </a:rPr>
              <a:t>大学が見ていること</a:t>
            </a:r>
          </a:p>
          <a:p>
            <a:pPr algn="l">
              <a:lnSpc>
                <a:spcPct val="115000"/>
              </a:lnSpc>
              <a:spcAft>
                <a:spcPts val="300"/>
              </a:spcAft>
            </a:pPr>
            <a:r>
              <a:rPr sz="1600" b="0">
                <a:solidFill>
                  <a:srgbClr val="23301F"/>
                </a:solidFill>
                <a:latin typeface="游ゴシック"/>
                <a:ea typeface="游ゴシック"/>
              </a:rPr>
              <a:t>・建学の理念・APを自分の経験と結びつけたか</a:t>
            </a:r>
          </a:p>
          <a:p>
            <a:pPr algn="l">
              <a:lnSpc>
                <a:spcPct val="115000"/>
              </a:lnSpc>
              <a:spcAft>
                <a:spcPts val="300"/>
              </a:spcAft>
            </a:pPr>
            <a:r>
              <a:rPr sz="1600" b="0">
                <a:solidFill>
                  <a:srgbClr val="23301F"/>
                </a:solidFill>
                <a:latin typeface="游ゴシック"/>
                <a:ea typeface="游ゴシック"/>
              </a:rPr>
              <a:t>・強みを具体的な経験で証明しているか</a:t>
            </a:r>
          </a:p>
          <a:p>
            <a:pPr algn="l">
              <a:lnSpc>
                <a:spcPct val="115000"/>
              </a:lnSpc>
              <a:spcAft>
                <a:spcPts val="0"/>
              </a:spcAft>
            </a:pPr>
            <a:r>
              <a:rPr sz="1600" b="0">
                <a:solidFill>
                  <a:srgbClr val="23301F"/>
                </a:solidFill>
                <a:latin typeface="游ゴシック"/>
                <a:ea typeface="游ゴシック"/>
              </a:rPr>
              <a:t>・学科での学び・将来像まで一貫しているか</a:t>
            </a:r>
          </a:p>
        </p:txBody>
      </p:sp>
      <p:sp>
        <p:nvSpPr>
          <p:cNvPr id="19" name="Rounded Rectangle 18"/>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字数　</a:t>
            </a:r>
            <a:r>
              <a:rPr sz="1800" b="0">
                <a:solidFill>
                  <a:srgbClr val="FFFFFF"/>
                </a:solidFill>
                <a:latin typeface="游ゴシック"/>
                <a:ea typeface="游ゴシック"/>
              </a:rPr>
              <a:t>1000字以内なら、最低でも900字（9割）を目標に書き切る。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テーマ1｜協働で課題を解決する力</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募集要項に示された課題（政経学部・全体ガイダンス・作文）／1000字以内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6</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全体ガイダンス（20分）で建学の理念およびアドミッション・ポリシーについて改めて確認した上で、それらを踏まえた自己アピールを1,000字以内の文章にまとめなさい。</a:t>
            </a:r>
          </a:p>
        </p:txBody>
      </p:sp>
      <p:sp>
        <p:nvSpPr>
          <p:cNvPr id="11" name="TextBox 10"/>
          <p:cNvSpPr txBox="1"/>
          <p:nvPr/>
        </p:nvSpPr>
        <p:spPr>
          <a:xfrm>
            <a:off x="777240" y="3373183"/>
            <a:ext cx="6309360" cy="2113216"/>
          </a:xfrm>
          <a:prstGeom prst="rect">
            <a:avLst/>
          </a:prstGeom>
          <a:noFill/>
        </p:spPr>
        <p:txBody>
          <a:bodyPr wrap="square" lIns="45720" rIns="45720" tIns="27432" bIns="27432" anchor="t">
            <a:spAutoFit/>
            <a:spAutoFit/>
          </a:bodyPr>
          <a:lstStyle/>
          <a:p>
            <a:pPr algn="l">
              <a:lnSpc>
                <a:spcPct val="115000"/>
              </a:lnSpc>
              <a:spcAft>
                <a:spcPts val="200"/>
              </a:spcAft>
            </a:pPr>
            <a:r>
              <a:rPr sz="1350" b="1">
                <a:solidFill>
                  <a:srgbClr val="2C5F2D"/>
                </a:solidFill>
                <a:latin typeface="游ゴシック"/>
                <a:ea typeface="游ゴシック"/>
              </a:rPr>
              <a:t>ガイダンスで確認する内容（要点）</a:t>
            </a:r>
          </a:p>
          <a:p>
            <a:pPr algn="l">
              <a:lnSpc>
                <a:spcPct val="115000"/>
              </a:lnSpc>
              <a:spcAft>
                <a:spcPts val="0"/>
              </a:spcAft>
            </a:pPr>
            <a:r>
              <a:rPr sz="1350" b="0">
                <a:solidFill>
                  <a:srgbClr val="23301F"/>
                </a:solidFill>
                <a:latin typeface="游ゴシック"/>
                <a:ea typeface="游ゴシック"/>
              </a:rPr>
              <a:t>建学の理念：「積極進取の気概とあらゆる民族から敬慕されるに値する教養と品格を具えた有為な人材の育成」。今の言い方では、国際的な視野を持ち、何事にも積極的にチャレンジし、国内外の人と協働して問題を解決できる人材（拓殖人材）。法律政治学科のAP：法律学・政治学の知識で実社会の諸問題を指摘・解決する力を修得する。グローバル化への関心と論理的思考力、社会現象への関心と行動力、地域・グローバル社会を支える志。</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450" b="0">
                <a:solidFill>
                  <a:srgbClr val="23301F"/>
                </a:solidFill>
                <a:latin typeface="游ゴシック"/>
                <a:ea typeface="游ゴシック"/>
              </a:rPr>
              <a:t>① 「建学の理念」＝積極進取・教養と品格・拓殖人材</a:t>
            </a:r>
          </a:p>
          <a:p>
            <a:pPr algn="l">
              <a:lnSpc>
                <a:spcPct val="115000"/>
              </a:lnSpc>
              <a:spcAft>
                <a:spcPts val="600"/>
              </a:spcAft>
            </a:pPr>
            <a:r>
              <a:rPr sz="1450" b="0">
                <a:solidFill>
                  <a:srgbClr val="23301F"/>
                </a:solidFill>
                <a:latin typeface="游ゴシック"/>
                <a:ea typeface="游ゴシック"/>
              </a:rPr>
              <a:t>② 「アドミッション・ポリシー」＝学科が求める力</a:t>
            </a:r>
          </a:p>
          <a:p>
            <a:pPr algn="l">
              <a:lnSpc>
                <a:spcPct val="115000"/>
              </a:lnSpc>
              <a:spcAft>
                <a:spcPts val="600"/>
              </a:spcAft>
            </a:pPr>
            <a:r>
              <a:rPr sz="1450" b="0">
                <a:solidFill>
                  <a:srgbClr val="23301F"/>
                </a:solidFill>
                <a:latin typeface="游ゴシック"/>
                <a:ea typeface="游ゴシック"/>
              </a:rPr>
              <a:t>③ 「踏まえた」＝理念・APの言葉と自分を結びつける</a:t>
            </a:r>
          </a:p>
          <a:p>
            <a:pPr algn="l">
              <a:lnSpc>
                <a:spcPct val="115000"/>
              </a:lnSpc>
              <a:spcAft>
                <a:spcPts val="600"/>
              </a:spcAft>
            </a:pPr>
            <a:r>
              <a:rPr sz="1450" b="0">
                <a:solidFill>
                  <a:srgbClr val="23301F"/>
                </a:solidFill>
                <a:latin typeface="游ゴシック"/>
                <a:ea typeface="游ゴシック"/>
              </a:rPr>
              <a:t>④ 「自己アピール」＝強みを経験で証明する</a:t>
            </a:r>
          </a:p>
          <a:p>
            <a:pPr algn="l">
              <a:lnSpc>
                <a:spcPct val="115000"/>
              </a:lnSpc>
              <a:spcAft>
                <a:spcPts val="0"/>
              </a:spcAft>
            </a:pPr>
            <a:r>
              <a:rPr sz="1450" b="0">
                <a:solidFill>
                  <a:srgbClr val="23301F"/>
                </a:solidFill>
                <a:latin typeface="游ゴシック"/>
                <a:ea typeface="游ゴシック"/>
              </a:rPr>
              <a:t>⑤ 「1,000字以内」＝900字以上をめざす</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お手本｜Q1　要点をつかむ</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クリックするたびに、考える順番どおりに表示されます。</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7</a:t>
            </a:r>
          </a:p>
        </p:txBody>
      </p:sp>
      <p:grpSp>
        <p:nvGrpSpPr>
          <p:cNvPr id="11" name="Group 10"/>
          <p:cNvGrpSpPr/>
          <p:nvPr/>
        </p:nvGrpSpPr>
        <p:grpSpPr>
          <a:xfrm>
            <a:off x="548640" y="1783080"/>
            <a:ext cx="11091672" cy="652881"/>
            <a:chOff x="548640" y="1783080"/>
            <a:chExt cx="11091672" cy="652881"/>
          </a:xfrm>
        </p:grpSpPr>
        <p:sp>
          <p:nvSpPr>
            <p:cNvPr id="8" name="Rounded Rectangle 7"/>
            <p:cNvSpPr/>
            <p:nvPr/>
          </p:nvSpPr>
          <p:spPr>
            <a:xfrm>
              <a:off x="548640" y="1783080"/>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9006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問われていること①</a:t>
              </a:r>
            </a:p>
          </p:txBody>
        </p:sp>
        <p:sp>
          <p:nvSpPr>
            <p:cNvPr id="10" name="TextBox 9"/>
            <p:cNvSpPr txBox="1"/>
            <p:nvPr/>
          </p:nvSpPr>
          <p:spPr>
            <a:xfrm>
              <a:off x="3291840" y="1783080"/>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自分の強み ― 一つに絞り、経験で証明する</a:t>
              </a:r>
            </a:p>
          </p:txBody>
        </p:sp>
      </p:grpSp>
      <p:grpSp>
        <p:nvGrpSpPr>
          <p:cNvPr id="15" name="Group 14"/>
          <p:cNvGrpSpPr/>
          <p:nvPr/>
        </p:nvGrpSpPr>
        <p:grpSpPr>
          <a:xfrm>
            <a:off x="548640" y="2545689"/>
            <a:ext cx="11091672" cy="652881"/>
            <a:chOff x="548640" y="2545689"/>
            <a:chExt cx="11091672" cy="652881"/>
          </a:xfrm>
        </p:grpSpPr>
        <p:sp>
          <p:nvSpPr>
            <p:cNvPr id="12" name="Rounded Rectangle 11"/>
            <p:cNvSpPr/>
            <p:nvPr/>
          </p:nvSpPr>
          <p:spPr>
            <a:xfrm>
              <a:off x="548640" y="254568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65267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問われていること②</a:t>
              </a:r>
            </a:p>
          </p:txBody>
        </p:sp>
        <p:sp>
          <p:nvSpPr>
            <p:cNvPr id="14" name="TextBox 13"/>
            <p:cNvSpPr txBox="1"/>
            <p:nvPr/>
          </p:nvSpPr>
          <p:spPr>
            <a:xfrm>
              <a:off x="3291840" y="254568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建学の理念・AP ― どの言葉と自分が重なるか</a:t>
              </a:r>
            </a:p>
          </p:txBody>
        </p:sp>
      </p:grpSp>
      <p:grpSp>
        <p:nvGrpSpPr>
          <p:cNvPr id="19" name="Group 18"/>
          <p:cNvGrpSpPr/>
          <p:nvPr/>
        </p:nvGrpSpPr>
        <p:grpSpPr>
          <a:xfrm>
            <a:off x="548640" y="3308299"/>
            <a:ext cx="11091672" cy="652881"/>
            <a:chOff x="548640" y="3308299"/>
            <a:chExt cx="11091672" cy="652881"/>
          </a:xfrm>
        </p:grpSpPr>
        <p:sp>
          <p:nvSpPr>
            <p:cNvPr id="16" name="Rounded Rectangle 15"/>
            <p:cNvSpPr/>
            <p:nvPr/>
          </p:nvSpPr>
          <p:spPr>
            <a:xfrm>
              <a:off x="548640" y="3308299"/>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415284"/>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問われていること③</a:t>
              </a:r>
            </a:p>
          </p:txBody>
        </p:sp>
        <p:sp>
          <p:nvSpPr>
            <p:cNvPr id="18" name="TextBox 17"/>
            <p:cNvSpPr txBox="1"/>
            <p:nvPr/>
          </p:nvSpPr>
          <p:spPr>
            <a:xfrm>
              <a:off x="3291840" y="3308299"/>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800" b="0">
                  <a:solidFill>
                    <a:srgbClr val="23301F"/>
                  </a:solidFill>
                  <a:latin typeface="游ゴシック"/>
                  <a:ea typeface="游ゴシック"/>
                </a:rPr>
                <a:t>適合性 ― 学科で何を学び、将来どう生かすか</a:t>
              </a:r>
            </a:p>
          </p:txBody>
        </p:sp>
      </p:grpSp>
      <p:grpSp>
        <p:nvGrpSpPr>
          <p:cNvPr id="23" name="Group 22"/>
          <p:cNvGrpSpPr/>
          <p:nvPr/>
        </p:nvGrpSpPr>
        <p:grpSpPr>
          <a:xfrm>
            <a:off x="548640" y="4070908"/>
            <a:ext cx="11091672" cy="652881"/>
            <a:chOff x="548640" y="4070908"/>
            <a:chExt cx="11091672" cy="652881"/>
          </a:xfrm>
        </p:grpSpPr>
        <p:sp>
          <p:nvSpPr>
            <p:cNvPr id="20" name="Rounded Rectangle 19"/>
            <p:cNvSpPr/>
            <p:nvPr/>
          </p:nvSpPr>
          <p:spPr>
            <a:xfrm>
              <a:off x="548640" y="4070908"/>
              <a:ext cx="11091672" cy="65288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4177893"/>
              <a:ext cx="2377440" cy="438912"/>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資料のポイント</a:t>
              </a:r>
            </a:p>
          </p:txBody>
        </p:sp>
        <p:sp>
          <p:nvSpPr>
            <p:cNvPr id="22" name="TextBox 21"/>
            <p:cNvSpPr txBox="1"/>
            <p:nvPr/>
          </p:nvSpPr>
          <p:spPr>
            <a:xfrm>
              <a:off x="3291840" y="407090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550" b="0">
                  <a:solidFill>
                    <a:srgbClr val="23301F"/>
                  </a:solidFill>
                  <a:latin typeface="游ゴシック"/>
                  <a:ea typeface="游ゴシック"/>
                </a:rPr>
                <a:t>大学は「協働して問題を解決する人材」、学科は「社会の問題を解決する力」を求めている</a:t>
              </a:r>
            </a:p>
          </p:txBody>
        </p:sp>
      </p:grpSp>
      <p:grpSp>
        <p:nvGrpSpPr>
          <p:cNvPr id="27" name="Group 26"/>
          <p:cNvGrpSpPr/>
          <p:nvPr/>
        </p:nvGrpSpPr>
        <p:grpSpPr>
          <a:xfrm>
            <a:off x="548640" y="4833518"/>
            <a:ext cx="11091672" cy="652881"/>
            <a:chOff x="548640" y="4833518"/>
            <a:chExt cx="11091672" cy="652881"/>
          </a:xfrm>
        </p:grpSpPr>
        <p:sp>
          <p:nvSpPr>
            <p:cNvPr id="24" name="Rounded Rectangle 23"/>
            <p:cNvSpPr/>
            <p:nvPr/>
          </p:nvSpPr>
          <p:spPr>
            <a:xfrm>
              <a:off x="548640" y="4833518"/>
              <a:ext cx="11091672" cy="652881"/>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940503"/>
              <a:ext cx="2377440" cy="43891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FFFFFF"/>
                  </a:solidFill>
                  <a:latin typeface="游ゴシック"/>
                  <a:ea typeface="游ゴシック"/>
                </a:rPr>
                <a:t>一言でいうと</a:t>
              </a:r>
            </a:p>
          </p:txBody>
        </p:sp>
        <p:sp>
          <p:nvSpPr>
            <p:cNvPr id="26" name="TextBox 25"/>
            <p:cNvSpPr txBox="1"/>
            <p:nvPr/>
          </p:nvSpPr>
          <p:spPr>
            <a:xfrm>
              <a:off x="3291840" y="4833518"/>
              <a:ext cx="8138160" cy="652881"/>
            </a:xfrm>
            <a:prstGeom prst="rect">
              <a:avLst/>
            </a:prstGeom>
            <a:noFill/>
          </p:spPr>
          <p:txBody>
            <a:bodyPr wrap="square" lIns="45720" rIns="45720" tIns="27432" bIns="27432" anchor="ctr">
              <a:spAutoFit/>
              <a:spAutoFit/>
            </a:bodyPr>
            <a:lstStyle/>
            <a:p>
              <a:pPr algn="l">
                <a:lnSpc>
                  <a:spcPct val="115000"/>
                </a:lnSpc>
                <a:spcAft>
                  <a:spcPts val="0"/>
                </a:spcAft>
              </a:pPr>
              <a:r>
                <a:rPr sz="1900" b="1">
                  <a:solidFill>
                    <a:srgbClr val="23301F"/>
                  </a:solidFill>
                  <a:latin typeface="游ゴシック"/>
                  <a:ea typeface="游ゴシック"/>
                </a:rPr>
                <a:t>あなたは、拓殖大学の求める人物像にどう当てはまるのか</a:t>
              </a:r>
            </a:p>
          </p:txBody>
        </p:sp>
      </p:grpSp>
      <p:sp>
        <p:nvSpPr>
          <p:cNvPr id="28" name="Rounded Rectangle 27"/>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コツ　</a:t>
            </a:r>
            <a:r>
              <a:rPr sz="1800" b="0">
                <a:solidFill>
                  <a:srgbClr val="FFFFFF"/>
                </a:solidFill>
                <a:latin typeface="游ゴシック"/>
                <a:ea typeface="游ゴシック"/>
              </a:rPr>
              <a:t>ガイダンスで強調された言葉をメモし、答案で1〜2か所そのまま引用する。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お手本｜Q2　段落の数を決める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問われていることが「強み」「理念・AP」「学び・将来」の3つ → 序論＋本論3段＋結論</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8</a:t>
            </a:r>
          </a:p>
        </p:txBody>
      </p:sp>
      <p:grpSp>
        <p:nvGrpSpPr>
          <p:cNvPr id="12" name="Group 11"/>
          <p:cNvGrpSpPr/>
          <p:nvPr/>
        </p:nvGrpSpPr>
        <p:grpSpPr>
          <a:xfrm>
            <a:off x="548640" y="2011680"/>
            <a:ext cx="2108606" cy="2377440"/>
            <a:chOff x="548640" y="2011680"/>
            <a:chExt cx="2108606" cy="2377440"/>
          </a:xfrm>
        </p:grpSpPr>
        <p:sp>
          <p:nvSpPr>
            <p:cNvPr id="8" name="Rounded Rectangle 7"/>
            <p:cNvSpPr/>
            <p:nvPr/>
          </p:nvSpPr>
          <p:spPr>
            <a:xfrm>
              <a:off x="548640"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序論</a:t>
              </a:r>
            </a:p>
          </p:txBody>
        </p:sp>
        <p:sp>
          <p:nvSpPr>
            <p:cNvPr id="10" name="TextBox 9"/>
            <p:cNvSpPr txBox="1"/>
            <p:nvPr/>
          </p:nvSpPr>
          <p:spPr>
            <a:xfrm>
              <a:off x="640080"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約150字</a:t>
              </a:r>
            </a:p>
          </p:txBody>
        </p:sp>
        <p:sp>
          <p:nvSpPr>
            <p:cNvPr id="11" name="TextBox 10"/>
            <p:cNvSpPr txBox="1"/>
            <p:nvPr/>
          </p:nvSpPr>
          <p:spPr>
            <a:xfrm>
              <a:off x="640080"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強みと理念の重なり</a:t>
              </a:r>
            </a:p>
          </p:txBody>
        </p:sp>
      </p:grpSp>
      <p:grpSp>
        <p:nvGrpSpPr>
          <p:cNvPr id="17" name="Group 16"/>
          <p:cNvGrpSpPr/>
          <p:nvPr/>
        </p:nvGrpSpPr>
        <p:grpSpPr>
          <a:xfrm>
            <a:off x="2794406" y="2011680"/>
            <a:ext cx="2108606" cy="2377440"/>
            <a:chOff x="2794406" y="2011680"/>
            <a:chExt cx="2108606" cy="2377440"/>
          </a:xfrm>
        </p:grpSpPr>
        <p:sp>
          <p:nvSpPr>
            <p:cNvPr id="13" name="Rounded Rectangle 12"/>
            <p:cNvSpPr/>
            <p:nvPr/>
          </p:nvSpPr>
          <p:spPr>
            <a:xfrm>
              <a:off x="2794406"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31566"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本論①</a:t>
              </a:r>
            </a:p>
          </p:txBody>
        </p:sp>
        <p:sp>
          <p:nvSpPr>
            <p:cNvPr id="15" name="TextBox 14"/>
            <p:cNvSpPr txBox="1"/>
            <p:nvPr/>
          </p:nvSpPr>
          <p:spPr>
            <a:xfrm>
              <a:off x="2885846"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約300字</a:t>
              </a:r>
            </a:p>
          </p:txBody>
        </p:sp>
        <p:sp>
          <p:nvSpPr>
            <p:cNvPr id="16" name="TextBox 15"/>
            <p:cNvSpPr txBox="1"/>
            <p:nvPr/>
          </p:nvSpPr>
          <p:spPr>
            <a:xfrm>
              <a:off x="2885846"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強みを示す経験</a:t>
              </a:r>
            </a:p>
          </p:txBody>
        </p:sp>
      </p:grpSp>
      <p:grpSp>
        <p:nvGrpSpPr>
          <p:cNvPr id="22" name="Group 21"/>
          <p:cNvGrpSpPr/>
          <p:nvPr/>
        </p:nvGrpSpPr>
        <p:grpSpPr>
          <a:xfrm>
            <a:off x="5040172" y="2011680"/>
            <a:ext cx="2108606" cy="2377440"/>
            <a:chOff x="5040172" y="2011680"/>
            <a:chExt cx="2108606" cy="2377440"/>
          </a:xfrm>
        </p:grpSpPr>
        <p:sp>
          <p:nvSpPr>
            <p:cNvPr id="18" name="Rounded Rectangle 17"/>
            <p:cNvSpPr/>
            <p:nvPr/>
          </p:nvSpPr>
          <p:spPr>
            <a:xfrm>
              <a:off x="5040172"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77332"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本論②</a:t>
              </a:r>
            </a:p>
          </p:txBody>
        </p:sp>
        <p:sp>
          <p:nvSpPr>
            <p:cNvPr id="20" name="TextBox 19"/>
            <p:cNvSpPr txBox="1"/>
            <p:nvPr/>
          </p:nvSpPr>
          <p:spPr>
            <a:xfrm>
              <a:off x="5131612"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約220字</a:t>
              </a:r>
            </a:p>
          </p:txBody>
        </p:sp>
        <p:sp>
          <p:nvSpPr>
            <p:cNvPr id="21" name="TextBox 20"/>
            <p:cNvSpPr txBox="1"/>
            <p:nvPr/>
          </p:nvSpPr>
          <p:spPr>
            <a:xfrm>
              <a:off x="5131612"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理念・APとの結びつき</a:t>
              </a:r>
            </a:p>
          </p:txBody>
        </p:sp>
      </p:grpSp>
      <p:grpSp>
        <p:nvGrpSpPr>
          <p:cNvPr id="27" name="Group 26"/>
          <p:cNvGrpSpPr/>
          <p:nvPr/>
        </p:nvGrpSpPr>
        <p:grpSpPr>
          <a:xfrm>
            <a:off x="7285939" y="2011680"/>
            <a:ext cx="2108606" cy="2377440"/>
            <a:chOff x="7285939" y="2011680"/>
            <a:chExt cx="2108606" cy="2377440"/>
          </a:xfrm>
        </p:grpSpPr>
        <p:sp>
          <p:nvSpPr>
            <p:cNvPr id="23" name="Rounded Rectangle 22"/>
            <p:cNvSpPr/>
            <p:nvPr/>
          </p:nvSpPr>
          <p:spPr>
            <a:xfrm>
              <a:off x="7285939"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23099"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本論③</a:t>
              </a:r>
            </a:p>
          </p:txBody>
        </p:sp>
        <p:sp>
          <p:nvSpPr>
            <p:cNvPr id="25" name="TextBox 24"/>
            <p:cNvSpPr txBox="1"/>
            <p:nvPr/>
          </p:nvSpPr>
          <p:spPr>
            <a:xfrm>
              <a:off x="7377379"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約150字</a:t>
              </a:r>
            </a:p>
          </p:txBody>
        </p:sp>
        <p:sp>
          <p:nvSpPr>
            <p:cNvPr id="26" name="TextBox 25"/>
            <p:cNvSpPr txBox="1"/>
            <p:nvPr/>
          </p:nvSpPr>
          <p:spPr>
            <a:xfrm>
              <a:off x="7377379"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学科で学ぶこと</a:t>
              </a:r>
            </a:p>
          </p:txBody>
        </p:sp>
      </p:grpSp>
      <p:grpSp>
        <p:nvGrpSpPr>
          <p:cNvPr id="32" name="Group 31"/>
          <p:cNvGrpSpPr/>
          <p:nvPr/>
        </p:nvGrpSpPr>
        <p:grpSpPr>
          <a:xfrm>
            <a:off x="9531705" y="2011680"/>
            <a:ext cx="2108606" cy="2377440"/>
            <a:chOff x="9531705" y="2011680"/>
            <a:chExt cx="2108606" cy="2377440"/>
          </a:xfrm>
        </p:grpSpPr>
        <p:sp>
          <p:nvSpPr>
            <p:cNvPr id="28" name="Rounded Rectangle 27"/>
            <p:cNvSpPr/>
            <p:nvPr/>
          </p:nvSpPr>
          <p:spPr>
            <a:xfrm>
              <a:off x="9531705" y="2011680"/>
              <a:ext cx="2108606" cy="237744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68865" y="2148840"/>
              <a:ext cx="1834286" cy="50292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結論</a:t>
              </a:r>
            </a:p>
          </p:txBody>
        </p:sp>
        <p:sp>
          <p:nvSpPr>
            <p:cNvPr id="30" name="TextBox 29"/>
            <p:cNvSpPr txBox="1"/>
            <p:nvPr/>
          </p:nvSpPr>
          <p:spPr>
            <a:xfrm>
              <a:off x="9623145" y="2788920"/>
              <a:ext cx="1925726" cy="457200"/>
            </a:xfrm>
            <a:prstGeom prst="rect">
              <a:avLst/>
            </a:prstGeom>
            <a:noFill/>
          </p:spPr>
          <p:txBody>
            <a:bodyPr wrap="square" lIns="45720" rIns="45720" tIns="27432" bIns="27432" anchor="t">
              <a:spAutoFit/>
              <a:spAutoFit/>
            </a:bodyPr>
            <a:lstStyle/>
            <a:p>
              <a:pPr algn="ctr">
                <a:lnSpc>
                  <a:spcPct val="115000"/>
                </a:lnSpc>
                <a:spcAft>
                  <a:spcPts val="0"/>
                </a:spcAft>
              </a:pPr>
              <a:r>
                <a:rPr sz="1700" b="1">
                  <a:solidFill>
                    <a:srgbClr val="D9782D"/>
                  </a:solidFill>
                  <a:latin typeface="游ゴシック"/>
                  <a:ea typeface="游ゴシック"/>
                </a:rPr>
                <a:t>約130字</a:t>
              </a:r>
            </a:p>
          </p:txBody>
        </p:sp>
        <p:sp>
          <p:nvSpPr>
            <p:cNvPr id="31" name="TextBox 30"/>
            <p:cNvSpPr txBox="1"/>
            <p:nvPr/>
          </p:nvSpPr>
          <p:spPr>
            <a:xfrm>
              <a:off x="9623145" y="3291840"/>
              <a:ext cx="1925726" cy="1005840"/>
            </a:xfrm>
            <a:prstGeom prst="rect">
              <a:avLst/>
            </a:prstGeom>
            <a:noFill/>
          </p:spPr>
          <p:txBody>
            <a:bodyPr wrap="square" lIns="45720" rIns="45720" tIns="27432" bIns="27432" anchor="t">
              <a:spAutoFit/>
              <a:spAutoFit/>
            </a:bodyPr>
            <a:lstStyle/>
            <a:p>
              <a:pPr algn="ctr">
                <a:lnSpc>
                  <a:spcPct val="115000"/>
                </a:lnSpc>
                <a:spcAft>
                  <a:spcPts val="0"/>
                </a:spcAft>
              </a:pPr>
              <a:r>
                <a:rPr sz="1600" b="0">
                  <a:solidFill>
                    <a:srgbClr val="23301F"/>
                  </a:solidFill>
                  <a:latin typeface="游ゴシック"/>
                  <a:ea typeface="游ゴシック"/>
                </a:rPr>
                <a:t>将来像＋拓殖人材</a:t>
              </a:r>
            </a:p>
          </p:txBody>
        </p:sp>
      </p:grpSp>
      <p:grpSp>
        <p:nvGrpSpPr>
          <p:cNvPr id="35" name="Group 34"/>
          <p:cNvGrpSpPr/>
          <p:nvPr/>
        </p:nvGrpSpPr>
        <p:grpSpPr>
          <a:xfrm>
            <a:off x="548640" y="4572000"/>
            <a:ext cx="11091672" cy="868680"/>
            <a:chOff x="548640" y="4572000"/>
            <a:chExt cx="11091672" cy="868680"/>
          </a:xfrm>
        </p:grpSpPr>
        <p:sp>
          <p:nvSpPr>
            <p:cNvPr id="33" name="Rounded Rectangle 32"/>
            <p:cNvSpPr/>
            <p:nvPr/>
          </p:nvSpPr>
          <p:spPr>
            <a:xfrm>
              <a:off x="548640" y="4572000"/>
              <a:ext cx="11091672" cy="868680"/>
            </a:xfrm>
            <a:prstGeom prst="roundRect">
              <a:avLst>
                <a:gd name="adj" fmla="val 6000"/>
              </a:avLst>
            </a:prstGeom>
            <a:solidFill>
              <a:srgbClr val="FCEFE3"/>
            </a:solidFill>
            <a:ln w="19050">
              <a:solidFill>
                <a:srgbClr val="D978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77240" y="4572000"/>
              <a:ext cx="10634472" cy="86868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D9782D"/>
                  </a:solidFill>
                  <a:latin typeface="游ゴシック"/>
                  <a:ea typeface="游ゴシック"/>
                </a:rPr>
                <a:t>決定：</a:t>
              </a:r>
              <a:r>
                <a:rPr sz="2000" b="1">
                  <a:solidFill>
                    <a:srgbClr val="23301F"/>
                  </a:solidFill>
                  <a:latin typeface="游ゴシック"/>
                  <a:ea typeface="游ゴシック"/>
                </a:rPr>
                <a:t>5段落（序論1・本論3・結論1）。合計930〜1,000字をねらう。</a:t>
              </a:r>
            </a:p>
          </p:txBody>
        </p:sp>
      </p:grpSp>
      <p:sp>
        <p:nvSpPr>
          <p:cNvPr id="36" name="Rounded Rectangle 35"/>
          <p:cNvSpPr/>
          <p:nvPr/>
        </p:nvSpPr>
        <p:spPr>
          <a:xfrm>
            <a:off x="548640" y="557784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57784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700" b="1">
                <a:solidFill>
                  <a:srgbClr val="FFFFFF"/>
                </a:solidFill>
                <a:latin typeface="游ゴシック"/>
                <a:ea typeface="游ゴシック"/>
              </a:rPr>
              <a:t>なぜ本論3段？　</a:t>
            </a:r>
            <a:r>
              <a:rPr sz="1700" b="0">
                <a:solidFill>
                  <a:srgbClr val="FFFFFF"/>
                </a:solidFill>
                <a:latin typeface="游ゴシック"/>
                <a:ea typeface="游ゴシック"/>
              </a:rPr>
              <a:t>経験・理念とAP・学科での学びの3つを、1段落に1つずつ入れると論点がぶれない。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fade">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お手本｜Q3　各段落を箇条書きで肉付けする</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文章ではなく、短いメモでよい。このメモがそのまま答案になる。</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9</a:t>
            </a:r>
          </a:p>
        </p:txBody>
      </p:sp>
      <p:grpSp>
        <p:nvGrpSpPr>
          <p:cNvPr id="23" name="Group 22"/>
          <p:cNvGrpSpPr/>
          <p:nvPr/>
        </p:nvGrpSpPr>
        <p:grpSpPr>
          <a:xfrm>
            <a:off x="548640" y="1783080"/>
            <a:ext cx="11091672" cy="713231"/>
            <a:chOff x="548640" y="1783080"/>
            <a:chExt cx="11091672" cy="713231"/>
          </a:xfrm>
        </p:grpSpPr>
        <p:sp>
          <p:nvSpPr>
            <p:cNvPr id="8" name="Rounded Rectangle 7"/>
            <p:cNvSpPr/>
            <p:nvPr/>
          </p:nvSpPr>
          <p:spPr>
            <a:xfrm>
              <a:off x="548640" y="178308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5623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1874519" y="181965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強み＝立場の違う人と話し合い課題を解決する力 → 理念「協働して問題を解決」と重なる</a:t>
              </a:r>
            </a:p>
          </p:txBody>
        </p:sp>
      </p:grpSp>
      <p:grpSp>
        <p:nvGrpSpPr>
          <p:cNvPr id="24" name="Group 23"/>
          <p:cNvGrpSpPr/>
          <p:nvPr/>
        </p:nvGrpSpPr>
        <p:grpSpPr>
          <a:xfrm>
            <a:off x="548640" y="2560320"/>
            <a:ext cx="11091672" cy="713231"/>
            <a:chOff x="548640" y="2560320"/>
            <a:chExt cx="11091672" cy="713231"/>
          </a:xfrm>
        </p:grpSpPr>
        <p:sp>
          <p:nvSpPr>
            <p:cNvPr id="11" name="Rounded Rectangle 10"/>
            <p:cNvSpPr/>
            <p:nvPr/>
          </p:nvSpPr>
          <p:spPr>
            <a:xfrm>
              <a:off x="548640" y="256032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63347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874519" y="259689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生徒会副会長／スマホ禁止の校則 → アンケート・聞き取り → 折衷案 → 半年で採用</a:t>
              </a:r>
            </a:p>
          </p:txBody>
        </p:sp>
      </p:grpSp>
      <p:grpSp>
        <p:nvGrpSpPr>
          <p:cNvPr id="25" name="Group 24"/>
          <p:cNvGrpSpPr/>
          <p:nvPr/>
        </p:nvGrpSpPr>
        <p:grpSpPr>
          <a:xfrm>
            <a:off x="548640" y="3337559"/>
            <a:ext cx="11091672" cy="713231"/>
            <a:chOff x="548640" y="3337559"/>
            <a:chExt cx="11091672" cy="713231"/>
          </a:xfrm>
        </p:grpSpPr>
        <p:sp>
          <p:nvSpPr>
            <p:cNvPr id="14" name="Rounded Rectangle 13"/>
            <p:cNvSpPr/>
            <p:nvPr/>
          </p:nvSpPr>
          <p:spPr>
            <a:xfrm>
              <a:off x="548640" y="3337559"/>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410711"/>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6" name="TextBox 15"/>
            <p:cNvSpPr txBox="1"/>
            <p:nvPr/>
          </p:nvSpPr>
          <p:spPr>
            <a:xfrm>
              <a:off x="1874519" y="3374135"/>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ルールは話し合ってつくる／積極進取・教養と品格／AP「関心と行動力」</a:t>
              </a:r>
            </a:p>
          </p:txBody>
        </p:sp>
      </p:grpSp>
      <p:grpSp>
        <p:nvGrpSpPr>
          <p:cNvPr id="26" name="Group 25"/>
          <p:cNvGrpSpPr/>
          <p:nvPr/>
        </p:nvGrpSpPr>
        <p:grpSpPr>
          <a:xfrm>
            <a:off x="548640" y="4114800"/>
            <a:ext cx="11091672" cy="713231"/>
            <a:chOff x="548640" y="4114800"/>
            <a:chExt cx="11091672" cy="713231"/>
          </a:xfrm>
        </p:grpSpPr>
        <p:sp>
          <p:nvSpPr>
            <p:cNvPr id="17" name="Rounded Rectangle 16"/>
            <p:cNvSpPr/>
            <p:nvPr/>
          </p:nvSpPr>
          <p:spPr>
            <a:xfrm>
              <a:off x="548640" y="411480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8368" y="418795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9" name="TextBox 18"/>
            <p:cNvSpPr txBox="1"/>
            <p:nvPr/>
          </p:nvSpPr>
          <p:spPr>
            <a:xfrm>
              <a:off x="1874519" y="415137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憲法・行政法でルールの原理／政治学で合意形成の仕組み</a:t>
              </a:r>
            </a:p>
          </p:txBody>
        </p:sp>
      </p:grpSp>
      <p:grpSp>
        <p:nvGrpSpPr>
          <p:cNvPr id="27" name="Group 26"/>
          <p:cNvGrpSpPr/>
          <p:nvPr/>
        </p:nvGrpSpPr>
        <p:grpSpPr>
          <a:xfrm>
            <a:off x="548640" y="4892040"/>
            <a:ext cx="11091672" cy="713231"/>
            <a:chOff x="548640" y="4892040"/>
            <a:chExt cx="11091672" cy="713231"/>
          </a:xfrm>
        </p:grpSpPr>
        <p:sp>
          <p:nvSpPr>
            <p:cNvPr id="20" name="Rounded Rectangle 19"/>
            <p:cNvSpPr/>
            <p:nvPr/>
          </p:nvSpPr>
          <p:spPr>
            <a:xfrm>
              <a:off x="548640" y="4892040"/>
              <a:ext cx="11091672" cy="713231"/>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8368" y="4965192"/>
              <a:ext cx="105156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2" name="TextBox 21"/>
            <p:cNvSpPr txBox="1"/>
            <p:nvPr/>
          </p:nvSpPr>
          <p:spPr>
            <a:xfrm>
              <a:off x="1874519" y="4928616"/>
              <a:ext cx="9656064" cy="658368"/>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23301F"/>
                  </a:solidFill>
                  <a:latin typeface="游ゴシック"/>
                  <a:ea typeface="游ゴシック"/>
                </a:rPr>
                <a:t>地方公務員としてまちのルールづくり → 地域社会を支える拓殖人材に</a:t>
              </a:r>
            </a:p>
          </p:txBody>
        </p:sp>
      </p:grpSp>
      <p:sp>
        <p:nvSpPr>
          <p:cNvPr id="28" name="Rounded Rectangle 27"/>
          <p:cNvSpPr/>
          <p:nvPr/>
        </p:nvSpPr>
        <p:spPr>
          <a:xfrm>
            <a:off x="548640" y="566928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66928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ここまで15分　</a:t>
            </a:r>
            <a:r>
              <a:rPr sz="1800" b="0">
                <a:solidFill>
                  <a:srgbClr val="FFFFFF"/>
                </a:solidFill>
                <a:latin typeface="游ゴシック"/>
                <a:ea typeface="游ゴシック"/>
              </a:rPr>
              <a:t>メモが完成したら、あとは37分で書き写すように文章にするだけ。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37分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10</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合計994字（序論148・本論①305・本論②206・本論③179・結論156）</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の強みは、立場の違う人の意見を聞き、話し合いによって課題を解決へ導く力である。この力は、貴学が育成をめざす「国内外の人と協働して問題を解決できる人材」に通じるものだと考える。私はこの強みを法律学・政治学の学びによってさらに磨き、社会のルールづくりに携わる人間になりたいと考え、貴学科を志望す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力を培ったのは、高校二年生で生徒会副会長を務めたときである。私の高校では校内でのスマートフォンの使用が全面的に禁止されており、生徒からは調べ学習にも使えず不便だという声が多く寄せられていた。一方で教員からは、授業への集中が妨げられるという懸念が示された。そこで私は、全校生徒へのアンケートと教員への聞き取りを行い、双方の意見を一覧にまとめた。そのうえで、授業中は教員の許可がある場合に限って使用を認めるという案をつくり、生徒総会と職員会議で説明を重ねた。反対意見が出るたびに内容を見直し、試行期間を設けて効果を確かめることも提案した。半年に及ぶ話し合いの結果、新しいルールが採用され、現在も運用されている。</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強みを一つに絞った　✓ 理念・APを引用した　✓ 将来像まで一貫させた</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1 ｜ お手本</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テーマ1｜模範解答（2/2）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Q3のメモを、そのまま文章にした完成答案</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書く 37分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11</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合計994字（序論148・本論①305・本論②206・本論③179・結論156）</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1" name="TextBox 10"/>
          <p:cNvSpPr txBox="1"/>
          <p:nvPr/>
        </p:nvSpPr>
        <p:spPr>
          <a:xfrm>
            <a:off x="1783080" y="1847088"/>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経験から私が学んだのは、ルールは一方的に押し付けるものではなく、異なる立場の人々が納得できるよう話し合ってつくるものだということである。貴学の建学の精神にある「積極進取の気概」と「教養と品格」は、自ら課題に向き合い、相手を尊重しながら合意を探る姿勢だと私は受け止めている。また、法律政治学科のアドミッション・ポリシーが求める「社会現象への関心と行動力」も、生徒会での取り組みを通して身につけてきたものである。</a:t>
            </a:r>
          </a:p>
        </p:txBody>
      </p:sp>
      <p:sp>
        <p:nvSpPr>
          <p:cNvPr id="12" name="Rounded Rectangle 11"/>
          <p:cNvSpPr/>
          <p:nvPr/>
        </p:nvSpPr>
        <p:spPr>
          <a:xfrm>
            <a:off x="704088" y="289407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3" name="TextBox 12"/>
          <p:cNvSpPr txBox="1"/>
          <p:nvPr/>
        </p:nvSpPr>
        <p:spPr>
          <a:xfrm>
            <a:off x="1783080" y="2857500"/>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貴学科では、憲法や行政法を通して、社会のルールがどのような原理に基づいてつくられているのかを理論的に学びたい。さらに、政治学の授業で合意形成の仕組みを学び、生徒会で得た経験を実践的な知識へと高めたい。加えて、ゼミでの議論を通して、異なる意見を持つ相手と論理的に話し合う力も伸ばしたい。法律と政治の両方を学べる貴学科の環境は、私の目標に最もふさわしいと考える。</a:t>
            </a:r>
          </a:p>
        </p:txBody>
      </p:sp>
      <p:sp>
        <p:nvSpPr>
          <p:cNvPr id="14" name="Rounded Rectangle 13"/>
          <p:cNvSpPr/>
          <p:nvPr/>
        </p:nvSpPr>
        <p:spPr>
          <a:xfrm>
            <a:off x="704088" y="390448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5" name="TextBox 14"/>
          <p:cNvSpPr txBox="1"/>
          <p:nvPr/>
        </p:nvSpPr>
        <p:spPr>
          <a:xfrm>
            <a:off x="1783080" y="3867912"/>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将来は地方公務員として、地域に住むさまざまな人の声を聞き、誰もが暮らしやすいまちのルールづくりに取り組みたい。とりわけ、高齢者や外国籍の住民など、声が届きにくい人の意見を政策に生かすことを大切にしたい。立場の違う人々と協働して課題を解決する力を貴学科でさらに磨き、地域社会を支える拓殖人材として貢献していきたい。</a:t>
            </a:r>
          </a:p>
        </p:txBody>
      </p:sp>
      <p:sp>
        <p:nvSpPr>
          <p:cNvPr id="16" name="Rounded Rectangle 15"/>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強みを一つに絞った　✓ 理念・APを引用した　✓ 将来像まで一貫させた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テーマ2｜積極進取の挑戦</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演習：同じ課題を「建学の精神」の切り口で（オリジナル）／1000字以内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12</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全体ガイダンス（20分）で建学の理念およびアドミッション・ポリシーについて改めて確認した上で、それらを踏まえた自己アピールを1,000字以内の文章にまとめなさい。</a:t>
            </a:r>
          </a:p>
        </p:txBody>
      </p:sp>
      <p:sp>
        <p:nvSpPr>
          <p:cNvPr id="11" name="TextBox 10"/>
          <p:cNvSpPr txBox="1"/>
          <p:nvPr/>
        </p:nvSpPr>
        <p:spPr>
          <a:xfrm>
            <a:off x="777240" y="3373183"/>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2C5F2D"/>
                </a:solidFill>
                <a:latin typeface="游ゴシック"/>
                <a:ea typeface="游ゴシック"/>
              </a:rPr>
              <a:t>この演習で軸にする言葉（建学の理念）</a:t>
            </a:r>
          </a:p>
        </p:txBody>
      </p:sp>
      <p:sp>
        <p:nvSpPr>
          <p:cNvPr id="12" name="Rounded Rectangle 11"/>
          <p:cNvSpPr/>
          <p:nvPr/>
        </p:nvSpPr>
        <p:spPr>
          <a:xfrm>
            <a:off x="77724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積極進取の気概</a:t>
            </a:r>
          </a:p>
        </p:txBody>
      </p:sp>
      <p:sp>
        <p:nvSpPr>
          <p:cNvPr id="13" name="Rounded Rectangle 12"/>
          <p:cNvSpPr/>
          <p:nvPr/>
        </p:nvSpPr>
        <p:spPr>
          <a:xfrm>
            <a:off x="3931920" y="3812095"/>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あらゆる民族から敬慕される</a:t>
            </a:r>
          </a:p>
        </p:txBody>
      </p:sp>
      <p:sp>
        <p:nvSpPr>
          <p:cNvPr id="14" name="Rounded Rectangle 13"/>
          <p:cNvSpPr/>
          <p:nvPr/>
        </p:nvSpPr>
        <p:spPr>
          <a:xfrm>
            <a:off x="77724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教養と品格</a:t>
            </a:r>
          </a:p>
        </p:txBody>
      </p:sp>
      <p:sp>
        <p:nvSpPr>
          <p:cNvPr id="15" name="Rounded Rectangle 14"/>
          <p:cNvSpPr/>
          <p:nvPr/>
        </p:nvSpPr>
        <p:spPr>
          <a:xfrm>
            <a:off x="3931920" y="4379023"/>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国際的な視野</a:t>
            </a:r>
          </a:p>
        </p:txBody>
      </p:sp>
      <p:sp>
        <p:nvSpPr>
          <p:cNvPr id="16" name="Rounded Rectangle 15"/>
          <p:cNvSpPr/>
          <p:nvPr/>
        </p:nvSpPr>
        <p:spPr>
          <a:xfrm>
            <a:off x="777240" y="4945951"/>
            <a:ext cx="3017520" cy="475488"/>
          </a:xfrm>
          <a:prstGeom prst="roundRect">
            <a:avLst>
              <a:gd name="adj" fmla="val 30000"/>
            </a:avLst>
          </a:prstGeom>
          <a:solidFill>
            <a:srgbClr val="FFFFFF"/>
          </a:solidFill>
          <a:ln w="15875">
            <a:solidFill>
              <a:srgbClr val="2C5F2D"/>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500" b="1">
                <a:solidFill>
                  <a:srgbClr val="2C5F2D"/>
                </a:solidFill>
                <a:latin typeface="游ゴシック"/>
                <a:ea typeface="游ゴシック"/>
              </a:rPr>
              <a:t>開拓の精神</a:t>
            </a:r>
          </a:p>
        </p:txBody>
      </p:sp>
      <p:sp>
        <p:nvSpPr>
          <p:cNvPr id="17" name="Rounded Rectangle 16"/>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9" name="TextBox 18"/>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「建学の理念」＝今回は積極進取・国際的な視野が軸</a:t>
            </a:r>
          </a:p>
          <a:p>
            <a:pPr algn="l">
              <a:lnSpc>
                <a:spcPct val="115000"/>
              </a:lnSpc>
              <a:spcAft>
                <a:spcPts val="600"/>
              </a:spcAft>
            </a:pPr>
            <a:r>
              <a:rPr sz="1500" b="0">
                <a:solidFill>
                  <a:srgbClr val="23301F"/>
                </a:solidFill>
                <a:latin typeface="游ゴシック"/>
                <a:ea typeface="游ゴシック"/>
              </a:rPr>
              <a:t>② 「アドミッション・ポリシー」＝グローバル化への関心</a:t>
            </a:r>
          </a:p>
          <a:p>
            <a:pPr algn="l">
              <a:lnSpc>
                <a:spcPct val="115000"/>
              </a:lnSpc>
              <a:spcAft>
                <a:spcPts val="600"/>
              </a:spcAft>
            </a:pPr>
            <a:r>
              <a:rPr sz="1500" b="0">
                <a:solidFill>
                  <a:srgbClr val="23301F"/>
                </a:solidFill>
                <a:latin typeface="游ゴシック"/>
                <a:ea typeface="游ゴシック"/>
              </a:rPr>
              <a:t>③ 「踏まえた」＝言葉を引用し、経験と結びつける</a:t>
            </a:r>
          </a:p>
          <a:p>
            <a:pPr algn="l">
              <a:lnSpc>
                <a:spcPct val="115000"/>
              </a:lnSpc>
              <a:spcAft>
                <a:spcPts val="0"/>
              </a:spcAft>
            </a:pPr>
            <a:r>
              <a:rPr sz="1500" b="0">
                <a:solidFill>
                  <a:srgbClr val="23301F"/>
                </a:solidFill>
                <a:latin typeface="游ゴシック"/>
                <a:ea typeface="游ゴシック"/>
              </a:rPr>
              <a:t>④ 「自己アピール」＝挑戦した経験で強みを示す</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積極進取の挑戦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13</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・挑戦した経験で一番具体的なのは？</a:t>
            </a:r>
          </a:p>
          <a:p>
            <a:pPr algn="l">
              <a:lnSpc>
                <a:spcPct val="115000"/>
              </a:lnSpc>
              <a:spcAft>
                <a:spcPts val="300"/>
              </a:spcAft>
            </a:pPr>
            <a:r>
              <a:rPr sz="1500" b="0">
                <a:solidFill>
                  <a:srgbClr val="23301F"/>
                </a:solidFill>
                <a:latin typeface="游ゴシック"/>
                <a:ea typeface="游ゴシック"/>
              </a:rPr>
              <a:t>・積極進取は、あなたのどの行動に当たる？</a:t>
            </a:r>
          </a:p>
          <a:p>
            <a:pPr algn="l">
              <a:lnSpc>
                <a:spcPct val="115000"/>
              </a:lnSpc>
              <a:spcAft>
                <a:spcPts val="0"/>
              </a:spcAft>
            </a:pPr>
            <a:r>
              <a:rPr sz="1500" b="0">
                <a:solidFill>
                  <a:srgbClr val="23301F"/>
                </a:solidFill>
                <a:latin typeface="游ゴシック"/>
                <a:ea typeface="游ゴシック"/>
              </a:rPr>
              <a:t>・その経験は法律・政治とどうつながる？</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・経験の段落に一番字数を使う？</a:t>
            </a:r>
          </a:p>
          <a:p>
            <a:pPr algn="l">
              <a:lnSpc>
                <a:spcPct val="115000"/>
              </a:lnSpc>
              <a:spcAft>
                <a:spcPts val="300"/>
              </a:spcAft>
            </a:pPr>
            <a:r>
              <a:rPr sz="1500" b="0">
                <a:solidFill>
                  <a:srgbClr val="23301F"/>
                </a:solidFill>
                <a:latin typeface="游ゴシック"/>
                <a:ea typeface="游ゴシック"/>
              </a:rPr>
              <a:t>・理念の言葉はどの段落で引用する？</a:t>
            </a:r>
          </a:p>
          <a:p>
            <a:pPr algn="l">
              <a:lnSpc>
                <a:spcPct val="115000"/>
              </a:lnSpc>
              <a:spcAft>
                <a:spcPts val="0"/>
              </a:spcAft>
            </a:pPr>
            <a:r>
              <a:rPr sz="1500" b="0">
                <a:solidFill>
                  <a:srgbClr val="23301F"/>
                </a:solidFill>
                <a:latin typeface="游ゴシック"/>
                <a:ea typeface="游ゴシック"/>
              </a:rPr>
              <a:t>・結論で序論の強みにもう一度触れた？</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14</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挑戦した経験から分かるあなたの強みは？</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何に挑戦し、どんな壁をどう乗り越えた？</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建学の理念のどの言葉と重なる？ APとは？</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法律政治学科で何を学びたい？</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まとめ＋将来どの分野で、どう社会に貢献したいか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続く37分で、このメモどおりに一気に書く → 最後の8分で見直す。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積極進取の挑戦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15</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・問いは3つ：①強み ②理念・APとの重なり ③学び・将来</a:t>
            </a:r>
          </a:p>
          <a:p>
            <a:pPr algn="l">
              <a:lnSpc>
                <a:spcPct val="115000"/>
              </a:lnSpc>
              <a:spcAft>
                <a:spcPts val="300"/>
              </a:spcAft>
            </a:pPr>
            <a:r>
              <a:rPr sz="1450" b="0">
                <a:solidFill>
                  <a:srgbClr val="23301F"/>
                </a:solidFill>
                <a:latin typeface="游ゴシック"/>
                <a:ea typeface="游ゴシック"/>
              </a:rPr>
              <a:t>・軸の言葉：積極進取・あらゆる民族から敬慕される</a:t>
            </a:r>
          </a:p>
          <a:p>
            <a:pPr algn="l">
              <a:lnSpc>
                <a:spcPct val="115000"/>
              </a:lnSpc>
              <a:spcAft>
                <a:spcPts val="300"/>
              </a:spcAft>
            </a:pPr>
            <a:r>
              <a:rPr sz="1450" b="0">
                <a:solidFill>
                  <a:srgbClr val="23301F"/>
                </a:solidFill>
                <a:latin typeface="游ゴシック"/>
                <a:ea typeface="游ゴシック"/>
              </a:rPr>
              <a:t>・一言で：挑戦する姿勢を経験で示せるか</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・5段落（序論・本論3・結論）</a:t>
            </a:r>
          </a:p>
          <a:p>
            <a:pPr algn="l">
              <a:lnSpc>
                <a:spcPct val="115000"/>
              </a:lnSpc>
              <a:spcAft>
                <a:spcPts val="300"/>
              </a:spcAft>
            </a:pPr>
            <a:r>
              <a:rPr sz="1450" b="0">
                <a:solidFill>
                  <a:srgbClr val="23301F"/>
                </a:solidFill>
                <a:latin typeface="游ゴシック"/>
                <a:ea typeface="游ゴシック"/>
              </a:rPr>
              <a:t>・本論①挑戦、②理念・AP、③学科の学び</a:t>
            </a:r>
          </a:p>
          <a:p>
            <a:pPr algn="l">
              <a:lnSpc>
                <a:spcPct val="115000"/>
              </a:lnSpc>
              <a:spcAft>
                <a:spcPts val="0"/>
              </a:spcAft>
            </a:pPr>
            <a:r>
              <a:rPr sz="1450" b="0">
                <a:solidFill>
                  <a:srgbClr val="23301F"/>
                </a:solidFill>
                <a:latin typeface="游ゴシック"/>
                <a:ea typeface="游ゴシック"/>
              </a:rPr>
              <a:t>・序論150／本論300・230・150／結論120字</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強み＝未知の環境に飛び込み、行動しながら学ぶ積極性 → 積極進取と重なる</a:t>
            </a:r>
          </a:p>
        </p:txBody>
      </p:sp>
      <p:sp>
        <p:nvSpPr>
          <p:cNvPr id="14" name="Rounded Rectangle 13"/>
          <p:cNvSpPr/>
          <p:nvPr/>
        </p:nvSpPr>
        <p:spPr>
          <a:xfrm>
            <a:off x="5349240" y="2876702"/>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2949854"/>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2913278"/>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地域の日本語教室ボランティア／言葉が通じない → 絵・身ぶり・相手の文化を学ぶ</a:t>
            </a:r>
          </a:p>
        </p:txBody>
      </p:sp>
      <p:sp>
        <p:nvSpPr>
          <p:cNvPr id="17" name="Rounded Rectangle 16"/>
          <p:cNvSpPr/>
          <p:nvPr/>
        </p:nvSpPr>
        <p:spPr>
          <a:xfrm>
            <a:off x="5349240" y="3558844"/>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63199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595420"/>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制度の分かりにくさに気づく／敬慕される教養と品格／AP「グローバル化への関心」</a:t>
            </a:r>
          </a:p>
        </p:txBody>
      </p:sp>
      <p:sp>
        <p:nvSpPr>
          <p:cNvPr id="20" name="Rounded Rectangle 19"/>
          <p:cNvSpPr/>
          <p:nvPr/>
        </p:nvSpPr>
        <p:spPr>
          <a:xfrm>
            <a:off x="5349240" y="4240987"/>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314139"/>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22" name="TextBox 21"/>
          <p:cNvSpPr txBox="1"/>
          <p:nvPr/>
        </p:nvSpPr>
        <p:spPr>
          <a:xfrm>
            <a:off x="6583679" y="4277563"/>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国際法・行政法で在留や生活を支える制度／海外の制度と比較</a:t>
            </a:r>
          </a:p>
        </p:txBody>
      </p:sp>
      <p:sp>
        <p:nvSpPr>
          <p:cNvPr id="23" name="Rounded Rectangle 22"/>
          <p:cNvSpPr/>
          <p:nvPr/>
        </p:nvSpPr>
        <p:spPr>
          <a:xfrm>
            <a:off x="5349240" y="4923129"/>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58968" y="4996281"/>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5" name="TextBox 24"/>
          <p:cNvSpPr txBox="1"/>
          <p:nvPr/>
        </p:nvSpPr>
        <p:spPr>
          <a:xfrm>
            <a:off x="6583679" y="4959705"/>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国家公務員として共生の政策に → 国籍を問わず安心して暮らせる社会へ</a:t>
            </a:r>
          </a:p>
        </p:txBody>
      </p:sp>
      <p:sp>
        <p:nvSpPr>
          <p:cNvPr id="26" name="Rounded Rectangle 25"/>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強み：積極性と行動力／5段落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16</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合計915字（序論138・本論①279・本論②220・本論③151・結論127）</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の強みは、未知の環境にも臆せず飛び込み、行動しながら学んでいく積極性である。これは、貴学の建学の精神に掲げられた「積極進取の気概」と重なるものだと考える。私はこの強みを生かし、法律や制度の面から、外国人と日本人がともに安心して暮らせる社会を支えたいと考え、貴学科を志望する。</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強みが表れたのは、高校一年生の夏から続けている、地域の日本語教室でのボランティアである。私の住む市では外国籍の住民が増えているが、私はそれまで外国の人と話した経験がほとんどなかった。不安はあったが、まず参加してみようと決め、毎週土曜日に通い始めた。これまでに約二年間、一度も休まずに参加している。最初は簡単な会話もうまく伝わらなかったが、絵や身ぶりを使い、相手の国の文化や言葉を自分から学ぶように工夫した。続けるうちに信頼関係が生まれ、学習者のベトナム出身の女性から、市役所の手続きや子どもの学校の書類が分からず困っているという相談を受けるようになった。</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挑戦の過程を具体的に　✓ 理念を行動と結びつけた　✓ 制度への関心を示した</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2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テーマ2｜模範解答（2/2）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強み：積極性と行動力／5段落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17</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合計915字（序論138・本論①279・本論②220・本論③151・結論127）</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1" name="TextBox 10"/>
          <p:cNvSpPr txBox="1"/>
          <p:nvPr/>
        </p:nvSpPr>
        <p:spPr>
          <a:xfrm>
            <a:off x="1783080" y="1847088"/>
            <a:ext cx="9674352" cy="116928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経験を通して、言葉の壁だけでなく、制度や手続きの分かりにくさが、外国人住民の暮らしを難しくしていることに気づいた。貴学は、あらゆる民族から敬慕されるに値する教養と品格を備えた人材の育成を建学の理念としている。私は、相手の文化を尊重し、困っている人の立場に立って行動することこそ、この理念の実践だと考える。また、法律政治学科のアドミッション・ポリシーが求める「グローバル化への関心」と「行動力」も、ボランティアの中で育ててきたものである。</a:t>
            </a:r>
          </a:p>
        </p:txBody>
      </p:sp>
      <p:sp>
        <p:nvSpPr>
          <p:cNvPr id="12" name="Rounded Rectangle 11"/>
          <p:cNvSpPr/>
          <p:nvPr/>
        </p:nvSpPr>
        <p:spPr>
          <a:xfrm>
            <a:off x="704088" y="311696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3" name="TextBox 12"/>
          <p:cNvSpPr txBox="1"/>
          <p:nvPr/>
        </p:nvSpPr>
        <p:spPr>
          <a:xfrm>
            <a:off x="1783080" y="3080385"/>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貴学科では、国際法や行政法を学び、外国人の在留や生活を支える制度がどのような考え方に基づいているのかを理解したい。さらに、海外の制度と比べながら日本の制度の課題を論理的に考え、改善の道筋を示せる力を身につけたい。また、留学生の多い貴学の環境で、さまざまな国の学生と意見を交わし、国際的な視野を広げたい。</a:t>
            </a:r>
          </a:p>
        </p:txBody>
      </p:sp>
      <p:sp>
        <p:nvSpPr>
          <p:cNvPr id="14" name="Rounded Rectangle 13"/>
          <p:cNvSpPr/>
          <p:nvPr/>
        </p:nvSpPr>
        <p:spPr>
          <a:xfrm>
            <a:off x="704088" y="3904488"/>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5" name="TextBox 14"/>
          <p:cNvSpPr txBox="1"/>
          <p:nvPr/>
        </p:nvSpPr>
        <p:spPr>
          <a:xfrm>
            <a:off x="1783080" y="3867912"/>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将来は国家公務員として、外国人住民との共生に関わる政策に携わりたい。日本語教室で出会った人々のように、制度が分からず困る人を一人でも減らすことが目標である。積極進取の気概を持って行動し続け、国籍を問わず誰もが安心して暮らせる社会づくりに貢献していきたい。</a:t>
            </a:r>
          </a:p>
        </p:txBody>
      </p:sp>
      <p:sp>
        <p:nvSpPr>
          <p:cNvPr id="16" name="Rounded Rectangle 15"/>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挑戦の過程を具体的に　✓ 理念を行動と結びつけた　✓ 制度への関心を示した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テーマ3｜社会への関心と行動力</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演習：同じ課題を「AP（求める能力）」の切り口で（オリジナル）／1000字以内</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読む 5分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18</a:t>
            </a:r>
          </a:p>
        </p:txBody>
      </p:sp>
      <p:sp>
        <p:nvSpPr>
          <p:cNvPr id="8" name="Rounded Rectangle 7"/>
          <p:cNvSpPr/>
          <p:nvPr/>
        </p:nvSpPr>
        <p:spPr>
          <a:xfrm>
            <a:off x="548640" y="1783080"/>
            <a:ext cx="667512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74519"/>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2C5F2D"/>
                </a:solidFill>
                <a:latin typeface="游ゴシック"/>
                <a:ea typeface="游ゴシック"/>
              </a:rPr>
              <a:t>問題（要旨）</a:t>
            </a:r>
          </a:p>
        </p:txBody>
      </p:sp>
      <p:sp>
        <p:nvSpPr>
          <p:cNvPr id="10" name="TextBox 9"/>
          <p:cNvSpPr txBox="1"/>
          <p:nvPr/>
        </p:nvSpPr>
        <p:spPr>
          <a:xfrm>
            <a:off x="777240" y="2240280"/>
            <a:ext cx="6309360" cy="1023175"/>
          </a:xfrm>
          <a:prstGeom prst="rect">
            <a:avLst/>
          </a:prstGeom>
          <a:noFill/>
        </p:spPr>
        <p:txBody>
          <a:bodyPr wrap="square" lIns="45720" rIns="45720" tIns="27432" bIns="27432" anchor="t">
            <a:spAutoFit/>
            <a:spAutoFit/>
          </a:bodyPr>
          <a:lstStyle/>
          <a:p>
            <a:pPr algn="l">
              <a:lnSpc>
                <a:spcPct val="115000"/>
              </a:lnSpc>
              <a:spcAft>
                <a:spcPts val="0"/>
              </a:spcAft>
            </a:pPr>
            <a:r>
              <a:rPr sz="1700" b="0">
                <a:solidFill>
                  <a:srgbClr val="23301F"/>
                </a:solidFill>
                <a:latin typeface="游ゴシック"/>
                <a:ea typeface="游ゴシック"/>
              </a:rPr>
              <a:t>全体ガイダンス（20分）で建学の理念およびアドミッション・ポリシーについて改めて確認した上で、それらを踏まえた自己アピールを1,000字以内の文章にまとめなさい。</a:t>
            </a:r>
          </a:p>
        </p:txBody>
      </p:sp>
      <p:sp>
        <p:nvSpPr>
          <p:cNvPr id="11" name="TextBox 10"/>
          <p:cNvSpPr txBox="1"/>
          <p:nvPr/>
        </p:nvSpPr>
        <p:spPr>
          <a:xfrm>
            <a:off x="777240" y="3373183"/>
            <a:ext cx="6309360" cy="2113216"/>
          </a:xfrm>
          <a:prstGeom prst="rect">
            <a:avLst/>
          </a:prstGeom>
          <a:noFill/>
        </p:spPr>
        <p:txBody>
          <a:bodyPr wrap="square" lIns="45720" rIns="45720" tIns="27432" bIns="27432" anchor="t">
            <a:spAutoFit/>
            <a:spAutoFit/>
          </a:bodyPr>
          <a:lstStyle/>
          <a:p>
            <a:pPr algn="l">
              <a:lnSpc>
                <a:spcPct val="115000"/>
              </a:lnSpc>
              <a:spcAft>
                <a:spcPts val="200"/>
              </a:spcAft>
            </a:pPr>
            <a:r>
              <a:rPr sz="1500" b="1">
                <a:solidFill>
                  <a:srgbClr val="2C5F2D"/>
                </a:solidFill>
                <a:latin typeface="游ゴシック"/>
                <a:ea typeface="游ゴシック"/>
              </a:rPr>
              <a:t>この演習で軸にする言葉（法律政治学科のAP）</a:t>
            </a:r>
          </a:p>
          <a:p>
            <a:pPr algn="l">
              <a:lnSpc>
                <a:spcPct val="115000"/>
              </a:lnSpc>
              <a:spcAft>
                <a:spcPts val="200"/>
              </a:spcAft>
            </a:pPr>
            <a:r>
              <a:rPr sz="1500" b="0">
                <a:solidFill>
                  <a:srgbClr val="23301F"/>
                </a:solidFill>
                <a:latin typeface="游ゴシック"/>
                <a:ea typeface="游ゴシック"/>
              </a:rPr>
              <a:t>・グローバル化への関心と論理的思考力</a:t>
            </a:r>
          </a:p>
          <a:p>
            <a:pPr algn="l">
              <a:lnSpc>
                <a:spcPct val="115000"/>
              </a:lnSpc>
              <a:spcAft>
                <a:spcPts val="200"/>
              </a:spcAft>
            </a:pPr>
            <a:r>
              <a:rPr sz="1500" b="0">
                <a:solidFill>
                  <a:srgbClr val="23301F"/>
                </a:solidFill>
                <a:latin typeface="游ゴシック"/>
                <a:ea typeface="游ゴシック"/>
              </a:rPr>
              <a:t>・国内外の社会現象への関心と行動力</a:t>
            </a:r>
          </a:p>
          <a:p>
            <a:pPr algn="l">
              <a:lnSpc>
                <a:spcPct val="115000"/>
              </a:lnSpc>
              <a:spcAft>
                <a:spcPts val="200"/>
              </a:spcAft>
            </a:pPr>
            <a:r>
              <a:rPr sz="1500" b="0">
                <a:solidFill>
                  <a:srgbClr val="23301F"/>
                </a:solidFill>
                <a:latin typeface="游ゴシック"/>
                <a:ea typeface="游ゴシック"/>
              </a:rPr>
              <a:t>・地域社会・グローバル社会を支える志</a:t>
            </a:r>
          </a:p>
          <a:p>
            <a:pPr algn="l">
              <a:lnSpc>
                <a:spcPct val="115000"/>
              </a:lnSpc>
              <a:spcAft>
                <a:spcPts val="0"/>
              </a:spcAft>
            </a:pPr>
            <a:r>
              <a:rPr sz="1500" b="0">
                <a:solidFill>
                  <a:srgbClr val="23301F"/>
                </a:solidFill>
                <a:latin typeface="游ゴシック"/>
                <a:ea typeface="游ゴシック"/>
              </a:rPr>
              <a:t>・実社会の諸問題を的確に指摘し、解決する力</a:t>
            </a:r>
          </a:p>
        </p:txBody>
      </p:sp>
      <p:sp>
        <p:nvSpPr>
          <p:cNvPr id="12" name="Rounded Rectangle 11"/>
          <p:cNvSpPr/>
          <p:nvPr/>
        </p:nvSpPr>
        <p:spPr>
          <a:xfrm>
            <a:off x="7406640" y="1783080"/>
            <a:ext cx="4233672" cy="3794760"/>
          </a:xfrm>
          <a:prstGeom prst="roundRect">
            <a:avLst>
              <a:gd name="adj" fmla="val 6000"/>
            </a:avLst>
          </a:prstGeom>
          <a:solidFill>
            <a:srgbClr val="FCEF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874519"/>
            <a:ext cx="3840480" cy="365760"/>
          </a:xfrm>
          <a:prstGeom prst="rect">
            <a:avLst/>
          </a:prstGeom>
          <a:noFill/>
        </p:spPr>
        <p:txBody>
          <a:bodyPr wrap="square" lIns="45720" rIns="45720" tIns="27432" bIns="27432" anchor="t">
            <a:spAutoFit/>
            <a:spAutoFit/>
          </a:bodyPr>
          <a:lstStyle/>
          <a:p>
            <a:pPr algn="l">
              <a:lnSpc>
                <a:spcPct val="115000"/>
              </a:lnSpc>
              <a:spcAft>
                <a:spcPts val="0"/>
              </a:spcAft>
            </a:pPr>
            <a:r>
              <a:rPr sz="1600" b="1">
                <a:solidFill>
                  <a:srgbClr val="D9782D"/>
                </a:solidFill>
                <a:latin typeface="游ゴシック"/>
                <a:ea typeface="游ゴシック"/>
              </a:rPr>
              <a:t>読むときに線を引くところ</a:t>
            </a:r>
          </a:p>
        </p:txBody>
      </p:sp>
      <p:sp>
        <p:nvSpPr>
          <p:cNvPr id="14" name="TextBox 13"/>
          <p:cNvSpPr txBox="1"/>
          <p:nvPr/>
        </p:nvSpPr>
        <p:spPr>
          <a:xfrm>
            <a:off x="7635240" y="2286000"/>
            <a:ext cx="3840480" cy="3200400"/>
          </a:xfrm>
          <a:prstGeom prst="rect">
            <a:avLst/>
          </a:prstGeom>
          <a:noFill/>
        </p:spPr>
        <p:txBody>
          <a:bodyPr wrap="square" lIns="45720" rIns="45720" tIns="27432" bIns="27432" anchor="t">
            <a:spAutoFit/>
            <a:spAutoFit/>
          </a:bodyPr>
          <a:lstStyle/>
          <a:p>
            <a:pPr algn="l">
              <a:lnSpc>
                <a:spcPct val="115000"/>
              </a:lnSpc>
              <a:spcAft>
                <a:spcPts val="600"/>
              </a:spcAft>
            </a:pPr>
            <a:r>
              <a:rPr sz="1500" b="0">
                <a:solidFill>
                  <a:srgbClr val="23301F"/>
                </a:solidFill>
                <a:latin typeface="游ゴシック"/>
                <a:ea typeface="游ゴシック"/>
              </a:rPr>
              <a:t>① 「アドミッション・ポリシー」＝今回は関心・行動力が軸</a:t>
            </a:r>
          </a:p>
          <a:p>
            <a:pPr algn="l">
              <a:lnSpc>
                <a:spcPct val="115000"/>
              </a:lnSpc>
              <a:spcAft>
                <a:spcPts val="600"/>
              </a:spcAft>
            </a:pPr>
            <a:r>
              <a:rPr sz="1500" b="0">
                <a:solidFill>
                  <a:srgbClr val="23301F"/>
                </a:solidFill>
                <a:latin typeface="游ゴシック"/>
                <a:ea typeface="游ゴシック"/>
              </a:rPr>
              <a:t>② 「建学の理念」＝積極進取にも必ず触れる</a:t>
            </a:r>
          </a:p>
          <a:p>
            <a:pPr algn="l">
              <a:lnSpc>
                <a:spcPct val="115000"/>
              </a:lnSpc>
              <a:spcAft>
                <a:spcPts val="600"/>
              </a:spcAft>
            </a:pPr>
            <a:r>
              <a:rPr sz="1500" b="0">
                <a:solidFill>
                  <a:srgbClr val="23301F"/>
                </a:solidFill>
                <a:latin typeface="游ゴシック"/>
                <a:ea typeface="游ゴシック"/>
              </a:rPr>
              <a:t>③ 「踏まえた」＝APの言葉と経験を結びつける</a:t>
            </a:r>
          </a:p>
          <a:p>
            <a:pPr algn="l">
              <a:lnSpc>
                <a:spcPct val="115000"/>
              </a:lnSpc>
              <a:spcAft>
                <a:spcPts val="0"/>
              </a:spcAft>
            </a:pPr>
            <a:r>
              <a:rPr sz="1500" b="0">
                <a:solidFill>
                  <a:srgbClr val="23301F"/>
                </a:solidFill>
                <a:latin typeface="游ゴシック"/>
                <a:ea typeface="游ゴシック"/>
              </a:rPr>
              <a:t>④ 「自己アピール」＝調べて動いた経験で示す</a:t>
            </a:r>
          </a:p>
        </p:txBody>
      </p:sp>
      <p:sp>
        <p:nvSpPr>
          <p:cNvPr id="15" name="Rounded Rectangle 14"/>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最初の5分　</a:t>
            </a:r>
            <a:r>
              <a:rPr sz="1800" b="0">
                <a:solidFill>
                  <a:srgbClr val="FFFFFF"/>
                </a:solidFill>
                <a:latin typeface="游ゴシック"/>
                <a:ea typeface="游ゴシック"/>
              </a:rPr>
              <a:t>問題文と資料を読み、「何を問われているか」に線を引く。まだ書き始めない。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①</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社会への関心と行動力　― ノート（解答用紙）に書き出そう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19</a:t>
            </a:r>
          </a:p>
        </p:txBody>
      </p:sp>
      <p:sp>
        <p:nvSpPr>
          <p:cNvPr id="8" name="Rounded Rectangle 7"/>
          <p:cNvSpPr/>
          <p:nvPr/>
        </p:nvSpPr>
        <p:spPr>
          <a:xfrm>
            <a:off x="54864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Q1</a:t>
            </a:r>
          </a:p>
        </p:txBody>
      </p:sp>
      <p:sp>
        <p:nvSpPr>
          <p:cNvPr id="9" name="TextBox 8"/>
          <p:cNvSpPr txBox="1"/>
          <p:nvPr/>
        </p:nvSpPr>
        <p:spPr>
          <a:xfrm>
            <a:off x="146304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この問題・資料の「要点」は何か</a:t>
            </a:r>
          </a:p>
        </p:txBody>
      </p:sp>
      <p:sp>
        <p:nvSpPr>
          <p:cNvPr id="10" name="Rounded Rectangle 9"/>
          <p:cNvSpPr/>
          <p:nvPr/>
        </p:nvSpPr>
        <p:spPr>
          <a:xfrm>
            <a:off x="54864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・最近、疑問を持った社会の問題は？</a:t>
            </a:r>
          </a:p>
          <a:p>
            <a:pPr algn="l">
              <a:lnSpc>
                <a:spcPct val="115000"/>
              </a:lnSpc>
              <a:spcAft>
                <a:spcPts val="300"/>
              </a:spcAft>
            </a:pPr>
            <a:r>
              <a:rPr sz="1500" b="0">
                <a:solidFill>
                  <a:srgbClr val="23301F"/>
                </a:solidFill>
                <a:latin typeface="游ゴシック"/>
                <a:ea typeface="游ゴシック"/>
              </a:rPr>
              <a:t>・それについて自分で調べたり動いたりした？</a:t>
            </a:r>
          </a:p>
          <a:p>
            <a:pPr algn="l">
              <a:lnSpc>
                <a:spcPct val="115000"/>
              </a:lnSpc>
              <a:spcAft>
                <a:spcPts val="0"/>
              </a:spcAft>
            </a:pPr>
            <a:r>
              <a:rPr sz="1500" b="0">
                <a:solidFill>
                  <a:srgbClr val="23301F"/>
                </a:solidFill>
                <a:latin typeface="游ゴシック"/>
                <a:ea typeface="游ゴシック"/>
              </a:rPr>
              <a:t>・APのどの言葉で説明できる？</a:t>
            </a:r>
          </a:p>
        </p:txBody>
      </p:sp>
      <p:sp>
        <p:nvSpPr>
          <p:cNvPr id="12" name="Rounded Rectangle 11"/>
          <p:cNvSpPr/>
          <p:nvPr/>
        </p:nvSpPr>
        <p:spPr>
          <a:xfrm>
            <a:off x="54864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14" name="Rounded Rectangle 13"/>
          <p:cNvSpPr/>
          <p:nvPr/>
        </p:nvSpPr>
        <p:spPr>
          <a:xfrm>
            <a:off x="6172200" y="1828800"/>
            <a:ext cx="777240"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800" b="1">
                <a:solidFill>
                  <a:srgbClr val="FFFFFF"/>
                </a:solidFill>
                <a:latin typeface="游ゴシック"/>
                <a:ea typeface="游ゴシック"/>
              </a:rPr>
              <a:t>Q2</a:t>
            </a:r>
          </a:p>
        </p:txBody>
      </p:sp>
      <p:sp>
        <p:nvSpPr>
          <p:cNvPr id="15" name="TextBox 14"/>
          <p:cNvSpPr txBox="1"/>
          <p:nvPr/>
        </p:nvSpPr>
        <p:spPr>
          <a:xfrm>
            <a:off x="7086600" y="1810512"/>
            <a:ext cx="4572000" cy="502920"/>
          </a:xfrm>
          <a:prstGeom prst="rect">
            <a:avLst/>
          </a:prstGeom>
          <a:noFill/>
        </p:spPr>
        <p:txBody>
          <a:bodyPr wrap="square" lIns="45720" rIns="45720" tIns="27432" bIns="27432" anchor="ctr">
            <a:spAutoFit/>
            <a:spAutoFit/>
          </a:bodyPr>
          <a:lstStyle/>
          <a:p>
            <a:pPr algn="l">
              <a:lnSpc>
                <a:spcPct val="115000"/>
              </a:lnSpc>
              <a:spcAft>
                <a:spcPts val="0"/>
              </a:spcAft>
            </a:pPr>
            <a:r>
              <a:rPr sz="2000" b="1">
                <a:solidFill>
                  <a:srgbClr val="17321A"/>
                </a:solidFill>
                <a:latin typeface="游ゴシック"/>
                <a:ea typeface="游ゴシック"/>
              </a:rPr>
              <a:t>全体を何段落で書くか</a:t>
            </a:r>
          </a:p>
        </p:txBody>
      </p:sp>
      <p:sp>
        <p:nvSpPr>
          <p:cNvPr id="16" name="Rounded Rectangle 15"/>
          <p:cNvSpPr/>
          <p:nvPr/>
        </p:nvSpPr>
        <p:spPr>
          <a:xfrm>
            <a:off x="6172200" y="2423160"/>
            <a:ext cx="5468112" cy="1874519"/>
          </a:xfrm>
          <a:prstGeom prst="roundRect">
            <a:avLst>
              <a:gd name="adj" fmla="val 6000"/>
            </a:avLst>
          </a:prstGeom>
          <a:solidFill>
            <a:srgbClr val="F6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487168"/>
            <a:ext cx="5120640" cy="1783080"/>
          </a:xfrm>
          <a:prstGeom prst="rect">
            <a:avLst/>
          </a:prstGeom>
          <a:noFill/>
        </p:spPr>
        <p:txBody>
          <a:bodyPr wrap="square" lIns="45720" rIns="45720" tIns="27432" bIns="27432" anchor="t">
            <a:spAutoFit/>
            <a:spAutoFit/>
          </a:bodyPr>
          <a:lstStyle/>
          <a:p>
            <a:pPr algn="l">
              <a:lnSpc>
                <a:spcPct val="115000"/>
              </a:lnSpc>
              <a:spcAft>
                <a:spcPts val="300"/>
              </a:spcAft>
            </a:pPr>
            <a:r>
              <a:rPr sz="1500" b="1">
                <a:solidFill>
                  <a:srgbClr val="2C5F2D"/>
                </a:solidFill>
                <a:latin typeface="游ゴシック"/>
                <a:ea typeface="游ゴシック"/>
              </a:rPr>
              <a:t>ヒント</a:t>
            </a:r>
          </a:p>
          <a:p>
            <a:pPr algn="l">
              <a:lnSpc>
                <a:spcPct val="115000"/>
              </a:lnSpc>
              <a:spcAft>
                <a:spcPts val="300"/>
              </a:spcAft>
            </a:pPr>
            <a:r>
              <a:rPr sz="1500" b="0">
                <a:solidFill>
                  <a:srgbClr val="23301F"/>
                </a:solidFill>
                <a:latin typeface="游ゴシック"/>
                <a:ea typeface="游ゴシック"/>
              </a:rPr>
              <a:t>・疑問→調査→行動→結果を1段落に入れる？</a:t>
            </a:r>
          </a:p>
          <a:p>
            <a:pPr algn="l">
              <a:lnSpc>
                <a:spcPct val="115000"/>
              </a:lnSpc>
              <a:spcAft>
                <a:spcPts val="300"/>
              </a:spcAft>
            </a:pPr>
            <a:r>
              <a:rPr sz="1500" b="0">
                <a:solidFill>
                  <a:srgbClr val="23301F"/>
                </a:solidFill>
                <a:latin typeface="游ゴシック"/>
                <a:ea typeface="游ゴシック"/>
              </a:rPr>
              <a:t>・建学の理念はどの段落で触れる？</a:t>
            </a:r>
          </a:p>
          <a:p>
            <a:pPr algn="l">
              <a:lnSpc>
                <a:spcPct val="115000"/>
              </a:lnSpc>
              <a:spcAft>
                <a:spcPts val="0"/>
              </a:spcAft>
            </a:pPr>
            <a:r>
              <a:rPr sz="1500" b="0">
                <a:solidFill>
                  <a:srgbClr val="23301F"/>
                </a:solidFill>
                <a:latin typeface="游ゴシック"/>
                <a:ea typeface="游ゴシック"/>
              </a:rPr>
              <a:t>・将来の進路はAPの「活躍の場」と合う？</a:t>
            </a:r>
          </a:p>
        </p:txBody>
      </p:sp>
      <p:sp>
        <p:nvSpPr>
          <p:cNvPr id="18" name="Rounded Rectangle 17"/>
          <p:cNvSpPr/>
          <p:nvPr/>
        </p:nvSpPr>
        <p:spPr>
          <a:xfrm>
            <a:off x="6172200" y="4434840"/>
            <a:ext cx="5468112" cy="1143000"/>
          </a:xfrm>
          <a:prstGeom prst="roundRect">
            <a:avLst>
              <a:gd name="adj" fmla="val 6000"/>
            </a:avLst>
          </a:prstGeom>
          <a:noFill/>
          <a:ln w="2222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4507992"/>
            <a:ext cx="5120640" cy="365760"/>
          </a:xfrm>
          <a:prstGeom prst="rect">
            <a:avLst/>
          </a:prstGeom>
          <a:noFill/>
        </p:spPr>
        <p:txBody>
          <a:bodyPr wrap="square" lIns="45720" rIns="45720" tIns="27432" bIns="27432" anchor="t">
            <a:spAutoFit/>
            <a:spAutoFit/>
          </a:bodyPr>
          <a:lstStyle/>
          <a:p>
            <a:pPr algn="l">
              <a:lnSpc>
                <a:spcPct val="115000"/>
              </a:lnSpc>
              <a:spcAft>
                <a:spcPts val="0"/>
              </a:spcAft>
            </a:pPr>
            <a:r>
              <a:rPr sz="1400" b="1">
                <a:solidFill>
                  <a:srgbClr val="D9782D"/>
                </a:solidFill>
                <a:latin typeface="游ゴシック"/>
                <a:ea typeface="游ゴシック"/>
              </a:rPr>
              <a:t>あなたの答え（ノートに書く）</a:t>
            </a:r>
          </a:p>
        </p:txBody>
      </p:sp>
      <p:sp>
        <p:nvSpPr>
          <p:cNvPr id="20" name="Rounded Rectangle 19"/>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目安　</a:t>
            </a:r>
            <a:r>
              <a:rPr sz="1800" b="0">
                <a:solidFill>
                  <a:srgbClr val="FFFFFF"/>
                </a:solidFill>
                <a:latin typeface="游ゴシック"/>
                <a:ea typeface="游ゴシック"/>
              </a:rPr>
              <a:t>Q1・Q2で3〜4分。迷ったら、問われていることの数＝本論の段落数で決める。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演習</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テーマ3｜ワークシート ②</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Q3　各段落に書く内容を、箇条書きで（文章にしなくてよい）</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構成 10分</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20</a:t>
            </a:r>
          </a:p>
        </p:txBody>
      </p:sp>
      <p:sp>
        <p:nvSpPr>
          <p:cNvPr id="8" name="Rounded Rectangle 7"/>
          <p:cNvSpPr/>
          <p:nvPr/>
        </p:nvSpPr>
        <p:spPr>
          <a:xfrm>
            <a:off x="548640" y="1783080"/>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933955"/>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0" name="TextBox 9"/>
          <p:cNvSpPr txBox="1"/>
          <p:nvPr/>
        </p:nvSpPr>
        <p:spPr>
          <a:xfrm>
            <a:off x="2148840" y="1801368"/>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社会の問題に関わった経験から分かる強みは？</a:t>
            </a:r>
          </a:p>
        </p:txBody>
      </p:sp>
      <p:sp>
        <p:nvSpPr>
          <p:cNvPr id="11" name="Rounded Rectangle 10"/>
          <p:cNvSpPr/>
          <p:nvPr/>
        </p:nvSpPr>
        <p:spPr>
          <a:xfrm>
            <a:off x="6446520" y="1847088"/>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542032"/>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85800" y="2692908"/>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①</a:t>
            </a:r>
          </a:p>
        </p:txBody>
      </p:sp>
      <p:sp>
        <p:nvSpPr>
          <p:cNvPr id="14" name="TextBox 13"/>
          <p:cNvSpPr txBox="1"/>
          <p:nvPr/>
        </p:nvSpPr>
        <p:spPr>
          <a:xfrm>
            <a:off x="2148840" y="2560320"/>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何に疑問を持ち、どう調べ、どう動いた？</a:t>
            </a:r>
          </a:p>
        </p:txBody>
      </p:sp>
      <p:sp>
        <p:nvSpPr>
          <p:cNvPr id="15" name="Rounded Rectangle 14"/>
          <p:cNvSpPr/>
          <p:nvPr/>
        </p:nvSpPr>
        <p:spPr>
          <a:xfrm>
            <a:off x="6446520" y="2606039"/>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300984"/>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3451860"/>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②</a:t>
            </a:r>
          </a:p>
        </p:txBody>
      </p:sp>
      <p:sp>
        <p:nvSpPr>
          <p:cNvPr id="18" name="TextBox 17"/>
          <p:cNvSpPr txBox="1"/>
          <p:nvPr/>
        </p:nvSpPr>
        <p:spPr>
          <a:xfrm>
            <a:off x="2148840" y="3319272"/>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APのどの言葉と重なる？ 建学の理念とは？</a:t>
            </a:r>
          </a:p>
        </p:txBody>
      </p:sp>
      <p:sp>
        <p:nvSpPr>
          <p:cNvPr id="19" name="Rounded Rectangle 18"/>
          <p:cNvSpPr/>
          <p:nvPr/>
        </p:nvSpPr>
        <p:spPr>
          <a:xfrm>
            <a:off x="6446520" y="3364991"/>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48640" y="4059935"/>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85800" y="4210812"/>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 ③</a:t>
            </a:r>
          </a:p>
        </p:txBody>
      </p:sp>
      <p:sp>
        <p:nvSpPr>
          <p:cNvPr id="22" name="TextBox 21"/>
          <p:cNvSpPr txBox="1"/>
          <p:nvPr/>
        </p:nvSpPr>
        <p:spPr>
          <a:xfrm>
            <a:off x="2148840" y="4078223"/>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法律政治学科で何を学びたい？</a:t>
            </a:r>
          </a:p>
        </p:txBody>
      </p:sp>
      <p:sp>
        <p:nvSpPr>
          <p:cNvPr id="23" name="Rounded Rectangle 22"/>
          <p:cNvSpPr/>
          <p:nvPr/>
        </p:nvSpPr>
        <p:spPr>
          <a:xfrm>
            <a:off x="6446520" y="4123944"/>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4818888"/>
            <a:ext cx="11091672" cy="685800"/>
          </a:xfrm>
          <a:prstGeom prst="roundRect">
            <a:avLst>
              <a:gd name="adj" fmla="val 6000"/>
            </a:avLst>
          </a:prstGeom>
          <a:no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85800" y="4969764"/>
            <a:ext cx="1325880" cy="384048"/>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6" name="TextBox 25"/>
          <p:cNvSpPr txBox="1"/>
          <p:nvPr/>
        </p:nvSpPr>
        <p:spPr>
          <a:xfrm>
            <a:off x="2148840" y="4837175"/>
            <a:ext cx="4206240" cy="649224"/>
          </a:xfrm>
          <a:prstGeom prst="rect">
            <a:avLst/>
          </a:prstGeom>
          <a:noFill/>
        </p:spPr>
        <p:txBody>
          <a:bodyPr wrap="square" lIns="45720" rIns="45720" tIns="27432" bIns="27432" anchor="ctr">
            <a:spAutoFit/>
            <a:spAutoFit/>
          </a:bodyPr>
          <a:lstStyle/>
          <a:p>
            <a:pPr algn="l">
              <a:lnSpc>
                <a:spcPct val="115000"/>
              </a:lnSpc>
              <a:spcAft>
                <a:spcPts val="0"/>
              </a:spcAft>
            </a:pPr>
            <a:r>
              <a:rPr sz="1400" b="0">
                <a:solidFill>
                  <a:srgbClr val="5B6B54"/>
                </a:solidFill>
                <a:latin typeface="游ゴシック"/>
                <a:ea typeface="游ゴシック"/>
              </a:rPr>
              <a:t>まとめ＋将来どの分野で、どう社会に貢献したいか</a:t>
            </a:r>
          </a:p>
        </p:txBody>
      </p:sp>
      <p:sp>
        <p:nvSpPr>
          <p:cNvPr id="27" name="Rounded Rectangle 26"/>
          <p:cNvSpPr/>
          <p:nvPr/>
        </p:nvSpPr>
        <p:spPr>
          <a:xfrm>
            <a:off x="6446520" y="4882896"/>
            <a:ext cx="5074920" cy="557784"/>
          </a:xfrm>
          <a:prstGeom prst="roundRect">
            <a:avLst>
              <a:gd name="adj" fmla="val 6000"/>
            </a:avLst>
          </a:prstGeom>
          <a:noFill/>
          <a:ln w="15875">
            <a:solidFill>
              <a:srgbClr val="D9782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48640" y="5760720"/>
            <a:ext cx="11091672" cy="530352"/>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760720"/>
            <a:ext cx="10634472" cy="530352"/>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メモができたら　</a:t>
            </a:r>
            <a:r>
              <a:rPr sz="1800" b="0">
                <a:solidFill>
                  <a:srgbClr val="FFFFFF"/>
                </a:solidFill>
                <a:latin typeface="游ゴシック"/>
                <a:ea typeface="游ゴシック"/>
              </a:rPr>
              <a:t>続く37分で、このメモどおりに一気に書く → 最後の8分で見直す。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テーマ3｜模範メモ</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社会への関心と行動力　― 自分のメモと見比べよう</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21</a:t>
            </a:r>
          </a:p>
        </p:txBody>
      </p:sp>
      <p:sp>
        <p:nvSpPr>
          <p:cNvPr id="8" name="Rounded Rectangle 7"/>
          <p:cNvSpPr/>
          <p:nvPr/>
        </p:nvSpPr>
        <p:spPr>
          <a:xfrm>
            <a:off x="548640" y="1783080"/>
            <a:ext cx="4572000" cy="3794760"/>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74519"/>
            <a:ext cx="4206240" cy="3657600"/>
          </a:xfrm>
          <a:prstGeom prst="rect">
            <a:avLst/>
          </a:prstGeom>
          <a:noFill/>
        </p:spPr>
        <p:txBody>
          <a:bodyPr wrap="square" lIns="45720" rIns="45720" tIns="27432" bIns="27432" anchor="t">
            <a:spAutoFit/>
            <a:spAutoFit/>
          </a:bodyPr>
          <a:lstStyle/>
          <a:p>
            <a:pPr algn="l">
              <a:lnSpc>
                <a:spcPct val="115000"/>
              </a:lnSpc>
              <a:spcAft>
                <a:spcPts val="300"/>
              </a:spcAft>
            </a:pPr>
            <a:r>
              <a:rPr sz="1700" b="1">
                <a:solidFill>
                  <a:srgbClr val="D9782D"/>
                </a:solidFill>
                <a:latin typeface="游ゴシック"/>
                <a:ea typeface="游ゴシック"/>
              </a:rPr>
              <a:t>Q1　要点</a:t>
            </a:r>
          </a:p>
          <a:p>
            <a:pPr algn="l">
              <a:lnSpc>
                <a:spcPct val="115000"/>
              </a:lnSpc>
              <a:spcAft>
                <a:spcPts val="300"/>
              </a:spcAft>
            </a:pPr>
            <a:r>
              <a:rPr sz="1450" b="0">
                <a:solidFill>
                  <a:srgbClr val="23301F"/>
                </a:solidFill>
                <a:latin typeface="游ゴシック"/>
                <a:ea typeface="游ゴシック"/>
              </a:rPr>
              <a:t>・問いは3つ：①強み ②理念・APとの重なり ③学び・将来</a:t>
            </a:r>
          </a:p>
          <a:p>
            <a:pPr algn="l">
              <a:lnSpc>
                <a:spcPct val="115000"/>
              </a:lnSpc>
              <a:spcAft>
                <a:spcPts val="300"/>
              </a:spcAft>
            </a:pPr>
            <a:r>
              <a:rPr sz="1450" b="0">
                <a:solidFill>
                  <a:srgbClr val="23301F"/>
                </a:solidFill>
                <a:latin typeface="游ゴシック"/>
                <a:ea typeface="游ゴシック"/>
              </a:rPr>
              <a:t>・軸の言葉：論理的思考力・関心と行動力・志</a:t>
            </a:r>
          </a:p>
          <a:p>
            <a:pPr algn="l">
              <a:lnSpc>
                <a:spcPct val="115000"/>
              </a:lnSpc>
              <a:spcAft>
                <a:spcPts val="300"/>
              </a:spcAft>
            </a:pPr>
            <a:r>
              <a:rPr sz="1450" b="0">
                <a:solidFill>
                  <a:srgbClr val="23301F"/>
                </a:solidFill>
                <a:latin typeface="游ゴシック"/>
                <a:ea typeface="游ゴシック"/>
              </a:rPr>
              <a:t>・一言で：疑問から行動までを示せるか</a:t>
            </a:r>
          </a:p>
          <a:p>
            <a:pPr algn="l">
              <a:lnSpc>
                <a:spcPct val="115000"/>
              </a:lnSpc>
              <a:spcAft>
                <a:spcPts val="300"/>
              </a:spcAft>
            </a:pPr>
            <a:r>
              <a:rPr sz="1700" b="1">
                <a:solidFill>
                  <a:srgbClr val="D9782D"/>
                </a:solidFill>
                <a:latin typeface="游ゴシック"/>
                <a:ea typeface="游ゴシック"/>
              </a:rPr>
              <a:t>Q2　段落構成</a:t>
            </a:r>
          </a:p>
          <a:p>
            <a:pPr algn="l">
              <a:lnSpc>
                <a:spcPct val="115000"/>
              </a:lnSpc>
              <a:spcAft>
                <a:spcPts val="300"/>
              </a:spcAft>
            </a:pPr>
            <a:r>
              <a:rPr sz="1450" b="0">
                <a:solidFill>
                  <a:srgbClr val="23301F"/>
                </a:solidFill>
                <a:latin typeface="游ゴシック"/>
                <a:ea typeface="游ゴシック"/>
              </a:rPr>
              <a:t>・5段落（序論・本論3・結論）</a:t>
            </a:r>
          </a:p>
          <a:p>
            <a:pPr algn="l">
              <a:lnSpc>
                <a:spcPct val="115000"/>
              </a:lnSpc>
              <a:spcAft>
                <a:spcPts val="300"/>
              </a:spcAft>
            </a:pPr>
            <a:r>
              <a:rPr sz="1450" b="0">
                <a:solidFill>
                  <a:srgbClr val="23301F"/>
                </a:solidFill>
                <a:latin typeface="游ゴシック"/>
                <a:ea typeface="游ゴシック"/>
              </a:rPr>
              <a:t>・本論①は疑問→調査→行動→結果</a:t>
            </a:r>
          </a:p>
          <a:p>
            <a:pPr algn="l">
              <a:lnSpc>
                <a:spcPct val="115000"/>
              </a:lnSpc>
              <a:spcAft>
                <a:spcPts val="0"/>
              </a:spcAft>
            </a:pPr>
            <a:r>
              <a:rPr sz="1450" b="0">
                <a:solidFill>
                  <a:srgbClr val="23301F"/>
                </a:solidFill>
                <a:latin typeface="游ゴシック"/>
                <a:ea typeface="游ゴシック"/>
              </a:rPr>
              <a:t>・序論130／本論320・220・140／結論140字</a:t>
            </a:r>
          </a:p>
        </p:txBody>
      </p:sp>
      <p:sp>
        <p:nvSpPr>
          <p:cNvPr id="10" name="TextBox 9"/>
          <p:cNvSpPr txBox="1"/>
          <p:nvPr/>
        </p:nvSpPr>
        <p:spPr>
          <a:xfrm>
            <a:off x="5349240" y="1783080"/>
            <a:ext cx="6309360" cy="365760"/>
          </a:xfrm>
          <a:prstGeom prst="rect">
            <a:avLst/>
          </a:prstGeom>
          <a:noFill/>
        </p:spPr>
        <p:txBody>
          <a:bodyPr wrap="square" lIns="45720" rIns="45720" tIns="27432" bIns="27432" anchor="t">
            <a:spAutoFit/>
            <a:spAutoFit/>
          </a:bodyPr>
          <a:lstStyle/>
          <a:p>
            <a:pPr algn="l">
              <a:lnSpc>
                <a:spcPct val="115000"/>
              </a:lnSpc>
              <a:spcAft>
                <a:spcPts val="0"/>
              </a:spcAft>
            </a:pPr>
            <a:r>
              <a:rPr sz="1700" b="1">
                <a:solidFill>
                  <a:srgbClr val="D9782D"/>
                </a:solidFill>
                <a:latin typeface="游ゴシック"/>
                <a:ea typeface="游ゴシック"/>
              </a:rPr>
              <a:t>Q3　各段落のメモ</a:t>
            </a:r>
          </a:p>
        </p:txBody>
      </p:sp>
      <p:sp>
        <p:nvSpPr>
          <p:cNvPr id="11" name="Rounded Rectangle 10"/>
          <p:cNvSpPr/>
          <p:nvPr/>
        </p:nvSpPr>
        <p:spPr>
          <a:xfrm>
            <a:off x="5349240" y="2194560"/>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58968" y="2267712"/>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3" name="TextBox 12"/>
          <p:cNvSpPr txBox="1"/>
          <p:nvPr/>
        </p:nvSpPr>
        <p:spPr>
          <a:xfrm>
            <a:off x="6583679" y="2231136"/>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強み＝疑問を持ち、根拠を集めて考え、行動に移す力 → AP「論理的思考力」「行動力」</a:t>
            </a:r>
          </a:p>
        </p:txBody>
      </p:sp>
      <p:sp>
        <p:nvSpPr>
          <p:cNvPr id="14" name="Rounded Rectangle 13"/>
          <p:cNvSpPr/>
          <p:nvPr/>
        </p:nvSpPr>
        <p:spPr>
          <a:xfrm>
            <a:off x="5349240" y="2876702"/>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58968" y="2949854"/>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6" name="TextBox 15"/>
          <p:cNvSpPr txBox="1"/>
          <p:nvPr/>
        </p:nvSpPr>
        <p:spPr>
          <a:xfrm>
            <a:off x="6583679" y="2913278"/>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探究で若者の投票率／同級生にアンケート → 原因を特定 → 校内模擬選挙を企画</a:t>
            </a:r>
          </a:p>
        </p:txBody>
      </p:sp>
      <p:sp>
        <p:nvSpPr>
          <p:cNvPr id="17" name="Rounded Rectangle 16"/>
          <p:cNvSpPr/>
          <p:nvPr/>
        </p:nvSpPr>
        <p:spPr>
          <a:xfrm>
            <a:off x="5349240" y="3558844"/>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58968" y="3631996"/>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9" name="TextBox 18"/>
          <p:cNvSpPr txBox="1"/>
          <p:nvPr/>
        </p:nvSpPr>
        <p:spPr>
          <a:xfrm>
            <a:off x="6583679" y="3595420"/>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データで原因を確かめ実行／積極進取＝自ら動く姿勢／地域社会を支える志</a:t>
            </a:r>
          </a:p>
        </p:txBody>
      </p:sp>
      <p:sp>
        <p:nvSpPr>
          <p:cNvPr id="20" name="Rounded Rectangle 19"/>
          <p:cNvSpPr/>
          <p:nvPr/>
        </p:nvSpPr>
        <p:spPr>
          <a:xfrm>
            <a:off x="5349240" y="4240987"/>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458968" y="4314139"/>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22" name="TextBox 21"/>
          <p:cNvSpPr txBox="1"/>
          <p:nvPr/>
        </p:nvSpPr>
        <p:spPr>
          <a:xfrm>
            <a:off x="6583679" y="4277563"/>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政治学・選挙制度で政治参加の仕組み／法律学で筋道立てて論じる力</a:t>
            </a:r>
          </a:p>
        </p:txBody>
      </p:sp>
      <p:sp>
        <p:nvSpPr>
          <p:cNvPr id="23" name="Rounded Rectangle 22"/>
          <p:cNvSpPr/>
          <p:nvPr/>
        </p:nvSpPr>
        <p:spPr>
          <a:xfrm>
            <a:off x="5349240" y="4923129"/>
            <a:ext cx="6291072" cy="608990"/>
          </a:xfrm>
          <a:prstGeom prst="roundRect">
            <a:avLst>
              <a:gd name="adj" fmla="val 6000"/>
            </a:avLst>
          </a:prstGeom>
          <a:solidFill>
            <a:srgbClr val="FFFFFF"/>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58968" y="4996281"/>
            <a:ext cx="96012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25" name="TextBox 24"/>
          <p:cNvSpPr txBox="1"/>
          <p:nvPr/>
        </p:nvSpPr>
        <p:spPr>
          <a:xfrm>
            <a:off x="6583679" y="4959705"/>
            <a:ext cx="4946904" cy="554126"/>
          </a:xfrm>
          <a:prstGeom prst="rect">
            <a:avLst/>
          </a:prstGeom>
          <a:noFill/>
        </p:spPr>
        <p:txBody>
          <a:bodyPr wrap="square" lIns="45720" rIns="45720" tIns="27432" bIns="27432" anchor="t">
            <a:spAutoFit/>
            <a:spAutoFit/>
          </a:bodyPr>
          <a:lstStyle/>
          <a:p>
            <a:pPr algn="l">
              <a:lnSpc>
                <a:spcPct val="115000"/>
              </a:lnSpc>
              <a:spcAft>
                <a:spcPts val="0"/>
              </a:spcAft>
            </a:pPr>
            <a:r>
              <a:rPr sz="1300" b="0">
                <a:solidFill>
                  <a:srgbClr val="23301F"/>
                </a:solidFill>
                <a:latin typeface="游ゴシック"/>
                <a:ea typeface="游ゴシック"/>
              </a:rPr>
              <a:t>報道の仕事で政治を若い世代に分かりやすく → 社会の課題解決に貢献</a:t>
            </a:r>
          </a:p>
        </p:txBody>
      </p:sp>
      <p:sp>
        <p:nvSpPr>
          <p:cNvPr id="26" name="Rounded Rectangle 25"/>
          <p:cNvSpPr/>
          <p:nvPr/>
        </p:nvSpPr>
        <p:spPr>
          <a:xfrm>
            <a:off x="548640" y="5715000"/>
            <a:ext cx="11091672" cy="566928"/>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715000"/>
            <a:ext cx="10634472" cy="566928"/>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チェック　</a:t>
            </a:r>
            <a:r>
              <a:rPr sz="1800" b="0">
                <a:solidFill>
                  <a:srgbClr val="FFFFFF"/>
                </a:solidFill>
                <a:latin typeface="游ゴシック"/>
                <a:ea typeface="游ゴシック"/>
              </a:rPr>
              <a:t>問われていることに全部答えているか。段落の役割が重なっていないか。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テーマ3｜模範解答（1/2）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強み：考えて動く力／5段落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22</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合計928字（序論144・本論①307・本論②190・本論③128・結論159）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序論</a:t>
            </a:r>
          </a:p>
        </p:txBody>
      </p:sp>
      <p:sp>
        <p:nvSpPr>
          <p:cNvPr id="11" name="TextBox 10"/>
          <p:cNvSpPr txBox="1"/>
          <p:nvPr/>
        </p:nvSpPr>
        <p:spPr>
          <a:xfrm>
            <a:off x="1783080" y="1847088"/>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私の強みは、身近な社会の問題に疑問を持ち、根拠を集めて考え、行動に移す力である。これは、法律政治学科のアドミッション・ポリシーが求める「論理的思考力」と「国内外の社会現象への関心と行動力」に重なるものだと考える。私はこの力を貴学科でさらに伸ばし、政治を若い世代にとって身近なものにしたい。</a:t>
            </a:r>
          </a:p>
        </p:txBody>
      </p:sp>
      <p:sp>
        <p:nvSpPr>
          <p:cNvPr id="12" name="Rounded Rectangle 11"/>
          <p:cNvSpPr/>
          <p:nvPr/>
        </p:nvSpPr>
        <p:spPr>
          <a:xfrm>
            <a:off x="704088" y="2671191"/>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本論①</a:t>
            </a:r>
          </a:p>
        </p:txBody>
      </p:sp>
      <p:sp>
        <p:nvSpPr>
          <p:cNvPr id="13" name="TextBox 12"/>
          <p:cNvSpPr txBox="1"/>
          <p:nvPr/>
        </p:nvSpPr>
        <p:spPr>
          <a:xfrm>
            <a:off x="1783080" y="2634615"/>
            <a:ext cx="9674352" cy="139217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力が育ったのは、高校二年生の探究学習で、若者の政治参加をテーマにしたときである。選挙権年齢が十八歳に引き下げられたにもかかわらず、若い世代の投票率が他の世代より低いことを知り、その理由を確かめたいと考えた。私は同級生百人にアンケートを行い、投票に行かない理由として「誰に投票すればよいか分からない」という回答が最も多いことを突き止めた。そこで、市の選挙管理委員会に協力をお願いし、校内で模擬選挙を企画した。仲間と一緒に各候補の公約を比べる資料を作成し、昼休みに投票を行った結果、参加した生徒の多くから「選挙が身近になった」という感想が寄せられた。その後、実際の選挙で初めて投票に行ったと話してくれた先輩もいた。</a:t>
            </a:r>
          </a:p>
        </p:txBody>
      </p:sp>
      <p:sp>
        <p:nvSpPr>
          <p:cNvPr id="14" name="Rounded Rectangle 13"/>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疑問→行動の流れを示した　✓ APの言葉で強みを説明　✓ 進路を活躍の場と結んだ</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THEME 3 ｜ 答え合わせ</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テーマ3｜模範解答（2/2）</a:t>
            </a:r>
          </a:p>
        </p:txBody>
      </p:sp>
      <p:sp>
        <p:nvSpPr>
          <p:cNvPr id="4" name="TextBox 3"/>
          <p:cNvSpPr txBox="1"/>
          <p:nvPr/>
        </p:nvSpPr>
        <p:spPr>
          <a:xfrm>
            <a:off x="548640" y="1353312"/>
            <a:ext cx="10972800" cy="411480"/>
          </a:xfrm>
          <a:prstGeom prst="rect">
            <a:avLst/>
          </a:prstGeom>
          <a:noFill/>
        </p:spPr>
        <p:txBody>
          <a:bodyPr wrap="square" lIns="45720" rIns="45720" tIns="27432" bIns="27432" anchor="t">
            <a:spAutoFit/>
            <a:spAutoFit/>
          </a:bodyPr>
          <a:lstStyle/>
          <a:p>
            <a:pPr algn="l">
              <a:lnSpc>
                <a:spcPct val="115000"/>
              </a:lnSpc>
              <a:spcAft>
                <a:spcPts val="0"/>
              </a:spcAft>
            </a:pPr>
            <a:r>
              <a:rPr sz="1600" b="0">
                <a:solidFill>
                  <a:srgbClr val="5B6B54"/>
                </a:solidFill>
                <a:latin typeface="游ゴシック"/>
                <a:ea typeface="游ゴシック"/>
              </a:rPr>
              <a:t>強み：考えて動く力／5段落</a:t>
            </a:r>
          </a:p>
        </p:txBody>
      </p:sp>
      <p:sp>
        <p:nvSpPr>
          <p:cNvPr id="5" name="Rounded Rectangle 4"/>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答え合わせ</a:t>
            </a:r>
          </a:p>
        </p:txBody>
      </p:sp>
      <p:sp>
        <p:nvSpPr>
          <p:cNvPr id="6" name="TextBox 5"/>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7" name="TextBox 6"/>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23</a:t>
            </a:r>
          </a:p>
        </p:txBody>
      </p:sp>
      <p:sp>
        <p:nvSpPr>
          <p:cNvPr id="8" name="TextBox 7"/>
          <p:cNvSpPr txBox="1"/>
          <p:nvPr/>
        </p:nvSpPr>
        <p:spPr>
          <a:xfrm>
            <a:off x="548640" y="1353312"/>
            <a:ext cx="11064240" cy="365760"/>
          </a:xfrm>
          <a:prstGeom prst="rect">
            <a:avLst/>
          </a:prstGeom>
          <a:noFill/>
        </p:spPr>
        <p:txBody>
          <a:bodyPr wrap="square" lIns="45720" rIns="45720" tIns="27432" bIns="27432" anchor="t">
            <a:spAutoFit/>
            <a:spAutoFit/>
          </a:bodyPr>
          <a:lstStyle/>
          <a:p>
            <a:pPr algn="r">
              <a:lnSpc>
                <a:spcPct val="115000"/>
              </a:lnSpc>
              <a:spcAft>
                <a:spcPts val="0"/>
              </a:spcAft>
            </a:pPr>
            <a:r>
              <a:rPr sz="1300" b="0">
                <a:solidFill>
                  <a:srgbClr val="5B6B54"/>
                </a:solidFill>
                <a:latin typeface="游ゴシック"/>
                <a:ea typeface="游ゴシック"/>
              </a:rPr>
              <a:t>合計928字（序論144・本論①307・本論②190・本論③128・結論159）</a:t>
            </a:r>
          </a:p>
        </p:txBody>
      </p:sp>
      <p:sp>
        <p:nvSpPr>
          <p:cNvPr id="9" name="Rounded Rectangle 8"/>
          <p:cNvSpPr/>
          <p:nvPr/>
        </p:nvSpPr>
        <p:spPr>
          <a:xfrm>
            <a:off x="548640" y="1737360"/>
            <a:ext cx="11091672" cy="4041648"/>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1883664"/>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本論②</a:t>
            </a:r>
          </a:p>
        </p:txBody>
      </p:sp>
      <p:sp>
        <p:nvSpPr>
          <p:cNvPr id="11" name="TextBox 10"/>
          <p:cNvSpPr txBox="1"/>
          <p:nvPr/>
        </p:nvSpPr>
        <p:spPr>
          <a:xfrm>
            <a:off x="1783080" y="1847088"/>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この経験から、問題の原因をデータで確かめ、解決策を考えて実行することの大切さを学んだ。貴学の建学の精神にある「積極進取の気概」は、課題を前にして立ち止まらず、自ら動く姿勢だと私は理解している。模擬選挙の企画は、まさにその姿勢で取り組んだものである。また、政治に関心を持つ仲間を学校の中に増やせたことは、アドミッション・ポリシーにある「地域社会を支える志」の第一歩であったと考える。</a:t>
            </a:r>
          </a:p>
        </p:txBody>
      </p:sp>
      <p:sp>
        <p:nvSpPr>
          <p:cNvPr id="12" name="Rounded Rectangle 11"/>
          <p:cNvSpPr/>
          <p:nvPr/>
        </p:nvSpPr>
        <p:spPr>
          <a:xfrm>
            <a:off x="704088" y="2894076"/>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本論③</a:t>
            </a:r>
          </a:p>
        </p:txBody>
      </p:sp>
      <p:sp>
        <p:nvSpPr>
          <p:cNvPr id="13" name="TextBox 12"/>
          <p:cNvSpPr txBox="1"/>
          <p:nvPr/>
        </p:nvSpPr>
        <p:spPr>
          <a:xfrm>
            <a:off x="1783080" y="2857500"/>
            <a:ext cx="9674352" cy="723519"/>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貴学科では、政治学や選挙制度について理論的に学び、若者の政治参加を高めるための仕組みを考えたい。また、法律学の学びを通して、社会の問題を筋道立てて論じる力を一層高めたい。さらに、報道と政治の関係についても学び、情報を正確に伝える責任について考えを深めたい。</a:t>
            </a:r>
          </a:p>
        </p:txBody>
      </p:sp>
      <p:sp>
        <p:nvSpPr>
          <p:cNvPr id="14" name="Rounded Rectangle 13"/>
          <p:cNvSpPr/>
          <p:nvPr/>
        </p:nvSpPr>
        <p:spPr>
          <a:xfrm>
            <a:off x="704088" y="3681603"/>
            <a:ext cx="914400" cy="365760"/>
          </a:xfrm>
          <a:prstGeom prst="roundRect">
            <a:avLst>
              <a:gd name="adj" fmla="val 30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a:solidFill>
                  <a:srgbClr val="FFFFFF"/>
                </a:solidFill>
                <a:latin typeface="游ゴシック"/>
                <a:ea typeface="游ゴシック"/>
              </a:rPr>
              <a:t>結論</a:t>
            </a:r>
          </a:p>
        </p:txBody>
      </p:sp>
      <p:sp>
        <p:nvSpPr>
          <p:cNvPr id="15" name="TextBox 14"/>
          <p:cNvSpPr txBox="1"/>
          <p:nvPr/>
        </p:nvSpPr>
        <p:spPr>
          <a:xfrm>
            <a:off x="1783080" y="3645027"/>
            <a:ext cx="9674352" cy="946404"/>
          </a:xfrm>
          <a:prstGeom prst="rect">
            <a:avLst/>
          </a:prstGeom>
          <a:noFill/>
        </p:spPr>
        <p:txBody>
          <a:bodyPr wrap="square" lIns="45720" rIns="45720" tIns="27432" bIns="27432" anchor="t">
            <a:spAutoFit/>
            <a:spAutoFit/>
          </a:bodyPr>
          <a:lstStyle/>
          <a:p>
            <a:pPr algn="l">
              <a:lnSpc>
                <a:spcPct val="115000"/>
              </a:lnSpc>
              <a:spcAft>
                <a:spcPts val="0"/>
              </a:spcAft>
            </a:pPr>
            <a:r>
              <a:rPr sz="1350" b="0">
                <a:solidFill>
                  <a:srgbClr val="23301F"/>
                </a:solidFill>
                <a:latin typeface="游ゴシック"/>
                <a:ea typeface="游ゴシック"/>
              </a:rPr>
              <a:t>将来は報道の仕事に就き、政治や社会の動きを、若い世代にも分かりやすく伝えたい。若者が政治を自分のこととして考えられるよう、問題の背景や論点を丁寧に示す記事を書くことが目標である。身近な疑問から出発して考え、行動する力を貴学科でさらに磨き、社会の課題を解決へと導く人材として、地域社会と日本の民主主義に貢献していきたい。</a:t>
            </a:r>
          </a:p>
        </p:txBody>
      </p:sp>
      <p:sp>
        <p:nvSpPr>
          <p:cNvPr id="16" name="Rounded Rectangle 15"/>
          <p:cNvSpPr/>
          <p:nvPr/>
        </p:nvSpPr>
        <p:spPr>
          <a:xfrm>
            <a:off x="548640" y="5870448"/>
            <a:ext cx="11091672" cy="45720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870448"/>
            <a:ext cx="10634472" cy="457200"/>
          </a:xfrm>
          <a:prstGeom prst="rect">
            <a:avLst/>
          </a:prstGeom>
          <a:noFill/>
        </p:spPr>
        <p:txBody>
          <a:bodyPr wrap="square" lIns="45720" rIns="45720" tIns="27432" bIns="27432" anchor="ctr">
            <a:spAutoFit/>
            <a:spAutoFit/>
          </a:bodyPr>
          <a:lstStyle/>
          <a:p>
            <a:pPr algn="l">
              <a:lnSpc>
                <a:spcPct val="115000"/>
              </a:lnSpc>
              <a:spcAft>
                <a:spcPts val="0"/>
              </a:spcAft>
            </a:pPr>
            <a:r>
              <a:rPr sz="1500" b="1">
                <a:solidFill>
                  <a:srgbClr val="FFFFFF"/>
                </a:solidFill>
                <a:latin typeface="游ゴシック"/>
                <a:ea typeface="游ゴシック"/>
              </a:rPr>
              <a:t>ポイント　</a:t>
            </a:r>
            <a:r>
              <a:rPr sz="1500" b="0">
                <a:solidFill>
                  <a:srgbClr val="FFFFFF"/>
                </a:solidFill>
                <a:latin typeface="游ゴシック"/>
                <a:ea typeface="游ゴシック"/>
              </a:rPr>
              <a:t>✓ 疑問→行動の流れを示した　✓ APの言葉で強みを説明　✓ 進路を活躍の場と結んだ</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8686800" cy="365760"/>
          </a:xfrm>
          <a:prstGeom prst="rect">
            <a:avLst/>
          </a:prstGeom>
          <a:noFill/>
        </p:spPr>
        <p:txBody>
          <a:bodyPr wrap="square" lIns="45720" rIns="45720" tIns="27432" bIns="27432" anchor="t">
            <a:spAutoFit/>
            <a:spAutoFit/>
          </a:bodyPr>
          <a:lstStyle/>
          <a:p>
            <a:pPr algn="l">
              <a:lnSpc>
                <a:spcPct val="115000"/>
              </a:lnSpc>
              <a:spcAft>
                <a:spcPts val="0"/>
              </a:spcAft>
            </a:pPr>
            <a:r>
              <a:rPr sz="1500" b="1">
                <a:solidFill>
                  <a:srgbClr val="D9782D"/>
                </a:solidFill>
                <a:latin typeface="游ゴシック"/>
                <a:ea typeface="游ゴシック"/>
              </a:rPr>
              <a:t>FINISH ｜ 最後の見直し</a:t>
            </a:r>
          </a:p>
        </p:txBody>
      </p:sp>
      <p:sp>
        <p:nvSpPr>
          <p:cNvPr id="3" name="TextBox 2"/>
          <p:cNvSpPr txBox="1"/>
          <p:nvPr/>
        </p:nvSpPr>
        <p:spPr>
          <a:xfrm>
            <a:off x="548640" y="658368"/>
            <a:ext cx="9144000" cy="731520"/>
          </a:xfrm>
          <a:prstGeom prst="rect">
            <a:avLst/>
          </a:prstGeom>
          <a:noFill/>
        </p:spPr>
        <p:txBody>
          <a:bodyPr wrap="square" lIns="45720" rIns="45720" tIns="27432" bIns="27432" anchor="t">
            <a:spAutoFit/>
            <a:spAutoFit/>
          </a:bodyPr>
          <a:lstStyle/>
          <a:p>
            <a:pPr algn="l">
              <a:lnSpc>
                <a:spcPct val="115000"/>
              </a:lnSpc>
              <a:spcAft>
                <a:spcPts val="0"/>
              </a:spcAft>
            </a:pPr>
            <a:r>
              <a:rPr sz="3200" b="1">
                <a:solidFill>
                  <a:srgbClr val="17321A"/>
                </a:solidFill>
                <a:latin typeface="游ゴシック"/>
                <a:ea typeface="游ゴシック"/>
              </a:rPr>
              <a:t>見直しチェックリストとまとめ</a:t>
            </a:r>
          </a:p>
        </p:txBody>
      </p:sp>
      <p:sp>
        <p:nvSpPr>
          <p:cNvPr id="4" name="Rounded Rectangle 3"/>
          <p:cNvSpPr/>
          <p:nvPr/>
        </p:nvSpPr>
        <p:spPr>
          <a:xfrm>
            <a:off x="9829800" y="411480"/>
            <a:ext cx="1828800" cy="457200"/>
          </a:xfrm>
          <a:prstGeom prst="roundRect">
            <a:avLst>
              <a:gd name="adj" fmla="val 30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600" b="1">
                <a:solidFill>
                  <a:srgbClr val="FFFFFF"/>
                </a:solidFill>
                <a:latin typeface="游ゴシック"/>
                <a:ea typeface="游ゴシック"/>
              </a:rPr>
              <a:t>見直す 8分</a:t>
            </a:r>
          </a:p>
        </p:txBody>
      </p:sp>
      <p:sp>
        <p:nvSpPr>
          <p:cNvPr id="5" name="TextBox 4"/>
          <p:cNvSpPr txBox="1"/>
          <p:nvPr/>
        </p:nvSpPr>
        <p:spPr>
          <a:xfrm>
            <a:off x="457200" y="6473952"/>
            <a:ext cx="8229600" cy="274320"/>
          </a:xfrm>
          <a:prstGeom prst="rect">
            <a:avLst/>
          </a:prstGeom>
          <a:noFill/>
        </p:spPr>
        <p:txBody>
          <a:bodyPr wrap="square" lIns="45720" rIns="45720" tIns="27432" bIns="27432" anchor="t">
            <a:spAutoFit/>
            <a:spAutoFit/>
          </a:bodyPr>
          <a:lstStyle/>
          <a:p>
            <a:pPr algn="l">
              <a:lnSpc>
                <a:spcPct val="115000"/>
              </a:lnSpc>
              <a:spcAft>
                <a:spcPts val="0"/>
              </a:spcAft>
            </a:pPr>
            <a:r>
              <a:rPr sz="1000" b="0">
                <a:solidFill>
                  <a:srgbClr val="5B6B54"/>
                </a:solidFill>
                <a:latin typeface="游ゴシック"/>
                <a:ea typeface="游ゴシック"/>
              </a:rPr>
              <a:t>個人指導塾PLATZ　拓殖大学 政経学部 法律政治学科 小論文ワークシート</a:t>
            </a:r>
          </a:p>
        </p:txBody>
      </p:sp>
      <p:sp>
        <p:nvSpPr>
          <p:cNvPr id="6" name="TextBox 5"/>
          <p:cNvSpPr txBox="1"/>
          <p:nvPr/>
        </p:nvSpPr>
        <p:spPr>
          <a:xfrm>
            <a:off x="11155680" y="6473952"/>
            <a:ext cx="594360" cy="274320"/>
          </a:xfrm>
          <a:prstGeom prst="rect">
            <a:avLst/>
          </a:prstGeom>
          <a:noFill/>
        </p:spPr>
        <p:txBody>
          <a:bodyPr wrap="square" lIns="45720" rIns="45720" tIns="27432" bIns="27432" anchor="t">
            <a:spAutoFit/>
            <a:spAutoFit/>
          </a:bodyPr>
          <a:lstStyle/>
          <a:p>
            <a:pPr algn="r">
              <a:lnSpc>
                <a:spcPct val="115000"/>
              </a:lnSpc>
              <a:spcAft>
                <a:spcPts val="0"/>
              </a:spcAft>
            </a:pPr>
            <a:r>
              <a:rPr sz="1000" b="0">
                <a:solidFill>
                  <a:srgbClr val="5B6B54"/>
                </a:solidFill>
                <a:latin typeface="游ゴシック"/>
                <a:ea typeface="游ゴシック"/>
              </a:rPr>
              <a:t>24</a:t>
            </a:r>
          </a:p>
        </p:txBody>
      </p:sp>
      <p:sp>
        <p:nvSpPr>
          <p:cNvPr id="7" name="Rounded Rectangle 6"/>
          <p:cNvSpPr/>
          <p:nvPr/>
        </p:nvSpPr>
        <p:spPr>
          <a:xfrm>
            <a:off x="548640" y="1600200"/>
            <a:ext cx="6035040" cy="3977639"/>
          </a:xfrm>
          <a:prstGeom prst="roundRect">
            <a:avLst>
              <a:gd name="adj" fmla="val 6000"/>
            </a:avLst>
          </a:prstGeom>
          <a:solidFill>
            <a:srgbClr val="F6F8F3"/>
          </a:solidFill>
          <a:ln w="12700">
            <a:solidFill>
              <a:srgbClr val="DDE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9164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D9782D"/>
                </a:solidFill>
                <a:latin typeface="游ゴシック"/>
                <a:ea typeface="游ゴシック"/>
              </a:rPr>
              <a:t>最後の8分で必ず見る3点</a:t>
            </a:r>
          </a:p>
        </p:txBody>
      </p:sp>
      <p:sp>
        <p:nvSpPr>
          <p:cNvPr id="9" name="TextBox 8"/>
          <p:cNvSpPr txBox="1"/>
          <p:nvPr/>
        </p:nvSpPr>
        <p:spPr>
          <a:xfrm>
            <a:off x="777240" y="2148840"/>
            <a:ext cx="5669280" cy="137160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誤字脱字・送りがな・数字の書き間違い</a:t>
            </a:r>
          </a:p>
          <a:p>
            <a:pPr algn="l">
              <a:lnSpc>
                <a:spcPct val="115000"/>
              </a:lnSpc>
              <a:spcAft>
                <a:spcPts val="400"/>
              </a:spcAft>
            </a:pPr>
            <a:r>
              <a:rPr sz="1600" b="0">
                <a:solidFill>
                  <a:srgbClr val="23301F"/>
                </a:solidFill>
                <a:latin typeface="游ゴシック"/>
                <a:ea typeface="游ゴシック"/>
              </a:rPr>
              <a:t>✓ 文末が「だ・である」で統一されているか</a:t>
            </a:r>
          </a:p>
          <a:p>
            <a:pPr algn="l">
              <a:lnSpc>
                <a:spcPct val="115000"/>
              </a:lnSpc>
              <a:spcAft>
                <a:spcPts val="0"/>
              </a:spcAft>
            </a:pPr>
            <a:r>
              <a:rPr sz="1600" b="0">
                <a:solidFill>
                  <a:srgbClr val="23301F"/>
                </a:solidFill>
                <a:latin typeface="游ゴシック"/>
                <a:ea typeface="游ゴシック"/>
              </a:rPr>
              <a:t>✓ 論理のつながり（主張 → 理由 → 結論がずれていないか）</a:t>
            </a:r>
          </a:p>
        </p:txBody>
      </p:sp>
      <p:sp>
        <p:nvSpPr>
          <p:cNvPr id="10" name="TextBox 9"/>
          <p:cNvSpPr txBox="1"/>
          <p:nvPr/>
        </p:nvSpPr>
        <p:spPr>
          <a:xfrm>
            <a:off x="777240" y="3566160"/>
            <a:ext cx="5669280" cy="365760"/>
          </a:xfrm>
          <a:prstGeom prst="rect">
            <a:avLst/>
          </a:prstGeom>
          <a:noFill/>
        </p:spPr>
        <p:txBody>
          <a:bodyPr wrap="square" lIns="45720" rIns="45720" tIns="27432" bIns="27432" anchor="t">
            <a:spAutoFit/>
            <a:spAutoFit/>
          </a:bodyPr>
          <a:lstStyle/>
          <a:p>
            <a:pPr algn="l">
              <a:lnSpc>
                <a:spcPct val="115000"/>
              </a:lnSpc>
              <a:spcAft>
                <a:spcPts val="0"/>
              </a:spcAft>
            </a:pPr>
            <a:r>
              <a:rPr sz="1800" b="1">
                <a:solidFill>
                  <a:srgbClr val="2C5F2D"/>
                </a:solidFill>
                <a:latin typeface="游ゴシック"/>
                <a:ea typeface="游ゴシック"/>
              </a:rPr>
              <a:t>あわせて確認</a:t>
            </a:r>
          </a:p>
        </p:txBody>
      </p:sp>
      <p:sp>
        <p:nvSpPr>
          <p:cNvPr id="11" name="TextBox 10"/>
          <p:cNvSpPr txBox="1"/>
          <p:nvPr/>
        </p:nvSpPr>
        <p:spPr>
          <a:xfrm>
            <a:off x="777240" y="3977639"/>
            <a:ext cx="5669280" cy="1554480"/>
          </a:xfrm>
          <a:prstGeom prst="rect">
            <a:avLst/>
          </a:prstGeom>
          <a:noFill/>
        </p:spPr>
        <p:txBody>
          <a:bodyPr wrap="square" lIns="45720" rIns="45720" tIns="27432" bIns="27432" anchor="t">
            <a:spAutoFit/>
            <a:spAutoFit/>
          </a:bodyPr>
          <a:lstStyle/>
          <a:p>
            <a:pPr algn="l">
              <a:lnSpc>
                <a:spcPct val="115000"/>
              </a:lnSpc>
              <a:spcAft>
                <a:spcPts val="400"/>
              </a:spcAft>
            </a:pPr>
            <a:r>
              <a:rPr sz="1600" b="0">
                <a:solidFill>
                  <a:srgbClr val="23301F"/>
                </a:solidFill>
                <a:latin typeface="游ゴシック"/>
                <a:ea typeface="游ゴシック"/>
              </a:rPr>
              <a:t>✓ 建学の理念とAPの言葉を両方使ったか</a:t>
            </a:r>
          </a:p>
          <a:p>
            <a:pPr algn="l">
              <a:lnSpc>
                <a:spcPct val="115000"/>
              </a:lnSpc>
              <a:spcAft>
                <a:spcPts val="400"/>
              </a:spcAft>
            </a:pPr>
            <a:r>
              <a:rPr sz="1600" b="0">
                <a:solidFill>
                  <a:srgbClr val="23301F"/>
                </a:solidFill>
                <a:latin typeface="游ゴシック"/>
                <a:ea typeface="游ゴシック"/>
              </a:rPr>
              <a:t>✓ 強みを一つに絞り、経験で証明したか</a:t>
            </a:r>
          </a:p>
          <a:p>
            <a:pPr algn="l">
              <a:lnSpc>
                <a:spcPct val="115000"/>
              </a:lnSpc>
              <a:spcAft>
                <a:spcPts val="400"/>
              </a:spcAft>
            </a:pPr>
            <a:r>
              <a:rPr sz="1600" b="0">
                <a:solidFill>
                  <a:srgbClr val="23301F"/>
                </a:solidFill>
                <a:latin typeface="游ゴシック"/>
                <a:ea typeface="游ゴシック"/>
              </a:rPr>
              <a:t>✓ 学科で学ぶこと・将来像を書いたか</a:t>
            </a:r>
          </a:p>
          <a:p>
            <a:pPr algn="l">
              <a:lnSpc>
                <a:spcPct val="115000"/>
              </a:lnSpc>
              <a:spcAft>
                <a:spcPts val="0"/>
              </a:spcAft>
            </a:pPr>
            <a:r>
              <a:rPr sz="1600" b="0">
                <a:solidFill>
                  <a:srgbClr val="23301F"/>
                </a:solidFill>
                <a:latin typeface="游ゴシック"/>
                <a:ea typeface="游ゴシック"/>
              </a:rPr>
              <a:t>✓ 900字（9割）以上書けているか</a:t>
            </a:r>
          </a:p>
        </p:txBody>
      </p:sp>
      <p:sp>
        <p:nvSpPr>
          <p:cNvPr id="12" name="Rounded Rectangle 11"/>
          <p:cNvSpPr/>
          <p:nvPr/>
        </p:nvSpPr>
        <p:spPr>
          <a:xfrm>
            <a:off x="6858000" y="1600200"/>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5分</a:t>
            </a:r>
          </a:p>
        </p:txBody>
      </p:sp>
      <p:sp>
        <p:nvSpPr>
          <p:cNvPr id="13" name="TextBox 12"/>
          <p:cNvSpPr txBox="1"/>
          <p:nvPr/>
        </p:nvSpPr>
        <p:spPr>
          <a:xfrm>
            <a:off x="8412480" y="1600200"/>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読む</a:t>
            </a:r>
          </a:p>
        </p:txBody>
      </p:sp>
      <p:sp>
        <p:nvSpPr>
          <p:cNvPr id="14" name="Rounded Rectangle 13"/>
          <p:cNvSpPr/>
          <p:nvPr/>
        </p:nvSpPr>
        <p:spPr>
          <a:xfrm>
            <a:off x="6858000" y="2624328"/>
            <a:ext cx="1371600" cy="86868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10分</a:t>
            </a:r>
          </a:p>
        </p:txBody>
      </p:sp>
      <p:sp>
        <p:nvSpPr>
          <p:cNvPr id="15" name="TextBox 14"/>
          <p:cNvSpPr txBox="1"/>
          <p:nvPr/>
        </p:nvSpPr>
        <p:spPr>
          <a:xfrm>
            <a:off x="8412480" y="2624328"/>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構成する</a:t>
            </a:r>
          </a:p>
        </p:txBody>
      </p:sp>
      <p:sp>
        <p:nvSpPr>
          <p:cNvPr id="16" name="Rounded Rectangle 15"/>
          <p:cNvSpPr/>
          <p:nvPr/>
        </p:nvSpPr>
        <p:spPr>
          <a:xfrm>
            <a:off x="6858000" y="3648456"/>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37分</a:t>
            </a:r>
          </a:p>
        </p:txBody>
      </p:sp>
      <p:sp>
        <p:nvSpPr>
          <p:cNvPr id="17" name="TextBox 16"/>
          <p:cNvSpPr txBox="1"/>
          <p:nvPr/>
        </p:nvSpPr>
        <p:spPr>
          <a:xfrm>
            <a:off x="8412480" y="3648456"/>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書く</a:t>
            </a:r>
          </a:p>
        </p:txBody>
      </p:sp>
      <p:sp>
        <p:nvSpPr>
          <p:cNvPr id="18" name="Rounded Rectangle 17"/>
          <p:cNvSpPr/>
          <p:nvPr/>
        </p:nvSpPr>
        <p:spPr>
          <a:xfrm>
            <a:off x="6858000" y="4672584"/>
            <a:ext cx="1371600" cy="868680"/>
          </a:xfrm>
          <a:prstGeom prst="roundRect">
            <a:avLst>
              <a:gd name="adj" fmla="val 6000"/>
            </a:avLst>
          </a:prstGeom>
          <a:solidFill>
            <a:srgbClr val="2C5F2D"/>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2200" b="1">
                <a:solidFill>
                  <a:srgbClr val="FFFFFF"/>
                </a:solidFill>
                <a:latin typeface="游ゴシック"/>
                <a:ea typeface="游ゴシック"/>
              </a:rPr>
              <a:t>8分</a:t>
            </a:r>
          </a:p>
        </p:txBody>
      </p:sp>
      <p:sp>
        <p:nvSpPr>
          <p:cNvPr id="19" name="TextBox 18"/>
          <p:cNvSpPr txBox="1"/>
          <p:nvPr/>
        </p:nvSpPr>
        <p:spPr>
          <a:xfrm>
            <a:off x="8412480" y="4672584"/>
            <a:ext cx="3200400" cy="868680"/>
          </a:xfrm>
          <a:prstGeom prst="rect">
            <a:avLst/>
          </a:prstGeom>
          <a:noFill/>
        </p:spPr>
        <p:txBody>
          <a:bodyPr wrap="square" lIns="45720" rIns="45720" tIns="27432" bIns="27432" anchor="ctr">
            <a:spAutoFit/>
            <a:spAutoFit/>
          </a:bodyPr>
          <a:lstStyle/>
          <a:p>
            <a:pPr algn="l">
              <a:lnSpc>
                <a:spcPct val="115000"/>
              </a:lnSpc>
              <a:spcAft>
                <a:spcPts val="0"/>
              </a:spcAft>
            </a:pPr>
            <a:r>
              <a:rPr sz="2600" b="1">
                <a:solidFill>
                  <a:srgbClr val="17321A"/>
                </a:solidFill>
                <a:latin typeface="游ゴシック"/>
                <a:ea typeface="游ゴシック"/>
              </a:rPr>
              <a:t>見直す</a:t>
            </a:r>
          </a:p>
        </p:txBody>
      </p:sp>
      <p:sp>
        <p:nvSpPr>
          <p:cNvPr id="20" name="Rounded Rectangle 19"/>
          <p:cNvSpPr/>
          <p:nvPr/>
        </p:nvSpPr>
        <p:spPr>
          <a:xfrm>
            <a:off x="548640" y="5760720"/>
            <a:ext cx="11091672" cy="548640"/>
          </a:xfrm>
          <a:prstGeom prst="roundRect">
            <a:avLst>
              <a:gd name="adj" fmla="val 6000"/>
            </a:avLst>
          </a:prstGeom>
          <a:solidFill>
            <a:srgbClr val="D978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760720"/>
            <a:ext cx="10634472" cy="548640"/>
          </a:xfrm>
          <a:prstGeom prst="rect">
            <a:avLst/>
          </a:prstGeom>
          <a:noFill/>
        </p:spPr>
        <p:txBody>
          <a:bodyPr wrap="square" lIns="45720" rIns="45720" tIns="27432" bIns="27432" anchor="ctr">
            <a:spAutoFit/>
            <a:spAutoFit/>
          </a:bodyPr>
          <a:lstStyle/>
          <a:p>
            <a:pPr algn="l">
              <a:lnSpc>
                <a:spcPct val="115000"/>
              </a:lnSpc>
              <a:spcAft>
                <a:spcPts val="0"/>
              </a:spcAft>
            </a:pPr>
            <a:r>
              <a:rPr sz="1800" b="1">
                <a:solidFill>
                  <a:srgbClr val="FFFFFF"/>
                </a:solidFill>
                <a:latin typeface="游ゴシック"/>
                <a:ea typeface="游ゴシック"/>
              </a:rPr>
              <a:t>まとめ　</a:t>
            </a:r>
            <a:r>
              <a:rPr sz="1800" b="0">
                <a:solidFill>
                  <a:srgbClr val="FFFFFF"/>
                </a:solidFill>
                <a:latin typeface="游ゴシック"/>
                <a:ea typeface="游ゴシック"/>
              </a:rPr>
              <a:t>考えるのは最初の15分。3つの問いで、初見の問題も同じ手順で書き切れる。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