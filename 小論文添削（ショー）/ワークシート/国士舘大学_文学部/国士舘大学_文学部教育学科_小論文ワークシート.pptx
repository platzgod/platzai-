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320040" cy="6858000"/>
          </a:xfrm>
          <a:prstGeom prst="roundRect">
            <a:avLst>
              <a:gd name="adj" fmla="val 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34440"/>
            <a:ext cx="10058400" cy="457200"/>
          </a:xfrm>
          <a:prstGeom prst="rect">
            <a:avLst/>
          </a:prstGeom>
          <a:noFill/>
        </p:spPr>
        <p:txBody>
          <a:bodyPr wrap="square" lIns="45720" rIns="45720" tIns="27432" bIns="27432" anchor="t">
            <a:spAutoFit/>
            <a:spAutoFit/>
          </a:bodyPr>
          <a:lstStyle/>
          <a:p>
            <a:pPr algn="l">
              <a:lnSpc>
                <a:spcPct val="115000"/>
              </a:lnSpc>
              <a:spcAft>
                <a:spcPts val="0"/>
              </a:spcAft>
            </a:pPr>
            <a:r>
              <a:rPr sz="2000" b="1">
                <a:solidFill>
                  <a:srgbClr val="D9782D"/>
                </a:solidFill>
                <a:latin typeface="游ゴシック"/>
                <a:ea typeface="游ゴシック"/>
              </a:rPr>
              <a:t>国士舘大学　文学部　総合型選抜（AO選抜）</a:t>
            </a:r>
          </a:p>
        </p:txBody>
      </p:sp>
      <p:sp>
        <p:nvSpPr>
          <p:cNvPr id="4" name="TextBox 3"/>
          <p:cNvSpPr txBox="1"/>
          <p:nvPr/>
        </p:nvSpPr>
        <p:spPr>
          <a:xfrm>
            <a:off x="914400" y="1783080"/>
            <a:ext cx="10515600" cy="1097280"/>
          </a:xfrm>
          <a:prstGeom prst="rect">
            <a:avLst/>
          </a:prstGeom>
          <a:noFill/>
        </p:spPr>
        <p:txBody>
          <a:bodyPr wrap="square" lIns="45720" rIns="45720" tIns="27432" bIns="27432" anchor="t">
            <a:spAutoFit/>
            <a:spAutoFit/>
          </a:bodyPr>
          <a:lstStyle/>
          <a:p>
            <a:pPr algn="l">
              <a:lnSpc>
                <a:spcPct val="115000"/>
              </a:lnSpc>
              <a:spcAft>
                <a:spcPts val="0"/>
              </a:spcAft>
            </a:pPr>
            <a:r>
              <a:rPr sz="5400" b="1">
                <a:solidFill>
                  <a:srgbClr val="17321A"/>
                </a:solidFill>
                <a:latin typeface="游ゴシック"/>
                <a:ea typeface="游ゴシック"/>
              </a:rPr>
              <a:t>小論文ワークシート</a:t>
            </a:r>
          </a:p>
        </p:txBody>
      </p:sp>
      <p:sp>
        <p:nvSpPr>
          <p:cNvPr id="5" name="TextBox 4"/>
          <p:cNvSpPr txBox="1"/>
          <p:nvPr/>
        </p:nvSpPr>
        <p:spPr>
          <a:xfrm>
            <a:off x="914400" y="2926080"/>
            <a:ext cx="10515600" cy="548640"/>
          </a:xfrm>
          <a:prstGeom prst="rect">
            <a:avLst/>
          </a:prstGeom>
          <a:noFill/>
        </p:spPr>
        <p:txBody>
          <a:bodyPr wrap="square" lIns="45720" rIns="45720" tIns="27432" bIns="27432" anchor="t">
            <a:spAutoFit/>
            <a:spAutoFit/>
          </a:bodyPr>
          <a:lstStyle/>
          <a:p>
            <a:pPr algn="l">
              <a:lnSpc>
                <a:spcPct val="115000"/>
              </a:lnSpc>
              <a:spcAft>
                <a:spcPts val="0"/>
              </a:spcAft>
            </a:pPr>
            <a:r>
              <a:rPr sz="2800" b="1">
                <a:solidFill>
                  <a:srgbClr val="2C5F2D"/>
                </a:solidFill>
                <a:latin typeface="游ゴシック"/>
                <a:ea typeface="游ゴシック"/>
              </a:rPr>
              <a:t>60分で、迷わず、600字を書き切る</a:t>
            </a:r>
          </a:p>
        </p:txBody>
      </p:sp>
      <p:sp>
        <p:nvSpPr>
          <p:cNvPr id="6" name="TextBox 5"/>
          <p:cNvSpPr txBox="1"/>
          <p:nvPr/>
        </p:nvSpPr>
        <p:spPr>
          <a:xfrm>
            <a:off x="914400" y="3703320"/>
            <a:ext cx="10515600" cy="457200"/>
          </a:xfrm>
          <a:prstGeom prst="rect">
            <a:avLst/>
          </a:prstGeom>
          <a:noFill/>
        </p:spPr>
        <p:txBody>
          <a:bodyPr wrap="square" lIns="45720" rIns="45720" tIns="27432" bIns="27432" anchor="t">
            <a:spAutoFit/>
            <a:spAutoFit/>
          </a:bodyPr>
          <a:lstStyle/>
          <a:p>
            <a:pPr algn="l">
              <a:lnSpc>
                <a:spcPct val="115000"/>
              </a:lnSpc>
              <a:spcAft>
                <a:spcPts val="0"/>
              </a:spcAft>
            </a:pPr>
            <a:r>
              <a:rPr sz="1800" b="0">
                <a:solidFill>
                  <a:srgbClr val="5B6B54"/>
                </a:solidFill>
                <a:latin typeface="游ゴシック"/>
                <a:ea typeface="游ゴシック"/>
              </a:rPr>
              <a:t>見て学ぶ（お手本）→ やってみる（演習）→ 答え合わせ　を2つのテーマで繰り返す</a:t>
            </a:r>
          </a:p>
        </p:txBody>
      </p:sp>
      <p:sp>
        <p:nvSpPr>
          <p:cNvPr id="7" name="TextBox 6"/>
          <p:cNvSpPr txBox="1"/>
          <p:nvPr/>
        </p:nvSpPr>
        <p:spPr>
          <a:xfrm>
            <a:off x="914400" y="4892040"/>
            <a:ext cx="10515600" cy="365760"/>
          </a:xfrm>
          <a:prstGeom prst="rect">
            <a:avLst/>
          </a:prstGeom>
          <a:noFill/>
        </p:spPr>
        <p:txBody>
          <a:bodyPr wrap="square" lIns="45720" rIns="45720" tIns="27432" bIns="27432" anchor="t">
            <a:spAutoFit/>
            <a:spAutoFit/>
          </a:bodyPr>
          <a:lstStyle/>
          <a:p>
            <a:pPr algn="l">
              <a:lnSpc>
                <a:spcPct val="115000"/>
              </a:lnSpc>
              <a:spcAft>
                <a:spcPts val="0"/>
              </a:spcAft>
            </a:pPr>
            <a:r>
              <a:rPr sz="1500" b="0">
                <a:solidFill>
                  <a:srgbClr val="23301F"/>
                </a:solidFill>
                <a:latin typeface="游ゴシック"/>
                <a:ea typeface="游ゴシック"/>
              </a:rPr>
              <a:t>対象：文学部 教育学科 総合型選抜（AO選抜）志願者</a:t>
            </a:r>
          </a:p>
        </p:txBody>
      </p:sp>
      <p:sp>
        <p:nvSpPr>
          <p:cNvPr id="8" name="TextBox 7"/>
          <p:cNvSpPr txBox="1"/>
          <p:nvPr/>
        </p:nvSpPr>
        <p:spPr>
          <a:xfrm>
            <a:off x="914400" y="5303520"/>
            <a:ext cx="10515600" cy="365760"/>
          </a:xfrm>
          <a:prstGeom prst="rect">
            <a:avLst/>
          </a:prstGeom>
          <a:noFill/>
        </p:spPr>
        <p:txBody>
          <a:bodyPr wrap="square" lIns="45720" rIns="45720" tIns="27432" bIns="27432" anchor="t">
            <a:spAutoFit/>
            <a:spAutoFit/>
          </a:bodyPr>
          <a:lstStyle/>
          <a:p>
            <a:pPr algn="l">
              <a:lnSpc>
                <a:spcPct val="115000"/>
              </a:lnSpc>
              <a:spcAft>
                <a:spcPts val="0"/>
              </a:spcAft>
            </a:pPr>
            <a:r>
              <a:rPr sz="1500" b="0">
                <a:solidFill>
                  <a:srgbClr val="5B6B54"/>
                </a:solidFill>
                <a:latin typeface="游ゴシック"/>
                <a:ea typeface="游ゴシック"/>
              </a:rPr>
              <a:t>C3進学アカデミー　学習支援資料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試験を知る</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試験の全体像</a:t>
            </a:r>
          </a:p>
        </p:txBody>
      </p:sp>
      <p:sp>
        <p:nvSpPr>
          <p:cNvPr id="4" name="TextBox 3"/>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5" name="TextBox 4"/>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a:t>
            </a:r>
          </a:p>
        </p:txBody>
      </p:sp>
      <p:sp>
        <p:nvSpPr>
          <p:cNvPr id="6" name="Rounded Rectangle 5"/>
          <p:cNvSpPr/>
          <p:nvPr/>
        </p:nvSpPr>
        <p:spPr>
          <a:xfrm>
            <a:off x="548640"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60分</a:t>
            </a:r>
          </a:p>
        </p:txBody>
      </p:sp>
      <p:sp>
        <p:nvSpPr>
          <p:cNvPr id="8" name="TextBox 7"/>
          <p:cNvSpPr txBox="1"/>
          <p:nvPr/>
        </p:nvSpPr>
        <p:spPr>
          <a:xfrm>
            <a:off x="731520"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700" b="0">
                <a:solidFill>
                  <a:srgbClr val="23301F"/>
                </a:solidFill>
                <a:latin typeface="游ゴシック"/>
                <a:ea typeface="游ゴシック"/>
              </a:rPr>
              <a:t>小論文の試験時間</a:t>
            </a:r>
          </a:p>
        </p:txBody>
      </p:sp>
      <p:sp>
        <p:nvSpPr>
          <p:cNvPr id="9" name="Rounded Rectangle 8"/>
          <p:cNvSpPr/>
          <p:nvPr/>
        </p:nvSpPr>
        <p:spPr>
          <a:xfrm>
            <a:off x="4297679"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79"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600字以内</a:t>
            </a:r>
          </a:p>
        </p:txBody>
      </p:sp>
      <p:sp>
        <p:nvSpPr>
          <p:cNvPr id="11" name="TextBox 10"/>
          <p:cNvSpPr txBox="1"/>
          <p:nvPr/>
        </p:nvSpPr>
        <p:spPr>
          <a:xfrm>
            <a:off x="4480559"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700" b="0">
                <a:solidFill>
                  <a:srgbClr val="23301F"/>
                </a:solidFill>
                <a:latin typeface="游ゴシック"/>
                <a:ea typeface="游ゴシック"/>
              </a:rPr>
              <a:t>字数制限</a:t>
            </a:r>
          </a:p>
        </p:txBody>
      </p:sp>
      <p:sp>
        <p:nvSpPr>
          <p:cNvPr id="12" name="Rounded Rectangle 11"/>
          <p:cNvSpPr/>
          <p:nvPr/>
        </p:nvSpPr>
        <p:spPr>
          <a:xfrm>
            <a:off x="8046719"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課題文＋意見</a:t>
            </a:r>
          </a:p>
        </p:txBody>
      </p:sp>
      <p:sp>
        <p:nvSpPr>
          <p:cNvPr id="14" name="TextBox 13"/>
          <p:cNvSpPr txBox="1"/>
          <p:nvPr/>
        </p:nvSpPr>
        <p:spPr>
          <a:xfrm>
            <a:off x="8229599"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650" b="0">
                <a:solidFill>
                  <a:srgbClr val="23301F"/>
                </a:solidFill>
                <a:latin typeface="游ゴシック"/>
                <a:ea typeface="游ゴシック"/>
              </a:rPr>
              <a:t>課題文を読み、要約と意見を600字で論述</a:t>
            </a:r>
          </a:p>
        </p:txBody>
      </p:sp>
      <p:sp>
        <p:nvSpPr>
          <p:cNvPr id="15" name="TextBox 14"/>
          <p:cNvSpPr txBox="1"/>
          <p:nvPr/>
        </p:nvSpPr>
        <p:spPr>
          <a:xfrm>
            <a:off x="548640" y="4114800"/>
            <a:ext cx="11064240" cy="1188720"/>
          </a:xfrm>
          <a:prstGeom prst="rect">
            <a:avLst/>
          </a:prstGeom>
          <a:noFill/>
        </p:spPr>
        <p:txBody>
          <a:bodyPr wrap="square" lIns="45720" rIns="45720" tIns="27432" bIns="27432" anchor="t">
            <a:spAutoFit/>
            <a:spAutoFit/>
          </a:bodyPr>
          <a:lstStyle/>
          <a:p>
            <a:pPr algn="l">
              <a:lnSpc>
                <a:spcPct val="115000"/>
              </a:lnSpc>
              <a:spcAft>
                <a:spcPts val="600"/>
              </a:spcAft>
            </a:pPr>
            <a:r>
              <a:rPr sz="1400" b="0">
                <a:solidFill>
                  <a:srgbClr val="23301F"/>
                </a:solidFill>
                <a:latin typeface="游ゴシック"/>
                <a:ea typeface="游ゴシック"/>
              </a:rPr>
              <a:t>令和7・8年度の総合型選抜（Ⅰ〜Ⅳ期）8回は、いずれも課題文（エッセイ・小説・新書・新聞）を読み、600字で論じる形式。要約を求める回や、経験を交える指定の回が多い。</a:t>
            </a:r>
          </a:p>
          <a:p>
            <a:pPr algn="l">
              <a:lnSpc>
                <a:spcPct val="115000"/>
              </a:lnSpc>
              <a:spcAft>
                <a:spcPts val="0"/>
              </a:spcAft>
            </a:pPr>
            <a:r>
              <a:rPr sz="1400" b="0">
                <a:solidFill>
                  <a:srgbClr val="23301F"/>
                </a:solidFill>
                <a:latin typeface="游ゴシック"/>
                <a:ea typeface="游ゴシック"/>
              </a:rPr>
              <a:t>テーマは学び・言葉・人間関係・社会参加など身近なもの。初めて読む文章でも、同じ手順で要点をつかみ、構成メモをつくれば書き切れる。</a:t>
            </a:r>
          </a:p>
        </p:txBody>
      </p:sp>
      <p:sp>
        <p:nvSpPr>
          <p:cNvPr id="16" name="TextBox 15"/>
          <p:cNvSpPr txBox="1"/>
          <p:nvPr/>
        </p:nvSpPr>
        <p:spPr>
          <a:xfrm>
            <a:off x="548640" y="5440680"/>
            <a:ext cx="11064240" cy="457200"/>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5B6B54"/>
                </a:solidFill>
                <a:latin typeface="游ゴシック"/>
                <a:ea typeface="游ゴシック"/>
              </a:rPr>
              <a:t>※ 字数600字・課題文型は大学公式の過去問で確認。試験時間は過去問に記載がないため60分と想定。最新の学生募集要項で確認すること。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時間配分</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60分の使い方 ― 考えるのは最初の15分</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書きながら考えると、途中で手が止まる。先に「何を書くか」を決めてから、一気に書く。</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3</a:t>
            </a:r>
          </a:p>
        </p:txBody>
      </p:sp>
      <p:sp>
        <p:nvSpPr>
          <p:cNvPr id="7" name="Rounded Rectangle 6"/>
          <p:cNvSpPr/>
          <p:nvPr/>
        </p:nvSpPr>
        <p:spPr>
          <a:xfrm>
            <a:off x="548640" y="2011680"/>
            <a:ext cx="910590" cy="6400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7" y="2011680"/>
            <a:ext cx="965454" cy="640080"/>
          </a:xfrm>
          <a:prstGeom prst="rect">
            <a:avLst/>
          </a:prstGeom>
          <a:noFill/>
        </p:spPr>
        <p:txBody>
          <a:bodyPr wrap="square" lIns="45720" rIns="45720" tIns="27432" bIns="27432" anchor="ctr">
            <a:spAutoFit/>
            <a:spAutoFit/>
          </a:bodyPr>
          <a:lstStyle/>
          <a:p>
            <a:pPr algn="ctr">
              <a:lnSpc>
                <a:spcPct val="115000"/>
              </a:lnSpc>
              <a:spcAft>
                <a:spcPts val="0"/>
              </a:spcAft>
            </a:pPr>
            <a:r>
              <a:rPr sz="1600" b="1">
                <a:solidFill>
                  <a:srgbClr val="FFFFFF"/>
                </a:solidFill>
                <a:latin typeface="游ゴシック"/>
                <a:ea typeface="游ゴシック"/>
              </a:rPr>
              <a:t>5分</a:t>
            </a:r>
          </a:p>
        </p:txBody>
      </p:sp>
      <p:sp>
        <p:nvSpPr>
          <p:cNvPr id="9" name="Rounded Rectangle 8"/>
          <p:cNvSpPr/>
          <p:nvPr/>
        </p:nvSpPr>
        <p:spPr>
          <a:xfrm>
            <a:off x="1514094" y="2011680"/>
            <a:ext cx="1821180" cy="6400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86662" y="2011680"/>
            <a:ext cx="187604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10分</a:t>
            </a:r>
          </a:p>
        </p:txBody>
      </p:sp>
      <p:sp>
        <p:nvSpPr>
          <p:cNvPr id="11" name="Rounded Rectangle 10"/>
          <p:cNvSpPr/>
          <p:nvPr/>
        </p:nvSpPr>
        <p:spPr>
          <a:xfrm>
            <a:off x="3390138" y="2011680"/>
            <a:ext cx="6374130" cy="6400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2706" y="2011680"/>
            <a:ext cx="642899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35分</a:t>
            </a:r>
          </a:p>
        </p:txBody>
      </p:sp>
      <p:sp>
        <p:nvSpPr>
          <p:cNvPr id="13" name="Rounded Rectangle 12"/>
          <p:cNvSpPr/>
          <p:nvPr/>
        </p:nvSpPr>
        <p:spPr>
          <a:xfrm>
            <a:off x="9819132" y="2011680"/>
            <a:ext cx="1821180" cy="6400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91700" y="2011680"/>
            <a:ext cx="187604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10分</a:t>
            </a:r>
          </a:p>
        </p:txBody>
      </p:sp>
      <p:sp>
        <p:nvSpPr>
          <p:cNvPr id="15" name="Rounded Rectangle 14"/>
          <p:cNvSpPr/>
          <p:nvPr/>
        </p:nvSpPr>
        <p:spPr>
          <a:xfrm>
            <a:off x="548640"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最初の5分</a:t>
            </a:r>
          </a:p>
        </p:txBody>
      </p:sp>
      <p:sp>
        <p:nvSpPr>
          <p:cNvPr id="17" name="TextBox 16"/>
          <p:cNvSpPr txBox="1"/>
          <p:nvPr/>
        </p:nvSpPr>
        <p:spPr>
          <a:xfrm>
            <a:off x="731520"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読む</a:t>
            </a:r>
          </a:p>
        </p:txBody>
      </p:sp>
      <p:sp>
        <p:nvSpPr>
          <p:cNvPr id="18" name="TextBox 17"/>
          <p:cNvSpPr txBox="1"/>
          <p:nvPr/>
        </p:nvSpPr>
        <p:spPr>
          <a:xfrm>
            <a:off x="731520"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問題文と資料を読み、</a:t>
            </a:r>
          </a:p>
          <a:p>
            <a:pPr algn="l">
              <a:lnSpc>
                <a:spcPct val="115000"/>
              </a:lnSpc>
              <a:spcAft>
                <a:spcPts val="0"/>
              </a:spcAft>
            </a:pPr>
            <a:r>
              <a:rPr sz="1600" b="0">
                <a:solidFill>
                  <a:srgbClr val="23301F"/>
                </a:solidFill>
                <a:latin typeface="游ゴシック"/>
                <a:ea typeface="游ゴシック"/>
              </a:rPr>
              <a:t>要点をつかむ</a:t>
            </a:r>
          </a:p>
        </p:txBody>
      </p:sp>
      <p:sp>
        <p:nvSpPr>
          <p:cNvPr id="19" name="Rounded Rectangle 18"/>
          <p:cNvSpPr/>
          <p:nvPr/>
        </p:nvSpPr>
        <p:spPr>
          <a:xfrm>
            <a:off x="3364992"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47872"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次の10分</a:t>
            </a:r>
          </a:p>
        </p:txBody>
      </p:sp>
      <p:sp>
        <p:nvSpPr>
          <p:cNvPr id="21" name="TextBox 20"/>
          <p:cNvSpPr txBox="1"/>
          <p:nvPr/>
        </p:nvSpPr>
        <p:spPr>
          <a:xfrm>
            <a:off x="3547872"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構成する</a:t>
            </a:r>
          </a:p>
        </p:txBody>
      </p:sp>
      <p:sp>
        <p:nvSpPr>
          <p:cNvPr id="22" name="TextBox 21"/>
          <p:cNvSpPr txBox="1"/>
          <p:nvPr/>
        </p:nvSpPr>
        <p:spPr>
          <a:xfrm>
            <a:off x="3547872"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骨組みと各段落の中身を</a:t>
            </a:r>
          </a:p>
          <a:p>
            <a:pPr algn="l">
              <a:lnSpc>
                <a:spcPct val="115000"/>
              </a:lnSpc>
              <a:spcAft>
                <a:spcPts val="0"/>
              </a:spcAft>
            </a:pPr>
            <a:r>
              <a:rPr sz="1600" b="0">
                <a:solidFill>
                  <a:srgbClr val="23301F"/>
                </a:solidFill>
                <a:latin typeface="游ゴシック"/>
                <a:ea typeface="游ゴシック"/>
              </a:rPr>
              <a:t>箇条書きでメモ</a:t>
            </a:r>
          </a:p>
        </p:txBody>
      </p:sp>
      <p:sp>
        <p:nvSpPr>
          <p:cNvPr id="23" name="Rounded Rectangle 22"/>
          <p:cNvSpPr/>
          <p:nvPr/>
        </p:nvSpPr>
        <p:spPr>
          <a:xfrm>
            <a:off x="6181344"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続く35分</a:t>
            </a:r>
          </a:p>
        </p:txBody>
      </p:sp>
      <p:sp>
        <p:nvSpPr>
          <p:cNvPr id="25" name="TextBox 24"/>
          <p:cNvSpPr txBox="1"/>
          <p:nvPr/>
        </p:nvSpPr>
        <p:spPr>
          <a:xfrm>
            <a:off x="6364224"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書く</a:t>
            </a:r>
          </a:p>
        </p:txBody>
      </p:sp>
      <p:sp>
        <p:nvSpPr>
          <p:cNvPr id="26" name="TextBox 25"/>
          <p:cNvSpPr txBox="1"/>
          <p:nvPr/>
        </p:nvSpPr>
        <p:spPr>
          <a:xfrm>
            <a:off x="6364224"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メモに沿って</a:t>
            </a:r>
          </a:p>
          <a:p>
            <a:pPr algn="l">
              <a:lnSpc>
                <a:spcPct val="115000"/>
              </a:lnSpc>
              <a:spcAft>
                <a:spcPts val="0"/>
              </a:spcAft>
            </a:pPr>
            <a:r>
              <a:rPr sz="1600" b="0">
                <a:solidFill>
                  <a:srgbClr val="23301F"/>
                </a:solidFill>
                <a:latin typeface="游ゴシック"/>
                <a:ea typeface="游ゴシック"/>
              </a:rPr>
              <a:t>一気に600字以内を書き切る</a:t>
            </a:r>
          </a:p>
        </p:txBody>
      </p:sp>
      <p:sp>
        <p:nvSpPr>
          <p:cNvPr id="27" name="Rounded Rectangle 26"/>
          <p:cNvSpPr/>
          <p:nvPr/>
        </p:nvSpPr>
        <p:spPr>
          <a:xfrm>
            <a:off x="8997696"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0576"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最後の10分</a:t>
            </a:r>
          </a:p>
        </p:txBody>
      </p:sp>
      <p:sp>
        <p:nvSpPr>
          <p:cNvPr id="29" name="TextBox 28"/>
          <p:cNvSpPr txBox="1"/>
          <p:nvPr/>
        </p:nvSpPr>
        <p:spPr>
          <a:xfrm>
            <a:off x="9180576"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見直す</a:t>
            </a:r>
          </a:p>
        </p:txBody>
      </p:sp>
      <p:sp>
        <p:nvSpPr>
          <p:cNvPr id="30" name="TextBox 29"/>
          <p:cNvSpPr txBox="1"/>
          <p:nvPr/>
        </p:nvSpPr>
        <p:spPr>
          <a:xfrm>
            <a:off x="9180576"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誤字脱字・文末の統一・</a:t>
            </a:r>
          </a:p>
          <a:p>
            <a:pPr algn="l">
              <a:lnSpc>
                <a:spcPct val="115000"/>
              </a:lnSpc>
              <a:spcAft>
                <a:spcPts val="0"/>
              </a:spcAft>
            </a:pPr>
            <a:r>
              <a:rPr sz="1600" b="0">
                <a:solidFill>
                  <a:srgbClr val="23301F"/>
                </a:solidFill>
                <a:latin typeface="游ゴシック"/>
                <a:ea typeface="游ゴシック"/>
              </a:rPr>
              <a:t>論理のつながりを確認</a:t>
            </a:r>
          </a:p>
        </p:txBody>
      </p:sp>
      <p:sp>
        <p:nvSpPr>
          <p:cNvPr id="31" name="Rounded Rectangle 30"/>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POINT　</a:t>
            </a:r>
            <a:r>
              <a:rPr sz="1800" b="0">
                <a:solidFill>
                  <a:srgbClr val="FFFFFF"/>
                </a:solidFill>
                <a:latin typeface="游ゴシック"/>
                <a:ea typeface="游ゴシック"/>
              </a:rPr>
              <a:t>ワークシート（次のページ）は「構成する10分」でやることそのもの。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ワークシートの使い方</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構成メモは、3つの問いで作る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どのテーマでも、この順番で考えて、ノート（解答用紙）に書き出す。</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4</a:t>
            </a:r>
          </a:p>
        </p:txBody>
      </p:sp>
      <p:sp>
        <p:nvSpPr>
          <p:cNvPr id="7" name="Rounded Rectangle 6"/>
          <p:cNvSpPr/>
          <p:nvPr/>
        </p:nvSpPr>
        <p:spPr>
          <a:xfrm>
            <a:off x="548640"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Q1</a:t>
            </a:r>
          </a:p>
        </p:txBody>
      </p:sp>
      <p:sp>
        <p:nvSpPr>
          <p:cNvPr id="9" name="TextBox 8"/>
          <p:cNvSpPr txBox="1"/>
          <p:nvPr/>
        </p:nvSpPr>
        <p:spPr>
          <a:xfrm>
            <a:off x="777240"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この問題・資料の「要点」は何か</a:t>
            </a:r>
          </a:p>
        </p:txBody>
      </p:sp>
      <p:sp>
        <p:nvSpPr>
          <p:cNvPr id="10" name="TextBox 9"/>
          <p:cNvSpPr txBox="1"/>
          <p:nvPr/>
        </p:nvSpPr>
        <p:spPr>
          <a:xfrm>
            <a:off x="777240"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・何を問われているか（説明？意見？具体策？）</a:t>
            </a:r>
          </a:p>
          <a:p>
            <a:pPr algn="l">
              <a:lnSpc>
                <a:spcPct val="115000"/>
              </a:lnSpc>
              <a:spcAft>
                <a:spcPts val="400"/>
              </a:spcAft>
            </a:pPr>
            <a:r>
              <a:rPr sz="1500" b="0">
                <a:solidFill>
                  <a:srgbClr val="23301F"/>
                </a:solidFill>
                <a:latin typeface="游ゴシック"/>
                <a:ea typeface="游ゴシック"/>
              </a:rPr>
              <a:t>・資料から必ず使う事実・数字は何か</a:t>
            </a:r>
          </a:p>
          <a:p>
            <a:pPr algn="l">
              <a:lnSpc>
                <a:spcPct val="115000"/>
              </a:lnSpc>
              <a:spcAft>
                <a:spcPts val="0"/>
              </a:spcAft>
            </a:pPr>
            <a:r>
              <a:rPr sz="1500" b="0">
                <a:solidFill>
                  <a:srgbClr val="23301F"/>
                </a:solidFill>
                <a:latin typeface="游ゴシック"/>
                <a:ea typeface="游ゴシック"/>
              </a:rPr>
              <a:t>・一言でいうと、何について書く問題か</a:t>
            </a:r>
          </a:p>
        </p:txBody>
      </p:sp>
      <p:sp>
        <p:nvSpPr>
          <p:cNvPr id="11" name="Rounded Rectangle 10"/>
          <p:cNvSpPr/>
          <p:nvPr/>
        </p:nvSpPr>
        <p:spPr>
          <a:xfrm>
            <a:off x="4297679"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26279"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Q2</a:t>
            </a:r>
          </a:p>
        </p:txBody>
      </p:sp>
      <p:sp>
        <p:nvSpPr>
          <p:cNvPr id="13" name="TextBox 12"/>
          <p:cNvSpPr txBox="1"/>
          <p:nvPr/>
        </p:nvSpPr>
        <p:spPr>
          <a:xfrm>
            <a:off x="4526279"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全体を何段落で書くか</a:t>
            </a:r>
          </a:p>
        </p:txBody>
      </p:sp>
      <p:sp>
        <p:nvSpPr>
          <p:cNvPr id="14" name="TextBox 13"/>
          <p:cNvSpPr txBox="1"/>
          <p:nvPr/>
        </p:nvSpPr>
        <p:spPr>
          <a:xfrm>
            <a:off x="4526279"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・序論・本論・結論をそれぞれ何段落にするか</a:t>
            </a:r>
          </a:p>
          <a:p>
            <a:pPr algn="l">
              <a:lnSpc>
                <a:spcPct val="115000"/>
              </a:lnSpc>
              <a:spcAft>
                <a:spcPts val="400"/>
              </a:spcAft>
            </a:pPr>
            <a:r>
              <a:rPr sz="1500" b="0">
                <a:solidFill>
                  <a:srgbClr val="23301F"/>
                </a:solidFill>
                <a:latin typeface="游ゴシック"/>
                <a:ea typeface="游ゴシック"/>
              </a:rPr>
              <a:t>・問いが2つなら本論も2つ、が基本</a:t>
            </a:r>
          </a:p>
          <a:p>
            <a:pPr algn="l">
              <a:lnSpc>
                <a:spcPct val="115000"/>
              </a:lnSpc>
              <a:spcAft>
                <a:spcPts val="0"/>
              </a:spcAft>
            </a:pPr>
            <a:r>
              <a:rPr sz="1500" b="0">
                <a:solidFill>
                  <a:srgbClr val="23301F"/>
                </a:solidFill>
                <a:latin typeface="游ゴシック"/>
                <a:ea typeface="游ゴシック"/>
              </a:rPr>
              <a:t>・各段落のおおよその字数を決める</a:t>
            </a:r>
          </a:p>
        </p:txBody>
      </p:sp>
      <p:sp>
        <p:nvSpPr>
          <p:cNvPr id="15" name="Rounded Rectangle 14"/>
          <p:cNvSpPr/>
          <p:nvPr/>
        </p:nvSpPr>
        <p:spPr>
          <a:xfrm>
            <a:off x="8046719"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75319"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Q3</a:t>
            </a:r>
          </a:p>
        </p:txBody>
      </p:sp>
      <p:sp>
        <p:nvSpPr>
          <p:cNvPr id="17" name="TextBox 16"/>
          <p:cNvSpPr txBox="1"/>
          <p:nvPr/>
        </p:nvSpPr>
        <p:spPr>
          <a:xfrm>
            <a:off x="8275319"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各段落に書く内容は何か</a:t>
            </a:r>
          </a:p>
        </p:txBody>
      </p:sp>
      <p:sp>
        <p:nvSpPr>
          <p:cNvPr id="18" name="TextBox 17"/>
          <p:cNvSpPr txBox="1"/>
          <p:nvPr/>
        </p:nvSpPr>
        <p:spPr>
          <a:xfrm>
            <a:off x="8275319"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・段落ごとに、書く中身を箇条書きにする</a:t>
            </a:r>
          </a:p>
          <a:p>
            <a:pPr algn="l">
              <a:lnSpc>
                <a:spcPct val="115000"/>
              </a:lnSpc>
              <a:spcAft>
                <a:spcPts val="400"/>
              </a:spcAft>
            </a:pPr>
            <a:r>
              <a:rPr sz="1500" b="0">
                <a:solidFill>
                  <a:srgbClr val="23301F"/>
                </a:solidFill>
                <a:latin typeface="游ゴシック"/>
                <a:ea typeface="游ゴシック"/>
              </a:rPr>
              <a:t>・文章にしなくてよい（単語・短いメモで十分）</a:t>
            </a:r>
          </a:p>
          <a:p>
            <a:pPr algn="l">
              <a:lnSpc>
                <a:spcPct val="115000"/>
              </a:lnSpc>
              <a:spcAft>
                <a:spcPts val="0"/>
              </a:spcAft>
            </a:pPr>
            <a:r>
              <a:rPr sz="1500" b="0">
                <a:solidFill>
                  <a:srgbClr val="23301F"/>
                </a:solidFill>
                <a:latin typeface="游ゴシック"/>
                <a:ea typeface="游ゴシック"/>
              </a:rPr>
              <a:t>・このメモがそのまま答案の設計図になる</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750" b="1">
                <a:solidFill>
                  <a:srgbClr val="FFFFFF"/>
                </a:solidFill>
                <a:latin typeface="游ゴシック"/>
                <a:ea typeface="游ゴシック"/>
              </a:rPr>
              <a:t>流れ　</a:t>
            </a:r>
            <a:r>
              <a:rPr sz="1750" b="0">
                <a:solidFill>
                  <a:srgbClr val="FFFFFF"/>
                </a:solidFill>
                <a:latin typeface="游ゴシック"/>
                <a:ea typeface="游ゴシック"/>
              </a:rPr>
              <a:t>テーマ1はお手本で学ぶ → テーマ2は自分で埋める → 模範メモ・模範解答で答え合わせ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書き方の基本</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答案の基本フォーム</a:t>
            </a:r>
          </a:p>
        </p:txBody>
      </p:sp>
      <p:sp>
        <p:nvSpPr>
          <p:cNvPr id="4" name="TextBox 3"/>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5" name="TextBox 4"/>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5</a:t>
            </a:r>
          </a:p>
        </p:txBody>
      </p:sp>
      <p:sp>
        <p:nvSpPr>
          <p:cNvPr id="6" name="Rounded Rectangle 5"/>
          <p:cNvSpPr/>
          <p:nvPr/>
        </p:nvSpPr>
        <p:spPr>
          <a:xfrm>
            <a:off x="548640"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序論　15〜20%</a:t>
            </a:r>
          </a:p>
        </p:txBody>
      </p:sp>
      <p:sp>
        <p:nvSpPr>
          <p:cNvPr id="7" name="Rounded Rectangle 6"/>
          <p:cNvSpPr/>
          <p:nvPr/>
        </p:nvSpPr>
        <p:spPr>
          <a:xfrm>
            <a:off x="548640"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自分の意見・結論を</a:t>
            </a:r>
          </a:p>
          <a:p>
            <a:pPr algn="ctr">
              <a:lnSpc>
                <a:spcPct val="115000"/>
              </a:lnSpc>
              <a:spcAft>
                <a:spcPts val="0"/>
              </a:spcAft>
            </a:pPr>
            <a:r>
              <a:rPr sz="1800" b="0">
                <a:solidFill>
                  <a:srgbClr val="23301F"/>
                </a:solidFill>
                <a:latin typeface="游ゴシック"/>
                <a:ea typeface="游ゴシック"/>
              </a:rPr>
              <a:t>先に示す</a:t>
            </a:r>
          </a:p>
        </p:txBody>
      </p:sp>
      <p:sp>
        <p:nvSpPr>
          <p:cNvPr id="9" name="Rounded Rectangle 8"/>
          <p:cNvSpPr/>
          <p:nvPr/>
        </p:nvSpPr>
        <p:spPr>
          <a:xfrm>
            <a:off x="4297679"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本論　60〜70%</a:t>
            </a:r>
          </a:p>
        </p:txBody>
      </p:sp>
      <p:sp>
        <p:nvSpPr>
          <p:cNvPr id="10" name="Rounded Rectangle 9"/>
          <p:cNvSpPr/>
          <p:nvPr/>
        </p:nvSpPr>
        <p:spPr>
          <a:xfrm>
            <a:off x="4297679"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理由・根拠・具体例を</a:t>
            </a:r>
          </a:p>
          <a:p>
            <a:pPr algn="ctr">
              <a:lnSpc>
                <a:spcPct val="115000"/>
              </a:lnSpc>
              <a:spcAft>
                <a:spcPts val="0"/>
              </a:spcAft>
            </a:pPr>
            <a:r>
              <a:rPr sz="1800" b="0">
                <a:solidFill>
                  <a:srgbClr val="23301F"/>
                </a:solidFill>
                <a:latin typeface="游ゴシック"/>
                <a:ea typeface="游ゴシック"/>
              </a:rPr>
              <a:t>2〜3点で展開する</a:t>
            </a:r>
          </a:p>
        </p:txBody>
      </p:sp>
      <p:sp>
        <p:nvSpPr>
          <p:cNvPr id="12" name="Rounded Rectangle 11"/>
          <p:cNvSpPr/>
          <p:nvPr/>
        </p:nvSpPr>
        <p:spPr>
          <a:xfrm>
            <a:off x="8046719"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結論　15〜20%</a:t>
            </a:r>
          </a:p>
        </p:txBody>
      </p:sp>
      <p:sp>
        <p:nvSpPr>
          <p:cNvPr id="13" name="Rounded Rectangle 12"/>
          <p:cNvSpPr/>
          <p:nvPr/>
        </p:nvSpPr>
        <p:spPr>
          <a:xfrm>
            <a:off x="8046719"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主張を確認し、</a:t>
            </a:r>
          </a:p>
          <a:p>
            <a:pPr algn="ctr">
              <a:lnSpc>
                <a:spcPct val="115000"/>
              </a:lnSpc>
              <a:spcAft>
                <a:spcPts val="0"/>
              </a:spcAft>
            </a:pPr>
            <a:r>
              <a:rPr sz="1800" b="0">
                <a:solidFill>
                  <a:srgbClr val="23301F"/>
                </a:solidFill>
                <a:latin typeface="游ゴシック"/>
                <a:ea typeface="游ゴシック"/>
              </a:rPr>
              <a:t>大学での学びにつなげる</a:t>
            </a:r>
          </a:p>
        </p:txBody>
      </p:sp>
      <p:sp>
        <p:nvSpPr>
          <p:cNvPr id="15" name="Rounded Rectangle 14"/>
          <p:cNvSpPr/>
          <p:nvPr/>
        </p:nvSpPr>
        <p:spPr>
          <a:xfrm>
            <a:off x="548640" y="3703320"/>
            <a:ext cx="5486400" cy="1828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794760"/>
            <a:ext cx="5120640" cy="1691640"/>
          </a:xfrm>
          <a:prstGeom prst="rect">
            <a:avLst/>
          </a:prstGeom>
          <a:noFill/>
        </p:spPr>
        <p:txBody>
          <a:bodyPr wrap="square" lIns="45720" rIns="45720" tIns="27432" bIns="27432" anchor="t">
            <a:spAutoFit/>
            <a:spAutoFit/>
          </a:bodyPr>
          <a:lstStyle/>
          <a:p>
            <a:pPr algn="l">
              <a:lnSpc>
                <a:spcPct val="115000"/>
              </a:lnSpc>
              <a:spcAft>
                <a:spcPts val="300"/>
              </a:spcAft>
            </a:pPr>
            <a:r>
              <a:rPr sz="1800" b="1">
                <a:solidFill>
                  <a:srgbClr val="2C5F2D"/>
                </a:solidFill>
                <a:latin typeface="游ゴシック"/>
                <a:ea typeface="游ゴシック"/>
              </a:rPr>
              <a:t>文体のルール</a:t>
            </a:r>
          </a:p>
          <a:p>
            <a:pPr algn="l">
              <a:lnSpc>
                <a:spcPct val="115000"/>
              </a:lnSpc>
              <a:spcAft>
                <a:spcPts val="300"/>
              </a:spcAft>
            </a:pPr>
            <a:r>
              <a:rPr sz="1600" b="0">
                <a:solidFill>
                  <a:srgbClr val="23301F"/>
                </a:solidFill>
                <a:latin typeface="游ゴシック"/>
                <a:ea typeface="游ゴシック"/>
              </a:rPr>
              <a:t>・「だ・である」調で統一する</a:t>
            </a:r>
          </a:p>
          <a:p>
            <a:pPr algn="l">
              <a:lnSpc>
                <a:spcPct val="115000"/>
              </a:lnSpc>
              <a:spcAft>
                <a:spcPts val="300"/>
              </a:spcAft>
            </a:pPr>
            <a:r>
              <a:rPr sz="1600" b="0">
                <a:solidFill>
                  <a:srgbClr val="23301F"/>
                </a:solidFill>
                <a:latin typeface="游ゴシック"/>
                <a:ea typeface="游ゴシック"/>
              </a:rPr>
              <a:t>・一文を短く、一文一意</a:t>
            </a:r>
          </a:p>
          <a:p>
            <a:pPr algn="l">
              <a:lnSpc>
                <a:spcPct val="115000"/>
              </a:lnSpc>
              <a:spcAft>
                <a:spcPts val="0"/>
              </a:spcAft>
            </a:pPr>
            <a:r>
              <a:rPr sz="1600" b="0">
                <a:solidFill>
                  <a:srgbClr val="23301F"/>
                </a:solidFill>
                <a:latin typeface="游ゴシック"/>
                <a:ea typeface="游ゴシック"/>
              </a:rPr>
              <a:t>・話し言葉（〜だと思う、〜なので）を避ける</a:t>
            </a:r>
          </a:p>
        </p:txBody>
      </p:sp>
      <p:sp>
        <p:nvSpPr>
          <p:cNvPr id="17" name="Rounded Rectangle 16"/>
          <p:cNvSpPr/>
          <p:nvPr/>
        </p:nvSpPr>
        <p:spPr>
          <a:xfrm>
            <a:off x="6172200" y="3703320"/>
            <a:ext cx="5468112" cy="1828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94760"/>
            <a:ext cx="5102352" cy="1691640"/>
          </a:xfrm>
          <a:prstGeom prst="rect">
            <a:avLst/>
          </a:prstGeom>
          <a:noFill/>
        </p:spPr>
        <p:txBody>
          <a:bodyPr wrap="square" lIns="45720" rIns="45720" tIns="27432" bIns="27432" anchor="t">
            <a:spAutoFit/>
            <a:spAutoFit/>
          </a:bodyPr>
          <a:lstStyle/>
          <a:p>
            <a:pPr algn="l">
              <a:lnSpc>
                <a:spcPct val="115000"/>
              </a:lnSpc>
              <a:spcAft>
                <a:spcPts val="300"/>
              </a:spcAft>
            </a:pPr>
            <a:r>
              <a:rPr sz="1800" b="1">
                <a:solidFill>
                  <a:srgbClr val="2C5F2D"/>
                </a:solidFill>
                <a:latin typeface="游ゴシック"/>
                <a:ea typeface="游ゴシック"/>
              </a:rPr>
              <a:t>大学が見ていること</a:t>
            </a:r>
          </a:p>
          <a:p>
            <a:pPr algn="l">
              <a:lnSpc>
                <a:spcPct val="115000"/>
              </a:lnSpc>
              <a:spcAft>
                <a:spcPts val="300"/>
              </a:spcAft>
            </a:pPr>
            <a:r>
              <a:rPr sz="1600" b="0">
                <a:solidFill>
                  <a:srgbClr val="23301F"/>
                </a:solidFill>
                <a:latin typeface="游ゴシック"/>
                <a:ea typeface="游ゴシック"/>
              </a:rPr>
              <a:t>・課題文の主張を正確に要約できているか</a:t>
            </a:r>
          </a:p>
          <a:p>
            <a:pPr algn="l">
              <a:lnSpc>
                <a:spcPct val="115000"/>
              </a:lnSpc>
              <a:spcAft>
                <a:spcPts val="300"/>
              </a:spcAft>
            </a:pPr>
            <a:r>
              <a:rPr sz="1600" b="0">
                <a:solidFill>
                  <a:srgbClr val="23301F"/>
                </a:solidFill>
                <a:latin typeface="游ゴシック"/>
                <a:ea typeface="游ゴシック"/>
              </a:rPr>
              <a:t>・自分の経験を根拠に意見を述べているか</a:t>
            </a:r>
          </a:p>
          <a:p>
            <a:pPr algn="l">
              <a:lnSpc>
                <a:spcPct val="115000"/>
              </a:lnSpc>
              <a:spcAft>
                <a:spcPts val="0"/>
              </a:spcAft>
            </a:pPr>
            <a:r>
              <a:rPr sz="1600" b="0">
                <a:solidFill>
                  <a:srgbClr val="23301F"/>
                </a:solidFill>
                <a:latin typeface="游ゴシック"/>
                <a:ea typeface="游ゴシック"/>
              </a:rPr>
              <a:t>・教育学科の学び・教員像につなげているか</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字数　</a:t>
            </a:r>
            <a:r>
              <a:rPr sz="1800" b="0">
                <a:solidFill>
                  <a:srgbClr val="FFFFFF"/>
                </a:solidFill>
                <a:latin typeface="游ゴシック"/>
                <a:ea typeface="游ゴシック"/>
              </a:rPr>
              <a:t>600字以内なら、最低でも540字（9割）を目標に書き切る。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テーマ1｜学校の勉強の意味</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令和8年度・AO選抜Ⅱ期（12月14日実施）の過去問／600字以内</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6</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34594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「学校の勉強」に対する「わたし」の考えに触れた上で、あなたは「学校の勉強」の意味をどのように考えているか、自身の経験や見聞きしたことを交えて600字で論述しなさい。</a:t>
            </a:r>
          </a:p>
        </p:txBody>
      </p:sp>
      <p:sp>
        <p:nvSpPr>
          <p:cNvPr id="11" name="TextBox 10"/>
          <p:cNvSpPr txBox="1"/>
          <p:nvPr/>
        </p:nvSpPr>
        <p:spPr>
          <a:xfrm>
            <a:off x="777240" y="3695954"/>
            <a:ext cx="6309360" cy="1790445"/>
          </a:xfrm>
          <a:prstGeom prst="rect">
            <a:avLst/>
          </a:prstGeom>
          <a:noFill/>
        </p:spPr>
        <p:txBody>
          <a:bodyPr wrap="square" lIns="45720" rIns="45720" tIns="27432" bIns="27432" anchor="t">
            <a:spAutoFit/>
            <a:spAutoFit/>
          </a:bodyPr>
          <a:lstStyle/>
          <a:p>
            <a:pPr algn="l">
              <a:lnSpc>
                <a:spcPct val="115000"/>
              </a:lnSpc>
              <a:spcAft>
                <a:spcPts val="200"/>
              </a:spcAft>
            </a:pPr>
            <a:r>
              <a:rPr sz="1400" b="1">
                <a:solidFill>
                  <a:srgbClr val="2C5F2D"/>
                </a:solidFill>
                <a:latin typeface="游ゴシック"/>
                <a:ea typeface="游ゴシック"/>
              </a:rPr>
              <a:t>課題文（要旨）伽古屋圭市『クロワッサン学習塾』</a:t>
            </a:r>
          </a:p>
          <a:p>
            <a:pPr algn="l">
              <a:lnSpc>
                <a:spcPct val="115000"/>
              </a:lnSpc>
              <a:spcAft>
                <a:spcPts val="0"/>
              </a:spcAft>
            </a:pPr>
            <a:r>
              <a:rPr sz="1400" b="0">
                <a:solidFill>
                  <a:srgbClr val="23301F"/>
                </a:solidFill>
                <a:latin typeface="游ゴシック"/>
                <a:ea typeface="游ゴシック"/>
              </a:rPr>
              <a:t>元小学校教師の「わたし」は、学生のうちの勉強は「目次をつくる作業」であり、勉強のやり方を学ぶことだと考える。学んだ知識が役に立たなくても、学んだという事実が力になる。学校の勉強は効率が悪い面もあるが、学ぶことの価値を知る人になれる。それは人生の危機にも助けになる「考える力」だという。</a:t>
            </a:r>
          </a:p>
        </p:txBody>
      </p:sp>
      <p:sp>
        <p:nvSpPr>
          <p:cNvPr id="12" name="Rounded Rectangle 11"/>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4" name="TextBox 13"/>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「『わたし』の考えに触れた上で」＝要約が必須</a:t>
            </a:r>
          </a:p>
          <a:p>
            <a:pPr algn="l">
              <a:lnSpc>
                <a:spcPct val="115000"/>
              </a:lnSpc>
              <a:spcAft>
                <a:spcPts val="600"/>
              </a:spcAft>
            </a:pPr>
            <a:r>
              <a:rPr sz="1500" b="0">
                <a:solidFill>
                  <a:srgbClr val="23301F"/>
                </a:solidFill>
                <a:latin typeface="游ゴシック"/>
                <a:ea typeface="游ゴシック"/>
              </a:rPr>
              <a:t>② 「学校の勉強」の意味＝自分の答えを一つ決める</a:t>
            </a:r>
          </a:p>
          <a:p>
            <a:pPr algn="l">
              <a:lnSpc>
                <a:spcPct val="115000"/>
              </a:lnSpc>
              <a:spcAft>
                <a:spcPts val="600"/>
              </a:spcAft>
            </a:pPr>
            <a:r>
              <a:rPr sz="1500" b="0">
                <a:solidFill>
                  <a:srgbClr val="23301F"/>
                </a:solidFill>
                <a:latin typeface="游ゴシック"/>
                <a:ea typeface="游ゴシック"/>
              </a:rPr>
              <a:t>③ 「自身の経験や見聞きしたこと」＝体験を必ず入れる</a:t>
            </a:r>
          </a:p>
          <a:p>
            <a:pPr algn="l">
              <a:lnSpc>
                <a:spcPct val="115000"/>
              </a:lnSpc>
              <a:spcAft>
                <a:spcPts val="0"/>
              </a:spcAft>
            </a:pPr>
            <a:r>
              <a:rPr sz="1500" b="0">
                <a:solidFill>
                  <a:srgbClr val="23301F"/>
                </a:solidFill>
                <a:latin typeface="游ゴシック"/>
                <a:ea typeface="游ゴシック"/>
              </a:rPr>
              <a:t>④ キーワード：目次づくり・学び方・考える力</a:t>
            </a:r>
          </a:p>
        </p:txBody>
      </p:sp>
      <p:sp>
        <p:nvSpPr>
          <p:cNvPr id="15" name="Rounded Rectangle 14"/>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お手本｜Q1　要点をつかむ</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クリックするたびに、考える順番どおりに表示されます。</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7</a:t>
            </a:r>
          </a:p>
        </p:txBody>
      </p:sp>
      <p:grpSp>
        <p:nvGrpSpPr>
          <p:cNvPr id="11" name="Group 10"/>
          <p:cNvGrpSpPr/>
          <p:nvPr/>
        </p:nvGrpSpPr>
        <p:grpSpPr>
          <a:xfrm>
            <a:off x="548640" y="1783080"/>
            <a:ext cx="11091672" cy="652881"/>
            <a:chOff x="548640" y="1783080"/>
            <a:chExt cx="11091672" cy="652881"/>
          </a:xfrm>
        </p:grpSpPr>
        <p:sp>
          <p:nvSpPr>
            <p:cNvPr id="8" name="Rounded Rectangle 7"/>
            <p:cNvSpPr/>
            <p:nvPr/>
          </p:nvSpPr>
          <p:spPr>
            <a:xfrm>
              <a:off x="548640" y="1783080"/>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90064"/>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問われていること①</a:t>
              </a:r>
            </a:p>
          </p:txBody>
        </p:sp>
        <p:sp>
          <p:nvSpPr>
            <p:cNvPr id="10" name="TextBox 9"/>
            <p:cNvSpPr txBox="1"/>
            <p:nvPr/>
          </p:nvSpPr>
          <p:spPr>
            <a:xfrm>
              <a:off x="3291840" y="1783080"/>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「わたし」の考え ― 目次づくり・学び方・考える力を要約する</a:t>
              </a:r>
            </a:p>
          </p:txBody>
        </p:sp>
      </p:grpSp>
      <p:grpSp>
        <p:nvGrpSpPr>
          <p:cNvPr id="15" name="Group 14"/>
          <p:cNvGrpSpPr/>
          <p:nvPr/>
        </p:nvGrpSpPr>
        <p:grpSpPr>
          <a:xfrm>
            <a:off x="548640" y="2545689"/>
            <a:ext cx="11091672" cy="652881"/>
            <a:chOff x="548640" y="2545689"/>
            <a:chExt cx="11091672" cy="652881"/>
          </a:xfrm>
        </p:grpSpPr>
        <p:sp>
          <p:nvSpPr>
            <p:cNvPr id="12" name="Rounded Rectangle 11"/>
            <p:cNvSpPr/>
            <p:nvPr/>
          </p:nvSpPr>
          <p:spPr>
            <a:xfrm>
              <a:off x="548640" y="2545689"/>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652674"/>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問われていること②</a:t>
              </a:r>
            </a:p>
          </p:txBody>
        </p:sp>
        <p:sp>
          <p:nvSpPr>
            <p:cNvPr id="14" name="TextBox 13"/>
            <p:cNvSpPr txBox="1"/>
            <p:nvPr/>
          </p:nvSpPr>
          <p:spPr>
            <a:xfrm>
              <a:off x="3291840" y="2545689"/>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学校の勉強の意味 ― 自分の考えを一つに絞って示す</a:t>
              </a:r>
            </a:p>
          </p:txBody>
        </p:sp>
      </p:grpSp>
      <p:grpSp>
        <p:nvGrpSpPr>
          <p:cNvPr id="19" name="Group 18"/>
          <p:cNvGrpSpPr/>
          <p:nvPr/>
        </p:nvGrpSpPr>
        <p:grpSpPr>
          <a:xfrm>
            <a:off x="548640" y="3308299"/>
            <a:ext cx="11091672" cy="652881"/>
            <a:chOff x="548640" y="3308299"/>
            <a:chExt cx="11091672" cy="652881"/>
          </a:xfrm>
        </p:grpSpPr>
        <p:sp>
          <p:nvSpPr>
            <p:cNvPr id="16" name="Rounded Rectangle 15"/>
            <p:cNvSpPr/>
            <p:nvPr/>
          </p:nvSpPr>
          <p:spPr>
            <a:xfrm>
              <a:off x="548640" y="3308299"/>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415284"/>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問われていること③</a:t>
              </a:r>
            </a:p>
          </p:txBody>
        </p:sp>
        <p:sp>
          <p:nvSpPr>
            <p:cNvPr id="18" name="TextBox 17"/>
            <p:cNvSpPr txBox="1"/>
            <p:nvPr/>
          </p:nvSpPr>
          <p:spPr>
            <a:xfrm>
              <a:off x="3291840" y="3308299"/>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経験 ― 自分の体験や見聞きしたことで意見を支える</a:t>
              </a:r>
            </a:p>
          </p:txBody>
        </p:sp>
      </p:grpSp>
      <p:grpSp>
        <p:nvGrpSpPr>
          <p:cNvPr id="23" name="Group 22"/>
          <p:cNvGrpSpPr/>
          <p:nvPr/>
        </p:nvGrpSpPr>
        <p:grpSpPr>
          <a:xfrm>
            <a:off x="548640" y="4070908"/>
            <a:ext cx="11091672" cy="652881"/>
            <a:chOff x="548640" y="4070908"/>
            <a:chExt cx="11091672" cy="652881"/>
          </a:xfrm>
        </p:grpSpPr>
        <p:sp>
          <p:nvSpPr>
            <p:cNvPr id="20" name="Rounded Rectangle 19"/>
            <p:cNvSpPr/>
            <p:nvPr/>
          </p:nvSpPr>
          <p:spPr>
            <a:xfrm>
              <a:off x="548640" y="4070908"/>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4177893"/>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資料のポイント</a:t>
              </a:r>
            </a:p>
          </p:txBody>
        </p:sp>
        <p:sp>
          <p:nvSpPr>
            <p:cNvPr id="22" name="TextBox 21"/>
            <p:cNvSpPr txBox="1"/>
            <p:nvPr/>
          </p:nvSpPr>
          <p:spPr>
            <a:xfrm>
              <a:off x="3291840" y="4070908"/>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550" b="0">
                  <a:solidFill>
                    <a:srgbClr val="23301F"/>
                  </a:solidFill>
                  <a:latin typeface="游ゴシック"/>
                  <a:ea typeface="游ゴシック"/>
                </a:rPr>
                <a:t>知識そのものより「学んだ事実」が力になる。学校の勉強は効率が悪くても「考える力」を育てる</a:t>
              </a:r>
            </a:p>
          </p:txBody>
        </p:sp>
      </p:grpSp>
      <p:grpSp>
        <p:nvGrpSpPr>
          <p:cNvPr id="27" name="Group 26"/>
          <p:cNvGrpSpPr/>
          <p:nvPr/>
        </p:nvGrpSpPr>
        <p:grpSpPr>
          <a:xfrm>
            <a:off x="548640" y="4833518"/>
            <a:ext cx="11091672" cy="652881"/>
            <a:chOff x="548640" y="4833518"/>
            <a:chExt cx="11091672" cy="652881"/>
          </a:xfrm>
        </p:grpSpPr>
        <p:sp>
          <p:nvSpPr>
            <p:cNvPr id="24" name="Rounded Rectangle 23"/>
            <p:cNvSpPr/>
            <p:nvPr/>
          </p:nvSpPr>
          <p:spPr>
            <a:xfrm>
              <a:off x="548640" y="4833518"/>
              <a:ext cx="11091672" cy="652881"/>
            </a:xfrm>
            <a:prstGeom prst="roundRect">
              <a:avLst>
                <a:gd name="adj" fmla="val 6000"/>
              </a:avLst>
            </a:prstGeom>
            <a:solidFill>
              <a:srgbClr val="FCEFE3"/>
            </a:solidFill>
            <a:ln w="19050">
              <a:solidFill>
                <a:srgbClr val="D978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4940503"/>
              <a:ext cx="2377440" cy="43891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一言でいうと</a:t>
              </a:r>
            </a:p>
          </p:txBody>
        </p:sp>
        <p:sp>
          <p:nvSpPr>
            <p:cNvPr id="26" name="TextBox 25"/>
            <p:cNvSpPr txBox="1"/>
            <p:nvPr/>
          </p:nvSpPr>
          <p:spPr>
            <a:xfrm>
              <a:off x="3291840" y="4833518"/>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900" b="1">
                  <a:solidFill>
                    <a:srgbClr val="23301F"/>
                  </a:solidFill>
                  <a:latin typeface="游ゴシック"/>
                  <a:ea typeface="游ゴシック"/>
                </a:rPr>
                <a:t>学校で学ぶことは、自分にとって何の意味があるのか</a:t>
              </a:r>
            </a:p>
          </p:txBody>
        </p:sp>
      </p:grpSp>
      <p:sp>
        <p:nvSpPr>
          <p:cNvPr id="28" name="Rounded Rectangle 27"/>
          <p:cNvSpPr/>
          <p:nvPr/>
        </p:nvSpPr>
        <p:spPr>
          <a:xfrm>
            <a:off x="548640" y="557784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57784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コツ　</a:t>
            </a:r>
            <a:r>
              <a:rPr sz="1800" b="0">
                <a:solidFill>
                  <a:srgbClr val="FFFFFF"/>
                </a:solidFill>
                <a:latin typeface="游ゴシック"/>
                <a:ea typeface="游ゴシック"/>
              </a:rPr>
              <a:t>「〜に触れた上で」「〜を交えて」は答案に必ず入れる条件。数えて、全部入れる。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お手本｜Q2　段落の数を決める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問われていることが「要約」「意味」「経験」の3つ → 要約の序論＋主張＋本論2段（理由・経験）</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8</a:t>
            </a:r>
          </a:p>
        </p:txBody>
      </p:sp>
      <p:grpSp>
        <p:nvGrpSpPr>
          <p:cNvPr id="12" name="Group 11"/>
          <p:cNvGrpSpPr/>
          <p:nvPr/>
        </p:nvGrpSpPr>
        <p:grpSpPr>
          <a:xfrm>
            <a:off x="548640" y="2011680"/>
            <a:ext cx="2108606" cy="2377440"/>
            <a:chOff x="548640" y="2011680"/>
            <a:chExt cx="2108606" cy="2377440"/>
          </a:xfrm>
        </p:grpSpPr>
        <p:sp>
          <p:nvSpPr>
            <p:cNvPr id="8" name="Rounded Rectangle 7"/>
            <p:cNvSpPr/>
            <p:nvPr/>
          </p:nvSpPr>
          <p:spPr>
            <a:xfrm>
              <a:off x="548640"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序論</a:t>
              </a:r>
            </a:p>
          </p:txBody>
        </p:sp>
        <p:sp>
          <p:nvSpPr>
            <p:cNvPr id="10" name="TextBox 9"/>
            <p:cNvSpPr txBox="1"/>
            <p:nvPr/>
          </p:nvSpPr>
          <p:spPr>
            <a:xfrm>
              <a:off x="640080"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約130字</a:t>
              </a:r>
            </a:p>
          </p:txBody>
        </p:sp>
        <p:sp>
          <p:nvSpPr>
            <p:cNvPr id="11" name="TextBox 10"/>
            <p:cNvSpPr txBox="1"/>
            <p:nvPr/>
          </p:nvSpPr>
          <p:spPr>
            <a:xfrm>
              <a:off x="640080"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「わたし」の考えを要約</a:t>
              </a:r>
            </a:p>
          </p:txBody>
        </p:sp>
      </p:grpSp>
      <p:grpSp>
        <p:nvGrpSpPr>
          <p:cNvPr id="17" name="Group 16"/>
          <p:cNvGrpSpPr/>
          <p:nvPr/>
        </p:nvGrpSpPr>
        <p:grpSpPr>
          <a:xfrm>
            <a:off x="2794406" y="2011680"/>
            <a:ext cx="2108606" cy="2377440"/>
            <a:chOff x="2794406" y="2011680"/>
            <a:chExt cx="2108606" cy="2377440"/>
          </a:xfrm>
        </p:grpSpPr>
        <p:sp>
          <p:nvSpPr>
            <p:cNvPr id="13" name="Rounded Rectangle 12"/>
            <p:cNvSpPr/>
            <p:nvPr/>
          </p:nvSpPr>
          <p:spPr>
            <a:xfrm>
              <a:off x="2794406"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31566"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主張</a:t>
              </a:r>
            </a:p>
          </p:txBody>
        </p:sp>
        <p:sp>
          <p:nvSpPr>
            <p:cNvPr id="15" name="TextBox 14"/>
            <p:cNvSpPr txBox="1"/>
            <p:nvPr/>
          </p:nvSpPr>
          <p:spPr>
            <a:xfrm>
              <a:off x="2885846"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約50字</a:t>
              </a:r>
            </a:p>
          </p:txBody>
        </p:sp>
        <p:sp>
          <p:nvSpPr>
            <p:cNvPr id="16" name="TextBox 15"/>
            <p:cNvSpPr txBox="1"/>
            <p:nvPr/>
          </p:nvSpPr>
          <p:spPr>
            <a:xfrm>
              <a:off x="2885846"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学校の勉強の意味</a:t>
              </a:r>
            </a:p>
          </p:txBody>
        </p:sp>
      </p:grpSp>
      <p:grpSp>
        <p:nvGrpSpPr>
          <p:cNvPr id="22" name="Group 21"/>
          <p:cNvGrpSpPr/>
          <p:nvPr/>
        </p:nvGrpSpPr>
        <p:grpSpPr>
          <a:xfrm>
            <a:off x="5040172" y="2011680"/>
            <a:ext cx="2108606" cy="2377440"/>
            <a:chOff x="5040172" y="2011680"/>
            <a:chExt cx="2108606" cy="2377440"/>
          </a:xfrm>
        </p:grpSpPr>
        <p:sp>
          <p:nvSpPr>
            <p:cNvPr id="18" name="Rounded Rectangle 17"/>
            <p:cNvSpPr/>
            <p:nvPr/>
          </p:nvSpPr>
          <p:spPr>
            <a:xfrm>
              <a:off x="5040172"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77332"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本論①</a:t>
              </a:r>
            </a:p>
          </p:txBody>
        </p:sp>
        <p:sp>
          <p:nvSpPr>
            <p:cNvPr id="20" name="TextBox 19"/>
            <p:cNvSpPr txBox="1"/>
            <p:nvPr/>
          </p:nvSpPr>
          <p:spPr>
            <a:xfrm>
              <a:off x="5131612"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150〜170字</a:t>
              </a:r>
            </a:p>
          </p:txBody>
        </p:sp>
        <p:sp>
          <p:nvSpPr>
            <p:cNvPr id="21" name="TextBox 20"/>
            <p:cNvSpPr txBox="1"/>
            <p:nvPr/>
          </p:nvSpPr>
          <p:spPr>
            <a:xfrm>
              <a:off x="5131612"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理由</a:t>
              </a:r>
            </a:p>
          </p:txBody>
        </p:sp>
      </p:grpSp>
      <p:grpSp>
        <p:nvGrpSpPr>
          <p:cNvPr id="27" name="Group 26"/>
          <p:cNvGrpSpPr/>
          <p:nvPr/>
        </p:nvGrpSpPr>
        <p:grpSpPr>
          <a:xfrm>
            <a:off x="7285939" y="2011680"/>
            <a:ext cx="2108606" cy="2377440"/>
            <a:chOff x="7285939" y="2011680"/>
            <a:chExt cx="2108606" cy="2377440"/>
          </a:xfrm>
        </p:grpSpPr>
        <p:sp>
          <p:nvSpPr>
            <p:cNvPr id="23" name="Rounded Rectangle 22"/>
            <p:cNvSpPr/>
            <p:nvPr/>
          </p:nvSpPr>
          <p:spPr>
            <a:xfrm>
              <a:off x="7285939"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23099"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本論②</a:t>
              </a:r>
            </a:p>
          </p:txBody>
        </p:sp>
        <p:sp>
          <p:nvSpPr>
            <p:cNvPr id="25" name="TextBox 24"/>
            <p:cNvSpPr txBox="1"/>
            <p:nvPr/>
          </p:nvSpPr>
          <p:spPr>
            <a:xfrm>
              <a:off x="7377379"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約140字</a:t>
              </a:r>
            </a:p>
          </p:txBody>
        </p:sp>
        <p:sp>
          <p:nvSpPr>
            <p:cNvPr id="26" name="TextBox 25"/>
            <p:cNvSpPr txBox="1"/>
            <p:nvPr/>
          </p:nvSpPr>
          <p:spPr>
            <a:xfrm>
              <a:off x="7377379"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自分の経験</a:t>
              </a:r>
            </a:p>
          </p:txBody>
        </p:sp>
      </p:grpSp>
      <p:grpSp>
        <p:nvGrpSpPr>
          <p:cNvPr id="32" name="Group 31"/>
          <p:cNvGrpSpPr/>
          <p:nvPr/>
        </p:nvGrpSpPr>
        <p:grpSpPr>
          <a:xfrm>
            <a:off x="9531705" y="2011680"/>
            <a:ext cx="2108606" cy="2377440"/>
            <a:chOff x="9531705" y="2011680"/>
            <a:chExt cx="2108606" cy="2377440"/>
          </a:xfrm>
        </p:grpSpPr>
        <p:sp>
          <p:nvSpPr>
            <p:cNvPr id="28" name="Rounded Rectangle 27"/>
            <p:cNvSpPr/>
            <p:nvPr/>
          </p:nvSpPr>
          <p:spPr>
            <a:xfrm>
              <a:off x="9531705"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68865"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結論</a:t>
              </a:r>
            </a:p>
          </p:txBody>
        </p:sp>
        <p:sp>
          <p:nvSpPr>
            <p:cNvPr id="30" name="TextBox 29"/>
            <p:cNvSpPr txBox="1"/>
            <p:nvPr/>
          </p:nvSpPr>
          <p:spPr>
            <a:xfrm>
              <a:off x="9623145"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約100字</a:t>
              </a:r>
            </a:p>
          </p:txBody>
        </p:sp>
        <p:sp>
          <p:nvSpPr>
            <p:cNvPr id="31" name="TextBox 30"/>
            <p:cNvSpPr txBox="1"/>
            <p:nvPr/>
          </p:nvSpPr>
          <p:spPr>
            <a:xfrm>
              <a:off x="9623145"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まとめ＋教員像へ</a:t>
              </a:r>
            </a:p>
          </p:txBody>
        </p:sp>
      </p:grpSp>
      <p:grpSp>
        <p:nvGrpSpPr>
          <p:cNvPr id="35" name="Group 34"/>
          <p:cNvGrpSpPr/>
          <p:nvPr/>
        </p:nvGrpSpPr>
        <p:grpSpPr>
          <a:xfrm>
            <a:off x="548640" y="4572000"/>
            <a:ext cx="11091672" cy="868680"/>
            <a:chOff x="548640" y="4572000"/>
            <a:chExt cx="11091672" cy="868680"/>
          </a:xfrm>
        </p:grpSpPr>
        <p:sp>
          <p:nvSpPr>
            <p:cNvPr id="33" name="Rounded Rectangle 32"/>
            <p:cNvSpPr/>
            <p:nvPr/>
          </p:nvSpPr>
          <p:spPr>
            <a:xfrm>
              <a:off x="548640" y="4572000"/>
              <a:ext cx="11091672" cy="868680"/>
            </a:xfrm>
            <a:prstGeom prst="roundRect">
              <a:avLst>
                <a:gd name="adj" fmla="val 6000"/>
              </a:avLst>
            </a:prstGeom>
            <a:solidFill>
              <a:srgbClr val="FCEFE3"/>
            </a:solidFill>
            <a:ln w="19050">
              <a:solidFill>
                <a:srgbClr val="D978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572000"/>
              <a:ext cx="10634472" cy="86868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D9782D"/>
                  </a:solidFill>
                  <a:latin typeface="游ゴシック"/>
                  <a:ea typeface="游ゴシック"/>
                </a:rPr>
                <a:t>決定：</a:t>
              </a:r>
              <a:r>
                <a:rPr sz="2000" b="1">
                  <a:solidFill>
                    <a:srgbClr val="23301F"/>
                  </a:solidFill>
                  <a:latin typeface="游ゴシック"/>
                  <a:ea typeface="游ゴシック"/>
                </a:rPr>
                <a:t>5段落（要約・主張・本論2・結論）。合計560〜600字をねらう。</a:t>
              </a:r>
            </a:p>
          </p:txBody>
        </p:sp>
      </p:grpSp>
      <p:sp>
        <p:nvSpPr>
          <p:cNvPr id="36" name="Rounded Rectangle 35"/>
          <p:cNvSpPr/>
          <p:nvPr/>
        </p:nvSpPr>
        <p:spPr>
          <a:xfrm>
            <a:off x="548640" y="557784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57784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なぜ要約が先？　</a:t>
            </a:r>
            <a:r>
              <a:rPr sz="1500" b="0">
                <a:solidFill>
                  <a:srgbClr val="FFFFFF"/>
                </a:solidFill>
                <a:latin typeface="游ゴシック"/>
                <a:ea typeface="游ゴシック"/>
              </a:rPr>
              <a:t>設問に「わたし」の考えに「触れた上で」とある。まず要約し、そのあと自分の意見に入る。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お手本｜Q3　各段落を箇条書きで肉付けする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文章ではなく、短いメモでよい。このメモがそのまま答案になる。</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9</a:t>
            </a:r>
          </a:p>
        </p:txBody>
      </p:sp>
      <p:grpSp>
        <p:nvGrpSpPr>
          <p:cNvPr id="23" name="Group 22"/>
          <p:cNvGrpSpPr/>
          <p:nvPr/>
        </p:nvGrpSpPr>
        <p:grpSpPr>
          <a:xfrm>
            <a:off x="548640" y="1783080"/>
            <a:ext cx="11091672" cy="713231"/>
            <a:chOff x="548640" y="1783080"/>
            <a:chExt cx="11091672" cy="713231"/>
          </a:xfrm>
        </p:grpSpPr>
        <p:sp>
          <p:nvSpPr>
            <p:cNvPr id="8" name="Rounded Rectangle 7"/>
            <p:cNvSpPr/>
            <p:nvPr/>
          </p:nvSpPr>
          <p:spPr>
            <a:xfrm>
              <a:off x="548640" y="178308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856231"/>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1874519" y="181965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勉強＝目次づくり・学び方を学ぶ／知識より「学んだ事実」が力／効率は悪くても「考える力」に</a:t>
              </a:r>
            </a:p>
          </p:txBody>
        </p:sp>
      </p:grpSp>
      <p:grpSp>
        <p:nvGrpSpPr>
          <p:cNvPr id="24" name="Group 23"/>
          <p:cNvGrpSpPr/>
          <p:nvPr/>
        </p:nvGrpSpPr>
        <p:grpSpPr>
          <a:xfrm>
            <a:off x="548640" y="2560320"/>
            <a:ext cx="11091672" cy="713231"/>
            <a:chOff x="548640" y="2560320"/>
            <a:chExt cx="11091672" cy="713231"/>
          </a:xfrm>
        </p:grpSpPr>
        <p:sp>
          <p:nvSpPr>
            <p:cNvPr id="11" name="Rounded Rectangle 10"/>
            <p:cNvSpPr/>
            <p:nvPr/>
          </p:nvSpPr>
          <p:spPr>
            <a:xfrm>
              <a:off x="548640" y="256032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263347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主張</a:t>
              </a:r>
            </a:p>
          </p:txBody>
        </p:sp>
        <p:sp>
          <p:nvSpPr>
            <p:cNvPr id="13" name="TextBox 12"/>
            <p:cNvSpPr txBox="1"/>
            <p:nvPr/>
          </p:nvSpPr>
          <p:spPr>
            <a:xfrm>
              <a:off x="1874519" y="259689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学校の勉強の意味＝他者と学び合い、考える力を育てる場（主張）</a:t>
              </a:r>
            </a:p>
          </p:txBody>
        </p:sp>
      </p:grpSp>
      <p:grpSp>
        <p:nvGrpSpPr>
          <p:cNvPr id="25" name="Group 24"/>
          <p:cNvGrpSpPr/>
          <p:nvPr/>
        </p:nvGrpSpPr>
        <p:grpSpPr>
          <a:xfrm>
            <a:off x="548640" y="3337559"/>
            <a:ext cx="11091672" cy="713231"/>
            <a:chOff x="548640" y="3337559"/>
            <a:chExt cx="11091672" cy="713231"/>
          </a:xfrm>
        </p:grpSpPr>
        <p:sp>
          <p:nvSpPr>
            <p:cNvPr id="14" name="Rounded Rectangle 13"/>
            <p:cNvSpPr/>
            <p:nvPr/>
          </p:nvSpPr>
          <p:spPr>
            <a:xfrm>
              <a:off x="548640" y="3337559"/>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410711"/>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6" name="TextBox 15"/>
            <p:cNvSpPr txBox="1"/>
            <p:nvPr/>
          </p:nvSpPr>
          <p:spPr>
            <a:xfrm>
              <a:off x="1874519" y="3374135"/>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理由：家では違う考えに触れにくい／話し合いで視点が広がる・説明する力もつく</a:t>
              </a:r>
            </a:p>
          </p:txBody>
        </p:sp>
      </p:grpSp>
      <p:grpSp>
        <p:nvGrpSpPr>
          <p:cNvPr id="26" name="Group 25"/>
          <p:cNvGrpSpPr/>
          <p:nvPr/>
        </p:nvGrpSpPr>
        <p:grpSpPr>
          <a:xfrm>
            <a:off x="548640" y="4114800"/>
            <a:ext cx="11091672" cy="713231"/>
            <a:chOff x="548640" y="4114800"/>
            <a:chExt cx="11091672" cy="713231"/>
          </a:xfrm>
        </p:grpSpPr>
        <p:sp>
          <p:nvSpPr>
            <p:cNvPr id="17" name="Rounded Rectangle 16"/>
            <p:cNvSpPr/>
            <p:nvPr/>
          </p:nvSpPr>
          <p:spPr>
            <a:xfrm>
              <a:off x="548640" y="411480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418795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9" name="TextBox 18"/>
            <p:cNvSpPr txBox="1"/>
            <p:nvPr/>
          </p:nvSpPr>
          <p:spPr>
            <a:xfrm>
              <a:off x="1874519" y="415137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経験：中学の班の話し合い → 仲間の意見で「そんな見方も」→ 自分の考えを言葉に</a:t>
              </a:r>
            </a:p>
          </p:txBody>
        </p:sp>
      </p:grpSp>
      <p:grpSp>
        <p:nvGrpSpPr>
          <p:cNvPr id="27" name="Group 26"/>
          <p:cNvGrpSpPr/>
          <p:nvPr/>
        </p:nvGrpSpPr>
        <p:grpSpPr>
          <a:xfrm>
            <a:off x="548640" y="4892040"/>
            <a:ext cx="11091672" cy="713231"/>
            <a:chOff x="548640" y="4892040"/>
            <a:chExt cx="11091672" cy="713231"/>
          </a:xfrm>
        </p:grpSpPr>
        <p:sp>
          <p:nvSpPr>
            <p:cNvPr id="20" name="Rounded Rectangle 19"/>
            <p:cNvSpPr/>
            <p:nvPr/>
          </p:nvSpPr>
          <p:spPr>
            <a:xfrm>
              <a:off x="548640" y="489204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496519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2" name="TextBox 21"/>
            <p:cNvSpPr txBox="1"/>
            <p:nvPr/>
          </p:nvSpPr>
          <p:spPr>
            <a:xfrm>
              <a:off x="1874519" y="492861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550" b="0">
                  <a:solidFill>
                    <a:srgbClr val="23301F"/>
                  </a:solidFill>
                  <a:latin typeface="游ゴシック"/>
                  <a:ea typeface="游ゴシック"/>
                </a:rPr>
                <a:t>学校の勉強＝対話で考える力を育てる → 教育学科で学び、学び合う授業をつくる教員に</a:t>
              </a:r>
            </a:p>
          </p:txBody>
        </p:sp>
      </p:grpSp>
      <p:sp>
        <p:nvSpPr>
          <p:cNvPr id="28" name="Rounded Rectangle 27"/>
          <p:cNvSpPr/>
          <p:nvPr/>
        </p:nvSpPr>
        <p:spPr>
          <a:xfrm>
            <a:off x="548640" y="5669280"/>
            <a:ext cx="11091672" cy="54864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669280"/>
            <a:ext cx="10634472" cy="548640"/>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ここまで15分　</a:t>
            </a:r>
            <a:r>
              <a:rPr sz="1800" b="0">
                <a:solidFill>
                  <a:srgbClr val="FFFFFF"/>
                </a:solidFill>
                <a:latin typeface="游ゴシック"/>
                <a:ea typeface="游ゴシック"/>
              </a:rPr>
              <a:t>メモが完成したら、あとは35分で書き写すように文章にするだけ。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テーマ1｜模範解答</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Q3のメモを、そのまま文章にした完成答案</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書く 35分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10</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合計576字（序論128・主張49・本論①159・本論②142・結論98）</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わたし」は、学生のうちに行う勉強は知識の目次をつくる作業であり、勉強のやり方を学ぶことだと考えている。学んだ知識が役に立たなくても、学んだという事実そのものが力になり、学校の勉強は効率が悪くても、人生の危機にも助けになる「考える力」を育てると述べている。</a:t>
            </a:r>
          </a:p>
        </p:txBody>
      </p:sp>
      <p:sp>
        <p:nvSpPr>
          <p:cNvPr id="12" name="Rounded Rectangle 11"/>
          <p:cNvSpPr/>
          <p:nvPr/>
        </p:nvSpPr>
        <p:spPr>
          <a:xfrm>
            <a:off x="704088" y="267119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主張</a:t>
            </a:r>
          </a:p>
        </p:txBody>
      </p:sp>
      <p:sp>
        <p:nvSpPr>
          <p:cNvPr id="13" name="TextBox 12"/>
          <p:cNvSpPr txBox="1"/>
          <p:nvPr/>
        </p:nvSpPr>
        <p:spPr>
          <a:xfrm>
            <a:off x="1783080" y="2634615"/>
            <a:ext cx="9674352" cy="457200"/>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では、学校の勉強の意味とは何か。私は、他者と学び合うことで、考える力を育てられる点にあると考える。</a:t>
            </a:r>
          </a:p>
        </p:txBody>
      </p:sp>
      <p:sp>
        <p:nvSpPr>
          <p:cNvPr id="14" name="Rounded Rectangle 13"/>
          <p:cNvSpPr/>
          <p:nvPr/>
        </p:nvSpPr>
        <p:spPr>
          <a:xfrm>
            <a:off x="704088" y="3192399"/>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5" name="TextBox 14"/>
          <p:cNvSpPr txBox="1"/>
          <p:nvPr/>
        </p:nvSpPr>
        <p:spPr>
          <a:xfrm>
            <a:off x="1783080" y="3155823"/>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なぜなら、学校では同じ問題について、さまざまな考えを持つ仲間と意見を交わせるからである。家で一人で勉強していても、自分と違う考えに触れる機会は少ない。また、話し合いでは、自分の考えを相手に伝わるように説明する力も求められる。授業の中で他者の意見を聞き、自分の考えと比べることで、考えはより深く、確かなものになっていく。</a:t>
            </a:r>
          </a:p>
        </p:txBody>
      </p:sp>
      <p:sp>
        <p:nvSpPr>
          <p:cNvPr id="16" name="Rounded Rectangle 15"/>
          <p:cNvSpPr/>
          <p:nvPr/>
        </p:nvSpPr>
        <p:spPr>
          <a:xfrm>
            <a:off x="704088" y="420281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7" name="TextBox 16"/>
          <p:cNvSpPr txBox="1"/>
          <p:nvPr/>
        </p:nvSpPr>
        <p:spPr>
          <a:xfrm>
            <a:off x="1783080" y="4166235"/>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私にもそのような経験がある。中学生の頃、班で話し合う授業で、私は最初ほとんど意見を持てなかった。しかし、仲間の意見を聞くうちに「そのような見方もあるのか」と気づき、自分の考えを言葉にできるようになった。一人では得られなかったこの経験こそ、「わたし」の言う考える力の芽生えだったと思う。</a:t>
            </a:r>
          </a:p>
        </p:txBody>
      </p:sp>
      <p:sp>
        <p:nvSpPr>
          <p:cNvPr id="18" name="Rounded Rectangle 17"/>
          <p:cNvSpPr/>
          <p:nvPr/>
        </p:nvSpPr>
        <p:spPr>
          <a:xfrm>
            <a:off x="704088" y="4990338"/>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9" name="TextBox 18"/>
          <p:cNvSpPr txBox="1"/>
          <p:nvPr/>
        </p:nvSpPr>
        <p:spPr>
          <a:xfrm>
            <a:off x="1783080" y="4953762"/>
            <a:ext cx="9674352" cy="50063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以上より、学校の勉強の意味は、知識を得ることに加え、他者との対話を通して考える力を育てる点にある。私は教育学科で学び、生徒同士が学び合い、一人ひとりが考えを深められる授業をつくれる教員になりたい。</a:t>
            </a:r>
          </a:p>
        </p:txBody>
      </p:sp>
      <p:sp>
        <p:nvSpPr>
          <p:cNvPr id="20" name="Rounded Rectangle 19"/>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「わたし」の考えを要約した　✓ 経験で主張を支えた　✓ 教員像につなげた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テーマ2｜知識は伝わるか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令和7年度・AO選抜Ⅲ期（1月31日実施）の過去問／600字以内</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11</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02317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設問1：筆者の主張を200字でまとめなさい。設問2：筆者の主張に対するあなたの意見を、本文の内容にも触れながら400字で書きなさい。</a:t>
            </a:r>
          </a:p>
        </p:txBody>
      </p:sp>
      <p:sp>
        <p:nvSpPr>
          <p:cNvPr id="11" name="TextBox 10"/>
          <p:cNvSpPr txBox="1"/>
          <p:nvPr/>
        </p:nvSpPr>
        <p:spPr>
          <a:xfrm>
            <a:off x="777240" y="3373183"/>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2C5F2D"/>
                </a:solidFill>
                <a:latin typeface="游ゴシック"/>
                <a:ea typeface="游ゴシック"/>
              </a:rPr>
              <a:t>本文のキーワード（鈴木宏昭『私たちはどう学んでいるのか』）</a:t>
            </a:r>
          </a:p>
        </p:txBody>
      </p:sp>
      <p:sp>
        <p:nvSpPr>
          <p:cNvPr id="12" name="Rounded Rectangle 11"/>
          <p:cNvSpPr/>
          <p:nvPr/>
        </p:nvSpPr>
        <p:spPr>
          <a:xfrm>
            <a:off x="777240" y="3812095"/>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情報・記憶≠知識</a:t>
            </a:r>
          </a:p>
        </p:txBody>
      </p:sp>
      <p:sp>
        <p:nvSpPr>
          <p:cNvPr id="13" name="Rounded Rectangle 12"/>
          <p:cNvSpPr/>
          <p:nvPr/>
        </p:nvSpPr>
        <p:spPr>
          <a:xfrm>
            <a:off x="3931920" y="3812095"/>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一般性</a:t>
            </a:r>
          </a:p>
        </p:txBody>
      </p:sp>
      <p:sp>
        <p:nvSpPr>
          <p:cNvPr id="14" name="Rounded Rectangle 13"/>
          <p:cNvSpPr/>
          <p:nvPr/>
        </p:nvSpPr>
        <p:spPr>
          <a:xfrm>
            <a:off x="777240" y="4379023"/>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関係性</a:t>
            </a:r>
          </a:p>
        </p:txBody>
      </p:sp>
      <p:sp>
        <p:nvSpPr>
          <p:cNvPr id="15" name="Rounded Rectangle 14"/>
          <p:cNvSpPr/>
          <p:nvPr/>
        </p:nvSpPr>
        <p:spPr>
          <a:xfrm>
            <a:off x="3931920" y="4379023"/>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場面応答性</a:t>
            </a:r>
          </a:p>
        </p:txBody>
      </p:sp>
      <p:sp>
        <p:nvSpPr>
          <p:cNvPr id="16" name="Rounded Rectangle 15"/>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8" name="TextBox 17"/>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設問が2つ：200字の要約＋400字の意見</a:t>
            </a:r>
          </a:p>
          <a:p>
            <a:pPr algn="l">
              <a:lnSpc>
                <a:spcPct val="115000"/>
              </a:lnSpc>
              <a:spcAft>
                <a:spcPts val="600"/>
              </a:spcAft>
            </a:pPr>
            <a:r>
              <a:rPr sz="1500" b="0">
                <a:solidFill>
                  <a:srgbClr val="23301F"/>
                </a:solidFill>
                <a:latin typeface="游ゴシック"/>
                <a:ea typeface="游ゴシック"/>
              </a:rPr>
              <a:t>② 「知識は伝わらない」＝筆者の意外な主張をつかむ</a:t>
            </a:r>
          </a:p>
          <a:p>
            <a:pPr algn="l">
              <a:lnSpc>
                <a:spcPct val="115000"/>
              </a:lnSpc>
              <a:spcAft>
                <a:spcPts val="600"/>
              </a:spcAft>
            </a:pPr>
            <a:r>
              <a:rPr sz="1500" b="0">
                <a:solidFill>
                  <a:srgbClr val="23301F"/>
                </a:solidFill>
                <a:latin typeface="游ゴシック"/>
                <a:ea typeface="游ゴシック"/>
              </a:rPr>
              <a:t>③ 有用な知識の3つの性質（一般性・関係性・場面応答性）</a:t>
            </a:r>
          </a:p>
          <a:p>
            <a:pPr algn="l">
              <a:lnSpc>
                <a:spcPct val="115000"/>
              </a:lnSpc>
              <a:spcAft>
                <a:spcPts val="0"/>
              </a:spcAft>
            </a:pPr>
            <a:r>
              <a:rPr sz="1500" b="0">
                <a:solidFill>
                  <a:srgbClr val="23301F"/>
                </a:solidFill>
                <a:latin typeface="游ゴシック"/>
                <a:ea typeface="游ゴシック"/>
              </a:rPr>
              <a:t>④ 「本文の内容にも触れながら」＝意見の中でも本文を使う</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テーマ2｜ワークシート ①</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知識は伝わるか　― ノート（解答用紙）に書き出そう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12</a:t>
            </a:r>
          </a:p>
        </p:txBody>
      </p:sp>
      <p:sp>
        <p:nvSpPr>
          <p:cNvPr id="8" name="Rounded Rectangle 7"/>
          <p:cNvSpPr/>
          <p:nvPr/>
        </p:nvSpPr>
        <p:spPr>
          <a:xfrm>
            <a:off x="54864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Q1</a:t>
            </a:r>
          </a:p>
        </p:txBody>
      </p:sp>
      <p:sp>
        <p:nvSpPr>
          <p:cNvPr id="9" name="TextBox 8"/>
          <p:cNvSpPr txBox="1"/>
          <p:nvPr/>
        </p:nvSpPr>
        <p:spPr>
          <a:xfrm>
            <a:off x="146304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この問題・資料の「要点」は何か</a:t>
            </a:r>
          </a:p>
        </p:txBody>
      </p:sp>
      <p:sp>
        <p:nvSpPr>
          <p:cNvPr id="10" name="Rounded Rectangle 9"/>
          <p:cNvSpPr/>
          <p:nvPr/>
        </p:nvSpPr>
        <p:spPr>
          <a:xfrm>
            <a:off x="54864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・設問はいくつ？ それぞれの字数は？</a:t>
            </a:r>
          </a:p>
          <a:p>
            <a:pPr algn="l">
              <a:lnSpc>
                <a:spcPct val="115000"/>
              </a:lnSpc>
              <a:spcAft>
                <a:spcPts val="300"/>
              </a:spcAft>
            </a:pPr>
            <a:r>
              <a:rPr sz="1500" b="0">
                <a:solidFill>
                  <a:srgbClr val="23301F"/>
                </a:solidFill>
                <a:latin typeface="游ゴシック"/>
                <a:ea typeface="游ゴシック"/>
              </a:rPr>
              <a:t>・筆者の意外な主張を一言でいうと？</a:t>
            </a:r>
          </a:p>
          <a:p>
            <a:pPr algn="l">
              <a:lnSpc>
                <a:spcPct val="115000"/>
              </a:lnSpc>
              <a:spcAft>
                <a:spcPts val="0"/>
              </a:spcAft>
            </a:pPr>
            <a:r>
              <a:rPr sz="1500" b="0">
                <a:solidFill>
                  <a:srgbClr val="23301F"/>
                </a:solidFill>
                <a:latin typeface="游ゴシック"/>
                <a:ea typeface="游ゴシック"/>
              </a:rPr>
              <a:t>・要約に必ず入れるキーワードは？</a:t>
            </a:r>
          </a:p>
        </p:txBody>
      </p:sp>
      <p:sp>
        <p:nvSpPr>
          <p:cNvPr id="12" name="Rounded Rectangle 11"/>
          <p:cNvSpPr/>
          <p:nvPr/>
        </p:nvSpPr>
        <p:spPr>
          <a:xfrm>
            <a:off x="54864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14" name="Rounded Rectangle 13"/>
          <p:cNvSpPr/>
          <p:nvPr/>
        </p:nvSpPr>
        <p:spPr>
          <a:xfrm>
            <a:off x="617220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Q2</a:t>
            </a:r>
          </a:p>
        </p:txBody>
      </p:sp>
      <p:sp>
        <p:nvSpPr>
          <p:cNvPr id="15" name="TextBox 14"/>
          <p:cNvSpPr txBox="1"/>
          <p:nvPr/>
        </p:nvSpPr>
        <p:spPr>
          <a:xfrm>
            <a:off x="708660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全体を何段落で書くか</a:t>
            </a:r>
          </a:p>
        </p:txBody>
      </p:sp>
      <p:sp>
        <p:nvSpPr>
          <p:cNvPr id="16" name="Rounded Rectangle 15"/>
          <p:cNvSpPr/>
          <p:nvPr/>
        </p:nvSpPr>
        <p:spPr>
          <a:xfrm>
            <a:off x="617220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・設問1と設問2を何段落に分ける？</a:t>
            </a:r>
          </a:p>
          <a:p>
            <a:pPr algn="l">
              <a:lnSpc>
                <a:spcPct val="115000"/>
              </a:lnSpc>
              <a:spcAft>
                <a:spcPts val="300"/>
              </a:spcAft>
            </a:pPr>
            <a:r>
              <a:rPr sz="1500" b="0">
                <a:solidFill>
                  <a:srgbClr val="23301F"/>
                </a:solidFill>
                <a:latin typeface="游ゴシック"/>
                <a:ea typeface="游ゴシック"/>
              </a:rPr>
              <a:t>・体験と本文のどの性質を結びつける？</a:t>
            </a:r>
          </a:p>
          <a:p>
            <a:pPr algn="l">
              <a:lnSpc>
                <a:spcPct val="115000"/>
              </a:lnSpc>
              <a:spcAft>
                <a:spcPts val="0"/>
              </a:spcAft>
            </a:pPr>
            <a:r>
              <a:rPr sz="1500" b="0">
                <a:solidFill>
                  <a:srgbClr val="23301F"/>
                </a:solidFill>
                <a:latin typeface="游ゴシック"/>
                <a:ea typeface="游ゴシック"/>
              </a:rPr>
              <a:t>・設問2が400字を超えない配分は？</a:t>
            </a:r>
          </a:p>
        </p:txBody>
      </p:sp>
      <p:sp>
        <p:nvSpPr>
          <p:cNvPr id="18" name="Rounded Rectangle 17"/>
          <p:cNvSpPr/>
          <p:nvPr/>
        </p:nvSpPr>
        <p:spPr>
          <a:xfrm>
            <a:off x="617220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20" name="Rounded Rectangle 19"/>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目安　</a:t>
            </a:r>
            <a:r>
              <a:rPr sz="1800" b="0">
                <a:solidFill>
                  <a:srgbClr val="FFFFFF"/>
                </a:solidFill>
                <a:latin typeface="游ゴシック"/>
                <a:ea typeface="游ゴシック"/>
              </a:rPr>
              <a:t>Q1・Q2で3〜4分。迷ったら、問われていることの数＝本論の段落数で決める。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テーマ2｜ワークシート ②</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　各段落に書く内容を、箇条書きで（文章にしなくてよい）</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13</a:t>
            </a:r>
          </a:p>
        </p:txBody>
      </p:sp>
      <p:sp>
        <p:nvSpPr>
          <p:cNvPr id="8" name="Rounded Rectangle 7"/>
          <p:cNvSpPr/>
          <p:nvPr/>
        </p:nvSpPr>
        <p:spPr>
          <a:xfrm>
            <a:off x="548640" y="1783080"/>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933955"/>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設問1</a:t>
            </a:r>
          </a:p>
        </p:txBody>
      </p:sp>
      <p:sp>
        <p:nvSpPr>
          <p:cNvPr id="10" name="TextBox 9"/>
          <p:cNvSpPr txBox="1"/>
          <p:nvPr/>
        </p:nvSpPr>
        <p:spPr>
          <a:xfrm>
            <a:off x="2148840" y="1801368"/>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筆者の主張を3文で：情報と知識の違い／3つの性質／考える作業</a:t>
            </a:r>
          </a:p>
        </p:txBody>
      </p:sp>
      <p:sp>
        <p:nvSpPr>
          <p:cNvPr id="11" name="Rounded Rectangle 10"/>
          <p:cNvSpPr/>
          <p:nvPr/>
        </p:nvSpPr>
        <p:spPr>
          <a:xfrm>
            <a:off x="6446520" y="1847088"/>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542032"/>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692908"/>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設問2①</a:t>
            </a:r>
          </a:p>
        </p:txBody>
      </p:sp>
      <p:sp>
        <p:nvSpPr>
          <p:cNvPr id="14" name="TextBox 13"/>
          <p:cNvSpPr txBox="1"/>
          <p:nvPr/>
        </p:nvSpPr>
        <p:spPr>
          <a:xfrm>
            <a:off x="2148840" y="2560320"/>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筆者の主張に賛成？反対？ 理由を一文で</a:t>
            </a:r>
          </a:p>
        </p:txBody>
      </p:sp>
      <p:sp>
        <p:nvSpPr>
          <p:cNvPr id="15" name="Rounded Rectangle 14"/>
          <p:cNvSpPr/>
          <p:nvPr/>
        </p:nvSpPr>
        <p:spPr>
          <a:xfrm>
            <a:off x="6446520" y="2606039"/>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300984"/>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451860"/>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設問2②</a:t>
            </a:r>
          </a:p>
        </p:txBody>
      </p:sp>
      <p:sp>
        <p:nvSpPr>
          <p:cNvPr id="18" name="TextBox 17"/>
          <p:cNvSpPr txBox="1"/>
          <p:nvPr/>
        </p:nvSpPr>
        <p:spPr>
          <a:xfrm>
            <a:off x="2148840" y="3319272"/>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自分の経験は？ 本文の3つの性質と結びつけると？</a:t>
            </a:r>
          </a:p>
        </p:txBody>
      </p:sp>
      <p:sp>
        <p:nvSpPr>
          <p:cNvPr id="19" name="Rounded Rectangle 18"/>
          <p:cNvSpPr/>
          <p:nvPr/>
        </p:nvSpPr>
        <p:spPr>
          <a:xfrm>
            <a:off x="6446520" y="3364991"/>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059935"/>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4210812"/>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設問2③</a:t>
            </a:r>
          </a:p>
        </p:txBody>
      </p:sp>
      <p:sp>
        <p:nvSpPr>
          <p:cNvPr id="22" name="TextBox 21"/>
          <p:cNvSpPr txBox="1"/>
          <p:nvPr/>
        </p:nvSpPr>
        <p:spPr>
          <a:xfrm>
            <a:off x="2148840" y="4078223"/>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まとめ＋教員としてどう教えたいか</a:t>
            </a:r>
          </a:p>
        </p:txBody>
      </p:sp>
      <p:sp>
        <p:nvSpPr>
          <p:cNvPr id="23" name="Rounded Rectangle 22"/>
          <p:cNvSpPr/>
          <p:nvPr/>
        </p:nvSpPr>
        <p:spPr>
          <a:xfrm>
            <a:off x="6446520" y="4123944"/>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5760720"/>
            <a:ext cx="11091672" cy="53035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760720"/>
            <a:ext cx="10634472" cy="530352"/>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メモができたら　</a:t>
            </a:r>
            <a:r>
              <a:rPr sz="1800" b="0">
                <a:solidFill>
                  <a:srgbClr val="FFFFFF"/>
                </a:solidFill>
                <a:latin typeface="游ゴシック"/>
                <a:ea typeface="游ゴシック"/>
              </a:rPr>
              <a:t>続く35分で、このメモどおりに一気に書く → 最後の10分で見直す。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テーマ2｜模範メモ</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知識は伝わるか　― 自分のメモと見比べよう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14</a:t>
            </a:r>
          </a:p>
        </p:txBody>
      </p:sp>
      <p:sp>
        <p:nvSpPr>
          <p:cNvPr id="8" name="Rounded Rectangle 7"/>
          <p:cNvSpPr/>
          <p:nvPr/>
        </p:nvSpPr>
        <p:spPr>
          <a:xfrm>
            <a:off x="548640" y="1783080"/>
            <a:ext cx="457200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206240" cy="3657600"/>
          </a:xfrm>
          <a:prstGeom prst="rect">
            <a:avLst/>
          </a:prstGeom>
          <a:noFill/>
        </p:spPr>
        <p:txBody>
          <a:bodyPr wrap="square" lIns="45720" rIns="45720" tIns="27432" bIns="27432" anchor="t">
            <a:spAutoFit/>
            <a:spAutoFit/>
          </a:bodyPr>
          <a:lstStyle/>
          <a:p>
            <a:pPr algn="l">
              <a:lnSpc>
                <a:spcPct val="115000"/>
              </a:lnSpc>
              <a:spcAft>
                <a:spcPts val="300"/>
              </a:spcAft>
            </a:pPr>
            <a:r>
              <a:rPr sz="1700" b="1">
                <a:solidFill>
                  <a:srgbClr val="D9782D"/>
                </a:solidFill>
                <a:latin typeface="游ゴシック"/>
                <a:ea typeface="游ゴシック"/>
              </a:rPr>
              <a:t>Q1　要点</a:t>
            </a:r>
          </a:p>
          <a:p>
            <a:pPr algn="l">
              <a:lnSpc>
                <a:spcPct val="115000"/>
              </a:lnSpc>
              <a:spcAft>
                <a:spcPts val="300"/>
              </a:spcAft>
            </a:pPr>
            <a:r>
              <a:rPr sz="1500" b="0">
                <a:solidFill>
                  <a:srgbClr val="23301F"/>
                </a:solidFill>
                <a:latin typeface="游ゴシック"/>
                <a:ea typeface="游ゴシック"/>
              </a:rPr>
              <a:t>・設問は2つ：①要約200字 ②意見400字</a:t>
            </a:r>
          </a:p>
          <a:p>
            <a:pPr algn="l">
              <a:lnSpc>
                <a:spcPct val="115000"/>
              </a:lnSpc>
              <a:spcAft>
                <a:spcPts val="300"/>
              </a:spcAft>
            </a:pPr>
            <a:r>
              <a:rPr sz="1500" b="0">
                <a:solidFill>
                  <a:srgbClr val="23301F"/>
                </a:solidFill>
                <a:latin typeface="游ゴシック"/>
                <a:ea typeface="游ゴシック"/>
              </a:rPr>
              <a:t>・要約には「情報・記憶」と「3つの性質」を必ず入れる</a:t>
            </a:r>
          </a:p>
          <a:p>
            <a:pPr algn="l">
              <a:lnSpc>
                <a:spcPct val="115000"/>
              </a:lnSpc>
              <a:spcAft>
                <a:spcPts val="300"/>
              </a:spcAft>
            </a:pPr>
            <a:r>
              <a:rPr sz="1500" b="0">
                <a:solidFill>
                  <a:srgbClr val="23301F"/>
                </a:solidFill>
                <a:latin typeface="游ゴシック"/>
                <a:ea typeface="游ゴシック"/>
              </a:rPr>
              <a:t>・一言で：知識は自分で考えてつくるもの</a:t>
            </a:r>
          </a:p>
          <a:p>
            <a:pPr algn="l">
              <a:lnSpc>
                <a:spcPct val="115000"/>
              </a:lnSpc>
              <a:spcAft>
                <a:spcPts val="300"/>
              </a:spcAft>
            </a:pPr>
            <a:r>
              <a:rPr sz="1700" b="1">
                <a:solidFill>
                  <a:srgbClr val="D9782D"/>
                </a:solidFill>
                <a:latin typeface="游ゴシック"/>
                <a:ea typeface="游ゴシック"/>
              </a:rPr>
              <a:t>Q2　段落構成</a:t>
            </a:r>
          </a:p>
          <a:p>
            <a:pPr algn="l">
              <a:lnSpc>
                <a:spcPct val="115000"/>
              </a:lnSpc>
              <a:spcAft>
                <a:spcPts val="300"/>
              </a:spcAft>
            </a:pPr>
            <a:r>
              <a:rPr sz="1500" b="0">
                <a:solidFill>
                  <a:srgbClr val="23301F"/>
                </a:solidFill>
                <a:latin typeface="游ゴシック"/>
                <a:ea typeface="游ゴシック"/>
              </a:rPr>
              <a:t>・設問1は1段落・約190字</a:t>
            </a:r>
          </a:p>
          <a:p>
            <a:pPr algn="l">
              <a:lnSpc>
                <a:spcPct val="115000"/>
              </a:lnSpc>
              <a:spcAft>
                <a:spcPts val="300"/>
              </a:spcAft>
            </a:pPr>
            <a:r>
              <a:rPr sz="1500" b="0">
                <a:solidFill>
                  <a:srgbClr val="23301F"/>
                </a:solidFill>
                <a:latin typeface="游ゴシック"/>
                <a:ea typeface="游ゴシック"/>
              </a:rPr>
              <a:t>・設問2は3段落：主張 → 体験 → 結論</a:t>
            </a:r>
          </a:p>
          <a:p>
            <a:pPr algn="l">
              <a:lnSpc>
                <a:spcPct val="115000"/>
              </a:lnSpc>
              <a:spcAft>
                <a:spcPts val="0"/>
              </a:spcAft>
            </a:pPr>
            <a:r>
              <a:rPr sz="1500" b="0">
                <a:solidFill>
                  <a:srgbClr val="23301F"/>
                </a:solidFill>
                <a:latin typeface="游ゴシック"/>
                <a:ea typeface="游ゴシック"/>
              </a:rPr>
              <a:t>・設問2は約400字を超えないよう配分</a:t>
            </a:r>
          </a:p>
        </p:txBody>
      </p:sp>
      <p:sp>
        <p:nvSpPr>
          <p:cNvPr id="10" name="TextBox 9"/>
          <p:cNvSpPr txBox="1"/>
          <p:nvPr/>
        </p:nvSpPr>
        <p:spPr>
          <a:xfrm>
            <a:off x="5349240" y="1783080"/>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700" b="1">
                <a:solidFill>
                  <a:srgbClr val="D9782D"/>
                </a:solidFill>
                <a:latin typeface="游ゴシック"/>
                <a:ea typeface="游ゴシック"/>
              </a:rPr>
              <a:t>Q3　各段落のメモ</a:t>
            </a:r>
          </a:p>
        </p:txBody>
      </p:sp>
      <p:sp>
        <p:nvSpPr>
          <p:cNvPr id="11" name="Rounded Rectangle 10"/>
          <p:cNvSpPr/>
          <p:nvPr/>
        </p:nvSpPr>
        <p:spPr>
          <a:xfrm>
            <a:off x="5349240" y="2194560"/>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58968" y="2267712"/>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設問1</a:t>
            </a:r>
          </a:p>
        </p:txBody>
      </p:sp>
      <p:sp>
        <p:nvSpPr>
          <p:cNvPr id="13" name="TextBox 12"/>
          <p:cNvSpPr txBox="1"/>
          <p:nvPr/>
        </p:nvSpPr>
        <p:spPr>
          <a:xfrm>
            <a:off x="6583679" y="2231136"/>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知識は受け渡せない／本・先生が伝えるのは情報・記憶／一般性・関係性・場面応答性／考える作業で知識に</a:t>
            </a:r>
          </a:p>
        </p:txBody>
      </p:sp>
      <p:sp>
        <p:nvSpPr>
          <p:cNvPr id="14" name="Rounded Rectangle 13"/>
          <p:cNvSpPr/>
          <p:nvPr/>
        </p:nvSpPr>
        <p:spPr>
          <a:xfrm>
            <a:off x="5349240" y="3047238"/>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58968" y="3120390"/>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設問2①</a:t>
            </a:r>
          </a:p>
        </p:txBody>
      </p:sp>
      <p:sp>
        <p:nvSpPr>
          <p:cNvPr id="16" name="TextBox 15"/>
          <p:cNvSpPr txBox="1"/>
          <p:nvPr/>
        </p:nvSpPr>
        <p:spPr>
          <a:xfrm>
            <a:off x="6583679" y="3083814"/>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賛成：知識は与えられるものでなく、自分で考えて身につく（主張）</a:t>
            </a:r>
          </a:p>
        </p:txBody>
      </p:sp>
      <p:sp>
        <p:nvSpPr>
          <p:cNvPr id="17" name="Rounded Rectangle 16"/>
          <p:cNvSpPr/>
          <p:nvPr/>
        </p:nvSpPr>
        <p:spPr>
          <a:xfrm>
            <a:off x="5349240" y="3899915"/>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58968" y="3973068"/>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設問2②</a:t>
            </a:r>
          </a:p>
        </p:txBody>
      </p:sp>
      <p:sp>
        <p:nvSpPr>
          <p:cNvPr id="19" name="TextBox 18"/>
          <p:cNvSpPr txBox="1"/>
          <p:nvPr/>
        </p:nvSpPr>
        <p:spPr>
          <a:xfrm>
            <a:off x="6583679" y="3936491"/>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体験：年号の暗記だけ → 説明できない（関係性なし）／原因・結果をつなげる → 使える知識に</a:t>
            </a:r>
          </a:p>
        </p:txBody>
      </p:sp>
      <p:sp>
        <p:nvSpPr>
          <p:cNvPr id="20" name="Rounded Rectangle 19"/>
          <p:cNvSpPr/>
          <p:nvPr/>
        </p:nvSpPr>
        <p:spPr>
          <a:xfrm>
            <a:off x="5349240" y="4752594"/>
            <a:ext cx="6291072" cy="779526"/>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58968" y="4825746"/>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設問2③</a:t>
            </a:r>
          </a:p>
        </p:txBody>
      </p:sp>
      <p:sp>
        <p:nvSpPr>
          <p:cNvPr id="22" name="TextBox 21"/>
          <p:cNvSpPr txBox="1"/>
          <p:nvPr/>
        </p:nvSpPr>
        <p:spPr>
          <a:xfrm>
            <a:off x="6583679" y="4789170"/>
            <a:ext cx="4946904" cy="724662"/>
          </a:xfrm>
          <a:prstGeom prst="rect">
            <a:avLst/>
          </a:prstGeom>
          <a:noFill/>
        </p:spPr>
        <p:txBody>
          <a:bodyPr wrap="square" lIns="45720" rIns="45720" tIns="27432" bIns="27432" anchor="t">
            <a:spAutoFit/>
            <a:spAutoFit/>
          </a:bodyPr>
          <a:lstStyle/>
          <a:p>
            <a:pPr algn="l">
              <a:lnSpc>
                <a:spcPct val="115000"/>
              </a:lnSpc>
              <a:spcAft>
                <a:spcPts val="0"/>
              </a:spcAft>
            </a:pPr>
            <a:r>
              <a:rPr sz="1400" b="0">
                <a:solidFill>
                  <a:srgbClr val="23301F"/>
                </a:solidFill>
                <a:latin typeface="游ゴシック"/>
                <a:ea typeface="游ゴシック"/>
              </a:rPr>
              <a:t>教える側は考える場面をつくる → 教育学科で学び、生徒が考え知識を使える授業をつくる教員に</a:t>
            </a:r>
          </a:p>
        </p:txBody>
      </p:sp>
      <p:sp>
        <p:nvSpPr>
          <p:cNvPr id="23" name="Rounded Rectangle 22"/>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チェック　</a:t>
            </a:r>
            <a:r>
              <a:rPr sz="1800" b="0">
                <a:solidFill>
                  <a:srgbClr val="FFFFFF"/>
                </a:solidFill>
                <a:latin typeface="游ゴシック"/>
                <a:ea typeface="游ゴシック"/>
              </a:rPr>
              <a:t>問われていることに全部答えているか。段落の役割が重なっていないか。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テーマ2｜模範解答</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設問1（要約200字）＋設問2（意見400字）</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15</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合計588字（設問1：190・設問2①：101・設問2②：208・設問2③：89）</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設問1</a:t>
            </a:r>
          </a:p>
        </p:txBody>
      </p:sp>
      <p:sp>
        <p:nvSpPr>
          <p:cNvPr id="11" name="TextBox 10"/>
          <p:cNvSpPr txBox="1"/>
          <p:nvPr/>
        </p:nvSpPr>
        <p:spPr>
          <a:xfrm>
            <a:off x="1783080" y="1847088"/>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筆者は、知識は先生や本から受け渡しできるという一般的な考えを否定している。本や先生が伝えるのは情報であり、覚えたとしても記憶にとどまる。有用な知識には、いろいろな場面で使える一般性、他の知識とつながる関係性、必要な場面で使える場面応答性の三つが必要である。伝えられた事柄の範囲や他の知識との関係、使う場面を自分で考える作業をしない限り、それは知識にはならないと筆者は主張している。</a:t>
            </a:r>
          </a:p>
        </p:txBody>
      </p:sp>
      <p:sp>
        <p:nvSpPr>
          <p:cNvPr id="12" name="Rounded Rectangle 11"/>
          <p:cNvSpPr/>
          <p:nvPr/>
        </p:nvSpPr>
        <p:spPr>
          <a:xfrm>
            <a:off x="704088" y="2894076"/>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設問2①</a:t>
            </a:r>
          </a:p>
        </p:txBody>
      </p:sp>
      <p:sp>
        <p:nvSpPr>
          <p:cNvPr id="13" name="TextBox 12"/>
          <p:cNvSpPr txBox="1"/>
          <p:nvPr/>
        </p:nvSpPr>
        <p:spPr>
          <a:xfrm>
            <a:off x="1783080" y="2857500"/>
            <a:ext cx="9674352" cy="50063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私は、この筆者の主張に賛成である。知識は与えられるものではなく、学ぶ人が自分で考えることによって初めて身につくものだと考えるからだ。教科書を読んだり授業を聞いたりするだけでは、分かったことにはならない。</a:t>
            </a:r>
          </a:p>
        </p:txBody>
      </p:sp>
      <p:sp>
        <p:nvSpPr>
          <p:cNvPr id="14" name="Rounded Rectangle 13"/>
          <p:cNvSpPr/>
          <p:nvPr/>
        </p:nvSpPr>
        <p:spPr>
          <a:xfrm>
            <a:off x="704088" y="3458718"/>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設問2②</a:t>
            </a:r>
          </a:p>
        </p:txBody>
      </p:sp>
      <p:sp>
        <p:nvSpPr>
          <p:cNvPr id="15" name="TextBox 14"/>
          <p:cNvSpPr txBox="1"/>
          <p:nvPr/>
        </p:nvSpPr>
        <p:spPr>
          <a:xfrm>
            <a:off x="1783080" y="3422142"/>
            <a:ext cx="9674352" cy="116928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例えば、歴史の年号を暗記してテストで点を取れても、その出来事がなぜ起きたのか説明できないことがある。これは本文の言う「記憶」にとどまり、他の知識との関係性がないからだ。しかし、出来事の原因や結果を調べ、前後の時代とつなげて考えると、別の時代を学ぶときにも使える知識になる。考える作業によって、記憶が知識に変わるのである。出来事のつながりを理解した単元は、時間がたっても忘れにくく、新しい問題を考える手がかりにもなる。</a:t>
            </a:r>
          </a:p>
        </p:txBody>
      </p:sp>
      <p:sp>
        <p:nvSpPr>
          <p:cNvPr id="16" name="Rounded Rectangle 15"/>
          <p:cNvSpPr/>
          <p:nvPr/>
        </p:nvSpPr>
        <p:spPr>
          <a:xfrm>
            <a:off x="704088" y="4692015"/>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設問2③</a:t>
            </a:r>
          </a:p>
        </p:txBody>
      </p:sp>
      <p:sp>
        <p:nvSpPr>
          <p:cNvPr id="17" name="TextBox 16"/>
          <p:cNvSpPr txBox="1"/>
          <p:nvPr/>
        </p:nvSpPr>
        <p:spPr>
          <a:xfrm>
            <a:off x="1783080" y="4655439"/>
            <a:ext cx="9674352" cy="50063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以上より、教える側は情報を伝えるだけでなく、学ぶ人が考える場面をつくることが大切である。私は教育学科で学び、生徒が自分で考え、知識を使えるようになる授業をつくれる教員になりたい。</a:t>
            </a:r>
          </a:p>
        </p:txBody>
      </p:sp>
      <p:sp>
        <p:nvSpPr>
          <p:cNvPr id="18" name="Rounded Rectangle 17"/>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要約に3つの性質を入れた　✓ 本文の言葉で体験を説明した　✓ 教員像につなげた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FINISH ｜ 最後の見直し</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見直しチェックリストとまとめ</a:t>
            </a:r>
          </a:p>
        </p:txBody>
      </p:sp>
      <p:sp>
        <p:nvSpPr>
          <p:cNvPr id="4" name="Rounded Rectangle 3"/>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見直す 10分</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C3進学アカデミー　国士舘大学 文学部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16</a:t>
            </a:r>
          </a:p>
        </p:txBody>
      </p:sp>
      <p:sp>
        <p:nvSpPr>
          <p:cNvPr id="7" name="Rounded Rectangle 6"/>
          <p:cNvSpPr/>
          <p:nvPr/>
        </p:nvSpPr>
        <p:spPr>
          <a:xfrm>
            <a:off x="548640" y="1600200"/>
            <a:ext cx="6035040" cy="3977639"/>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5669280" cy="365760"/>
          </a:xfrm>
          <a:prstGeom prst="rect">
            <a:avLst/>
          </a:prstGeom>
          <a:noFill/>
        </p:spPr>
        <p:txBody>
          <a:bodyPr wrap="square" lIns="45720" rIns="45720" tIns="27432" bIns="27432" anchor="t">
            <a:spAutoFit/>
            <a:spAutoFit/>
          </a:bodyPr>
          <a:lstStyle/>
          <a:p>
            <a:pPr algn="l">
              <a:lnSpc>
                <a:spcPct val="115000"/>
              </a:lnSpc>
              <a:spcAft>
                <a:spcPts val="0"/>
              </a:spcAft>
            </a:pPr>
            <a:r>
              <a:rPr sz="1800" b="1">
                <a:solidFill>
                  <a:srgbClr val="D9782D"/>
                </a:solidFill>
                <a:latin typeface="游ゴシック"/>
                <a:ea typeface="游ゴシック"/>
              </a:rPr>
              <a:t>最後の10分で必ず見る3点</a:t>
            </a:r>
          </a:p>
        </p:txBody>
      </p:sp>
      <p:sp>
        <p:nvSpPr>
          <p:cNvPr id="9" name="TextBox 8"/>
          <p:cNvSpPr txBox="1"/>
          <p:nvPr/>
        </p:nvSpPr>
        <p:spPr>
          <a:xfrm>
            <a:off x="777240" y="2148840"/>
            <a:ext cx="5669280" cy="1371600"/>
          </a:xfrm>
          <a:prstGeom prst="rect">
            <a:avLst/>
          </a:prstGeom>
          <a:noFill/>
        </p:spPr>
        <p:txBody>
          <a:bodyPr wrap="square" lIns="45720" rIns="45720" tIns="27432" bIns="27432" anchor="t">
            <a:spAutoFit/>
            <a:spAutoFit/>
          </a:bodyPr>
          <a:lstStyle/>
          <a:p>
            <a:pPr algn="l">
              <a:lnSpc>
                <a:spcPct val="115000"/>
              </a:lnSpc>
              <a:spcAft>
                <a:spcPts val="400"/>
              </a:spcAft>
            </a:pPr>
            <a:r>
              <a:rPr sz="1600" b="0">
                <a:solidFill>
                  <a:srgbClr val="23301F"/>
                </a:solidFill>
                <a:latin typeface="游ゴシック"/>
                <a:ea typeface="游ゴシック"/>
              </a:rPr>
              <a:t>✓ 誤字脱字・送りがな・数字の書き間違い</a:t>
            </a:r>
          </a:p>
          <a:p>
            <a:pPr algn="l">
              <a:lnSpc>
                <a:spcPct val="115000"/>
              </a:lnSpc>
              <a:spcAft>
                <a:spcPts val="400"/>
              </a:spcAft>
            </a:pPr>
            <a:r>
              <a:rPr sz="1600" b="0">
                <a:solidFill>
                  <a:srgbClr val="23301F"/>
                </a:solidFill>
                <a:latin typeface="游ゴシック"/>
                <a:ea typeface="游ゴシック"/>
              </a:rPr>
              <a:t>✓ 文末が「だ・である」で統一されているか</a:t>
            </a:r>
          </a:p>
          <a:p>
            <a:pPr algn="l">
              <a:lnSpc>
                <a:spcPct val="115000"/>
              </a:lnSpc>
              <a:spcAft>
                <a:spcPts val="0"/>
              </a:spcAft>
            </a:pPr>
            <a:r>
              <a:rPr sz="1600" b="0">
                <a:solidFill>
                  <a:srgbClr val="23301F"/>
                </a:solidFill>
                <a:latin typeface="游ゴシック"/>
                <a:ea typeface="游ゴシック"/>
              </a:rPr>
              <a:t>✓ 論理のつながり（主張 → 理由 → 結論がずれていないか）</a:t>
            </a:r>
          </a:p>
        </p:txBody>
      </p:sp>
      <p:sp>
        <p:nvSpPr>
          <p:cNvPr id="10" name="TextBox 9"/>
          <p:cNvSpPr txBox="1"/>
          <p:nvPr/>
        </p:nvSpPr>
        <p:spPr>
          <a:xfrm>
            <a:off x="777240" y="3566160"/>
            <a:ext cx="5669280" cy="365760"/>
          </a:xfrm>
          <a:prstGeom prst="rect">
            <a:avLst/>
          </a:prstGeom>
          <a:noFill/>
        </p:spPr>
        <p:txBody>
          <a:bodyPr wrap="square" lIns="45720" rIns="45720" tIns="27432" bIns="27432" anchor="t">
            <a:spAutoFit/>
            <a:spAutoFit/>
          </a:bodyPr>
          <a:lstStyle/>
          <a:p>
            <a:pPr algn="l">
              <a:lnSpc>
                <a:spcPct val="115000"/>
              </a:lnSpc>
              <a:spcAft>
                <a:spcPts val="0"/>
              </a:spcAft>
            </a:pPr>
            <a:r>
              <a:rPr sz="1800" b="1">
                <a:solidFill>
                  <a:srgbClr val="2C5F2D"/>
                </a:solidFill>
                <a:latin typeface="游ゴシック"/>
                <a:ea typeface="游ゴシック"/>
              </a:rPr>
              <a:t>あわせて確認</a:t>
            </a:r>
          </a:p>
        </p:txBody>
      </p:sp>
      <p:sp>
        <p:nvSpPr>
          <p:cNvPr id="11" name="TextBox 10"/>
          <p:cNvSpPr txBox="1"/>
          <p:nvPr/>
        </p:nvSpPr>
        <p:spPr>
          <a:xfrm>
            <a:off x="777240" y="3977639"/>
            <a:ext cx="5669280" cy="1554480"/>
          </a:xfrm>
          <a:prstGeom prst="rect">
            <a:avLst/>
          </a:prstGeom>
          <a:noFill/>
        </p:spPr>
        <p:txBody>
          <a:bodyPr wrap="square" lIns="45720" rIns="45720" tIns="27432" bIns="27432" anchor="t">
            <a:spAutoFit/>
            <a:spAutoFit/>
          </a:bodyPr>
          <a:lstStyle/>
          <a:p>
            <a:pPr algn="l">
              <a:lnSpc>
                <a:spcPct val="115000"/>
              </a:lnSpc>
              <a:spcAft>
                <a:spcPts val="400"/>
              </a:spcAft>
            </a:pPr>
            <a:r>
              <a:rPr sz="1600" b="0">
                <a:solidFill>
                  <a:srgbClr val="23301F"/>
                </a:solidFill>
                <a:latin typeface="游ゴシック"/>
                <a:ea typeface="游ゴシック"/>
              </a:rPr>
              <a:t>✓ 課題文の主張に触れたか（要約・引用）</a:t>
            </a:r>
          </a:p>
          <a:p>
            <a:pPr algn="l">
              <a:lnSpc>
                <a:spcPct val="115000"/>
              </a:lnSpc>
              <a:spcAft>
                <a:spcPts val="400"/>
              </a:spcAft>
            </a:pPr>
            <a:r>
              <a:rPr sz="1600" b="0">
                <a:solidFill>
                  <a:srgbClr val="23301F"/>
                </a:solidFill>
                <a:latin typeface="游ゴシック"/>
                <a:ea typeface="游ゴシック"/>
              </a:rPr>
              <a:t>✓ 自分の経験や見聞きしたことを入れたか</a:t>
            </a:r>
          </a:p>
          <a:p>
            <a:pPr algn="l">
              <a:lnSpc>
                <a:spcPct val="115000"/>
              </a:lnSpc>
              <a:spcAft>
                <a:spcPts val="400"/>
              </a:spcAft>
            </a:pPr>
            <a:r>
              <a:rPr sz="1600" b="0">
                <a:solidFill>
                  <a:srgbClr val="23301F"/>
                </a:solidFill>
                <a:latin typeface="游ゴシック"/>
                <a:ea typeface="游ゴシック"/>
              </a:rPr>
              <a:t>✓ 教育学科の学び・教員像につなげたか</a:t>
            </a:r>
          </a:p>
          <a:p>
            <a:pPr algn="l">
              <a:lnSpc>
                <a:spcPct val="115000"/>
              </a:lnSpc>
              <a:spcAft>
                <a:spcPts val="0"/>
              </a:spcAft>
            </a:pPr>
            <a:r>
              <a:rPr sz="1600" b="0">
                <a:solidFill>
                  <a:srgbClr val="23301F"/>
                </a:solidFill>
                <a:latin typeface="游ゴシック"/>
                <a:ea typeface="游ゴシック"/>
              </a:rPr>
              <a:t>✓ 540字（9割）以上書けているか</a:t>
            </a:r>
          </a:p>
        </p:txBody>
      </p:sp>
      <p:sp>
        <p:nvSpPr>
          <p:cNvPr id="12" name="Rounded Rectangle 11"/>
          <p:cNvSpPr/>
          <p:nvPr/>
        </p:nvSpPr>
        <p:spPr>
          <a:xfrm>
            <a:off x="6858000" y="1600200"/>
            <a:ext cx="1371600" cy="8686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5分</a:t>
            </a:r>
          </a:p>
        </p:txBody>
      </p:sp>
      <p:sp>
        <p:nvSpPr>
          <p:cNvPr id="13" name="TextBox 12"/>
          <p:cNvSpPr txBox="1"/>
          <p:nvPr/>
        </p:nvSpPr>
        <p:spPr>
          <a:xfrm>
            <a:off x="8412480" y="1600200"/>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読む</a:t>
            </a:r>
          </a:p>
        </p:txBody>
      </p:sp>
      <p:sp>
        <p:nvSpPr>
          <p:cNvPr id="14" name="Rounded Rectangle 13"/>
          <p:cNvSpPr/>
          <p:nvPr/>
        </p:nvSpPr>
        <p:spPr>
          <a:xfrm>
            <a:off x="6858000" y="2624328"/>
            <a:ext cx="1371600" cy="8686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10分</a:t>
            </a:r>
          </a:p>
        </p:txBody>
      </p:sp>
      <p:sp>
        <p:nvSpPr>
          <p:cNvPr id="15" name="TextBox 14"/>
          <p:cNvSpPr txBox="1"/>
          <p:nvPr/>
        </p:nvSpPr>
        <p:spPr>
          <a:xfrm>
            <a:off x="8412480" y="2624328"/>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構成する</a:t>
            </a:r>
          </a:p>
        </p:txBody>
      </p:sp>
      <p:sp>
        <p:nvSpPr>
          <p:cNvPr id="16" name="Rounded Rectangle 15"/>
          <p:cNvSpPr/>
          <p:nvPr/>
        </p:nvSpPr>
        <p:spPr>
          <a:xfrm>
            <a:off x="6858000" y="3648456"/>
            <a:ext cx="1371600" cy="8686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35分</a:t>
            </a:r>
          </a:p>
        </p:txBody>
      </p:sp>
      <p:sp>
        <p:nvSpPr>
          <p:cNvPr id="17" name="TextBox 16"/>
          <p:cNvSpPr txBox="1"/>
          <p:nvPr/>
        </p:nvSpPr>
        <p:spPr>
          <a:xfrm>
            <a:off x="8412480" y="3648456"/>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書く</a:t>
            </a:r>
          </a:p>
        </p:txBody>
      </p:sp>
      <p:sp>
        <p:nvSpPr>
          <p:cNvPr id="18" name="Rounded Rectangle 17"/>
          <p:cNvSpPr/>
          <p:nvPr/>
        </p:nvSpPr>
        <p:spPr>
          <a:xfrm>
            <a:off x="6858000" y="4672584"/>
            <a:ext cx="1371600" cy="8686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10分</a:t>
            </a:r>
          </a:p>
        </p:txBody>
      </p:sp>
      <p:sp>
        <p:nvSpPr>
          <p:cNvPr id="19" name="TextBox 18"/>
          <p:cNvSpPr txBox="1"/>
          <p:nvPr/>
        </p:nvSpPr>
        <p:spPr>
          <a:xfrm>
            <a:off x="8412480" y="4672584"/>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見直す</a:t>
            </a:r>
          </a:p>
        </p:txBody>
      </p:sp>
      <p:sp>
        <p:nvSpPr>
          <p:cNvPr id="20" name="Rounded Rectangle 19"/>
          <p:cNvSpPr/>
          <p:nvPr/>
        </p:nvSpPr>
        <p:spPr>
          <a:xfrm>
            <a:off x="548640" y="5760720"/>
            <a:ext cx="11091672" cy="54864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60720"/>
            <a:ext cx="10634472" cy="548640"/>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まとめ　</a:t>
            </a:r>
            <a:r>
              <a:rPr sz="1800" b="0">
                <a:solidFill>
                  <a:srgbClr val="FFFFFF"/>
                </a:solidFill>
                <a:latin typeface="游ゴシック"/>
                <a:ea typeface="游ゴシック"/>
              </a:rPr>
              <a:t>考えるのは最初の15分。3つの問いで、初見の問題も同じ手順で書き切れる。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