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320040" cy="6858000"/>
          </a:xfrm>
          <a:prstGeom prst="roundRect">
            <a:avLst>
              <a:gd name="adj" fmla="val 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34440"/>
            <a:ext cx="10058400" cy="457200"/>
          </a:xfrm>
          <a:prstGeom prst="rect">
            <a:avLst/>
          </a:prstGeom>
          <a:noFill/>
        </p:spPr>
        <p:txBody>
          <a:bodyPr wrap="square" lIns="45720" rIns="45720" tIns="27432" bIns="27432" anchor="t">
            <a:spAutoFit/>
            <a:spAutoFit/>
          </a:bodyPr>
          <a:lstStyle/>
          <a:p>
            <a:pPr algn="l">
              <a:lnSpc>
                <a:spcPct val="115000"/>
              </a:lnSpc>
              <a:spcAft>
                <a:spcPts val="0"/>
              </a:spcAft>
            </a:pPr>
            <a:r>
              <a:rPr sz="2000" b="1">
                <a:solidFill>
                  <a:srgbClr val="D9782D"/>
                </a:solidFill>
                <a:latin typeface="游ゴシック"/>
                <a:ea typeface="游ゴシック"/>
              </a:rPr>
              <a:t>東洋大学　食環境科学部　総合型選抜</a:t>
            </a:r>
          </a:p>
        </p:txBody>
      </p:sp>
      <p:sp>
        <p:nvSpPr>
          <p:cNvPr id="4" name="TextBox 3"/>
          <p:cNvSpPr txBox="1"/>
          <p:nvPr/>
        </p:nvSpPr>
        <p:spPr>
          <a:xfrm>
            <a:off x="914400" y="1783080"/>
            <a:ext cx="10515600" cy="1097280"/>
          </a:xfrm>
          <a:prstGeom prst="rect">
            <a:avLst/>
          </a:prstGeom>
          <a:noFill/>
        </p:spPr>
        <p:txBody>
          <a:bodyPr wrap="square" lIns="45720" rIns="45720" tIns="27432" bIns="27432" anchor="t">
            <a:spAutoFit/>
            <a:spAutoFit/>
          </a:bodyPr>
          <a:lstStyle/>
          <a:p>
            <a:pPr algn="l">
              <a:lnSpc>
                <a:spcPct val="115000"/>
              </a:lnSpc>
              <a:spcAft>
                <a:spcPts val="0"/>
              </a:spcAft>
            </a:pPr>
            <a:r>
              <a:rPr sz="5400" b="1">
                <a:solidFill>
                  <a:srgbClr val="17321A"/>
                </a:solidFill>
                <a:latin typeface="游ゴシック"/>
                <a:ea typeface="游ゴシック"/>
              </a:rPr>
              <a:t>小論文ワークシート</a:t>
            </a:r>
          </a:p>
        </p:txBody>
      </p:sp>
      <p:sp>
        <p:nvSpPr>
          <p:cNvPr id="5" name="TextBox 4"/>
          <p:cNvSpPr txBox="1"/>
          <p:nvPr/>
        </p:nvSpPr>
        <p:spPr>
          <a:xfrm>
            <a:off x="914400" y="2926080"/>
            <a:ext cx="10515600" cy="548640"/>
          </a:xfrm>
          <a:prstGeom prst="rect">
            <a:avLst/>
          </a:prstGeom>
          <a:noFill/>
        </p:spPr>
        <p:txBody>
          <a:bodyPr wrap="square" lIns="45720" rIns="45720" tIns="27432" bIns="27432" anchor="t">
            <a:spAutoFit/>
            <a:spAutoFit/>
          </a:bodyPr>
          <a:lstStyle/>
          <a:p>
            <a:pPr algn="l">
              <a:lnSpc>
                <a:spcPct val="115000"/>
              </a:lnSpc>
              <a:spcAft>
                <a:spcPts val="0"/>
              </a:spcAft>
            </a:pPr>
            <a:r>
              <a:rPr sz="2800" b="1">
                <a:solidFill>
                  <a:srgbClr val="2C5F2D"/>
                </a:solidFill>
                <a:latin typeface="游ゴシック"/>
                <a:ea typeface="游ゴシック"/>
              </a:rPr>
              <a:t>60分で、迷わず、800字を書き切る</a:t>
            </a:r>
          </a:p>
        </p:txBody>
      </p:sp>
      <p:sp>
        <p:nvSpPr>
          <p:cNvPr id="6" name="TextBox 5"/>
          <p:cNvSpPr txBox="1"/>
          <p:nvPr/>
        </p:nvSpPr>
        <p:spPr>
          <a:xfrm>
            <a:off x="914400" y="3703320"/>
            <a:ext cx="10515600" cy="457200"/>
          </a:xfrm>
          <a:prstGeom prst="rect">
            <a:avLst/>
          </a:prstGeom>
          <a:noFill/>
        </p:spPr>
        <p:txBody>
          <a:bodyPr wrap="square" lIns="45720" rIns="45720" tIns="27432" bIns="27432" anchor="t">
            <a:spAutoFit/>
            <a:spAutoFit/>
          </a:bodyPr>
          <a:lstStyle/>
          <a:p>
            <a:pPr algn="l">
              <a:lnSpc>
                <a:spcPct val="115000"/>
              </a:lnSpc>
              <a:spcAft>
                <a:spcPts val="0"/>
              </a:spcAft>
            </a:pPr>
            <a:r>
              <a:rPr sz="1800" b="0">
                <a:solidFill>
                  <a:srgbClr val="5B6B54"/>
                </a:solidFill>
                <a:latin typeface="游ゴシック"/>
                <a:ea typeface="游ゴシック"/>
              </a:rPr>
              <a:t>見て学ぶ（お手本）→ やってみる（演習）→ 答え合わせ　を4つのテーマで繰り返す</a:t>
            </a:r>
          </a:p>
        </p:txBody>
      </p:sp>
      <p:sp>
        <p:nvSpPr>
          <p:cNvPr id="7" name="TextBox 6"/>
          <p:cNvSpPr txBox="1"/>
          <p:nvPr/>
        </p:nvSpPr>
        <p:spPr>
          <a:xfrm>
            <a:off x="914400" y="4892040"/>
            <a:ext cx="10515600" cy="365760"/>
          </a:xfrm>
          <a:prstGeom prst="rect">
            <a:avLst/>
          </a:prstGeom>
          <a:noFill/>
        </p:spPr>
        <p:txBody>
          <a:bodyPr wrap="square" lIns="45720" rIns="45720" tIns="27432" bIns="27432" anchor="t">
            <a:spAutoFit/>
            <a:spAutoFit/>
          </a:bodyPr>
          <a:lstStyle/>
          <a:p>
            <a:pPr algn="l">
              <a:lnSpc>
                <a:spcPct val="115000"/>
              </a:lnSpc>
              <a:spcAft>
                <a:spcPts val="0"/>
              </a:spcAft>
            </a:pPr>
            <a:r>
              <a:rPr sz="1500" b="0">
                <a:solidFill>
                  <a:srgbClr val="23301F"/>
                </a:solidFill>
                <a:latin typeface="游ゴシック"/>
                <a:ea typeface="游ゴシック"/>
              </a:rPr>
              <a:t>対象：食環境科学部 フードデータサイエンス学科（第1部）自己推薦入試志願者</a:t>
            </a:r>
          </a:p>
        </p:txBody>
      </p:sp>
      <p:sp>
        <p:nvSpPr>
          <p:cNvPr id="8" name="TextBox 7"/>
          <p:cNvSpPr txBox="1"/>
          <p:nvPr/>
        </p:nvSpPr>
        <p:spPr>
          <a:xfrm>
            <a:off x="914400" y="5303520"/>
            <a:ext cx="10515600" cy="365760"/>
          </a:xfrm>
          <a:prstGeom prst="rect">
            <a:avLst/>
          </a:prstGeom>
          <a:noFill/>
        </p:spPr>
        <p:txBody>
          <a:bodyPr wrap="square" lIns="45720" rIns="45720" tIns="27432" bIns="27432" anchor="t">
            <a:spAutoFit/>
            <a:spAutoFit/>
          </a:bodyPr>
          <a:lstStyle/>
          <a:p>
            <a:pPr algn="l">
              <a:lnSpc>
                <a:spcPct val="115000"/>
              </a:lnSpc>
              <a:spcAft>
                <a:spcPts val="0"/>
              </a:spcAft>
            </a:pPr>
            <a:r>
              <a:rPr sz="1500" b="0">
                <a:solidFill>
                  <a:srgbClr val="5B6B54"/>
                </a:solidFill>
                <a:latin typeface="游ゴシック"/>
                <a:ea typeface="游ゴシック"/>
              </a:rPr>
              <a:t>個人指導塾PLATZ　学習支援資料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試験を知る</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試験の全体像</a:t>
            </a:r>
          </a:p>
        </p:txBody>
      </p:sp>
      <p:sp>
        <p:nvSpPr>
          <p:cNvPr id="4" name="TextBox 3"/>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5" name="TextBox 4"/>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a:t>
            </a:r>
          </a:p>
        </p:txBody>
      </p:sp>
      <p:sp>
        <p:nvSpPr>
          <p:cNvPr id="6" name="Rounded Rectangle 5"/>
          <p:cNvSpPr/>
          <p:nvPr/>
        </p:nvSpPr>
        <p:spPr>
          <a:xfrm>
            <a:off x="548640"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60分</a:t>
            </a:r>
          </a:p>
        </p:txBody>
      </p:sp>
      <p:sp>
        <p:nvSpPr>
          <p:cNvPr id="8" name="TextBox 7"/>
          <p:cNvSpPr txBox="1"/>
          <p:nvPr/>
        </p:nvSpPr>
        <p:spPr>
          <a:xfrm>
            <a:off x="731520"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700" b="0">
                <a:solidFill>
                  <a:srgbClr val="23301F"/>
                </a:solidFill>
                <a:latin typeface="游ゴシック"/>
                <a:ea typeface="游ゴシック"/>
              </a:rPr>
              <a:t>小論文の試験時間</a:t>
            </a:r>
          </a:p>
        </p:txBody>
      </p:sp>
      <p:sp>
        <p:nvSpPr>
          <p:cNvPr id="9" name="Rounded Rectangle 8"/>
          <p:cNvSpPr/>
          <p:nvPr/>
        </p:nvSpPr>
        <p:spPr>
          <a:xfrm>
            <a:off x="4297679"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79"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600〜800字</a:t>
            </a:r>
          </a:p>
        </p:txBody>
      </p:sp>
      <p:sp>
        <p:nvSpPr>
          <p:cNvPr id="11" name="TextBox 10"/>
          <p:cNvSpPr txBox="1"/>
          <p:nvPr/>
        </p:nvSpPr>
        <p:spPr>
          <a:xfrm>
            <a:off x="4480559"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700" b="0">
                <a:solidFill>
                  <a:srgbClr val="23301F"/>
                </a:solidFill>
                <a:latin typeface="游ゴシック"/>
                <a:ea typeface="游ゴシック"/>
              </a:rPr>
              <a:t>目安の字数</a:t>
            </a:r>
          </a:p>
        </p:txBody>
      </p:sp>
      <p:sp>
        <p:nvSpPr>
          <p:cNvPr id="12" name="Rounded Rectangle 11"/>
          <p:cNvSpPr/>
          <p:nvPr/>
        </p:nvSpPr>
        <p:spPr>
          <a:xfrm>
            <a:off x="8046719"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資料＋意見</a:t>
            </a:r>
          </a:p>
        </p:txBody>
      </p:sp>
      <p:sp>
        <p:nvSpPr>
          <p:cNvPr id="14" name="TextBox 13"/>
          <p:cNvSpPr txBox="1"/>
          <p:nvPr/>
        </p:nvSpPr>
        <p:spPr>
          <a:xfrm>
            <a:off x="8229599"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650" b="0">
                <a:solidFill>
                  <a:srgbClr val="23301F"/>
                </a:solidFill>
                <a:latin typeface="游ゴシック"/>
                <a:ea typeface="游ゴシック"/>
              </a:rPr>
              <a:t>資料を読み解いて意見を述べる形式</a:t>
            </a:r>
          </a:p>
        </p:txBody>
      </p:sp>
      <p:sp>
        <p:nvSpPr>
          <p:cNvPr id="15" name="TextBox 14"/>
          <p:cNvSpPr txBox="1"/>
          <p:nvPr/>
        </p:nvSpPr>
        <p:spPr>
          <a:xfrm>
            <a:off x="548640" y="4114800"/>
            <a:ext cx="11064240" cy="1188720"/>
          </a:xfrm>
          <a:prstGeom prst="rect">
            <a:avLst/>
          </a:prstGeom>
          <a:noFill/>
        </p:spPr>
        <p:txBody>
          <a:bodyPr wrap="square" lIns="45720" rIns="45720" tIns="27432" bIns="27432" anchor="t">
            <a:spAutoFit/>
            <a:spAutoFit/>
          </a:bodyPr>
          <a:lstStyle/>
          <a:p>
            <a:pPr algn="l">
              <a:lnSpc>
                <a:spcPct val="115000"/>
              </a:lnSpc>
              <a:spcAft>
                <a:spcPts val="600"/>
              </a:spcAft>
            </a:pPr>
            <a:r>
              <a:rPr sz="1600" b="0">
                <a:solidFill>
                  <a:srgbClr val="23301F"/>
                </a:solidFill>
                <a:latin typeface="游ゴシック"/>
                <a:ea typeface="游ゴシック"/>
              </a:rPr>
              <a:t>過去2年分・計4回の入試は、いずれも「資料（データ表・統計・解説文）を読み解き、600〜800字で意見を述べる」形式。</a:t>
            </a:r>
          </a:p>
          <a:p>
            <a:pPr algn="l">
              <a:lnSpc>
                <a:spcPct val="115000"/>
              </a:lnSpc>
              <a:spcAft>
                <a:spcPts val="0"/>
              </a:spcAft>
            </a:pPr>
            <a:r>
              <a:rPr sz="1600" b="0">
                <a:solidFill>
                  <a:srgbClr val="23301F"/>
                </a:solidFill>
                <a:latin typeface="游ゴシック"/>
                <a:ea typeface="游ゴシック"/>
              </a:rPr>
              <a:t>初めて見る資料でも、毎回同じ手順で書ければ、手が止まらない。このワークシートでその手順を体に入れる。</a:t>
            </a:r>
          </a:p>
        </p:txBody>
      </p:sp>
      <p:sp>
        <p:nvSpPr>
          <p:cNvPr id="16" name="TextBox 15"/>
          <p:cNvSpPr txBox="1"/>
          <p:nvPr/>
        </p:nvSpPr>
        <p:spPr>
          <a:xfrm>
            <a:off x="548640" y="5440680"/>
            <a:ext cx="11064240" cy="457200"/>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5B6B54"/>
                </a:solidFill>
                <a:latin typeface="游ゴシック"/>
                <a:ea typeface="游ゴシック"/>
              </a:rPr>
              <a:t>※ 最新の正式情報は、大学公式の学生募集要項で確認すること。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時間配分</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60分の使い方 ― 考えるのは最初の15分</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書きながら考えると、途中で手が止まる。先に「何を書くか」を決めてから、一気に書く。</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3</a:t>
            </a:r>
          </a:p>
        </p:txBody>
      </p:sp>
      <p:sp>
        <p:nvSpPr>
          <p:cNvPr id="7" name="Rounded Rectangle 6"/>
          <p:cNvSpPr/>
          <p:nvPr/>
        </p:nvSpPr>
        <p:spPr>
          <a:xfrm>
            <a:off x="548640" y="2011680"/>
            <a:ext cx="910590" cy="6400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7" y="2011680"/>
            <a:ext cx="965454" cy="640080"/>
          </a:xfrm>
          <a:prstGeom prst="rect">
            <a:avLst/>
          </a:prstGeom>
          <a:noFill/>
        </p:spPr>
        <p:txBody>
          <a:bodyPr wrap="square" lIns="45720" rIns="45720" tIns="27432" bIns="27432" anchor="ctr">
            <a:spAutoFit/>
            <a:spAutoFit/>
          </a:bodyPr>
          <a:lstStyle/>
          <a:p>
            <a:pPr algn="ctr">
              <a:lnSpc>
                <a:spcPct val="115000"/>
              </a:lnSpc>
              <a:spcAft>
                <a:spcPts val="0"/>
              </a:spcAft>
            </a:pPr>
            <a:r>
              <a:rPr sz="1600" b="1">
                <a:solidFill>
                  <a:srgbClr val="FFFFFF"/>
                </a:solidFill>
                <a:latin typeface="游ゴシック"/>
                <a:ea typeface="游ゴシック"/>
              </a:rPr>
              <a:t>5分</a:t>
            </a:r>
          </a:p>
        </p:txBody>
      </p:sp>
      <p:sp>
        <p:nvSpPr>
          <p:cNvPr id="9" name="Rounded Rectangle 8"/>
          <p:cNvSpPr/>
          <p:nvPr/>
        </p:nvSpPr>
        <p:spPr>
          <a:xfrm>
            <a:off x="1514094" y="2011680"/>
            <a:ext cx="1821180" cy="6400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86662" y="2011680"/>
            <a:ext cx="187604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10分</a:t>
            </a:r>
          </a:p>
        </p:txBody>
      </p:sp>
      <p:sp>
        <p:nvSpPr>
          <p:cNvPr id="11" name="Rounded Rectangle 10"/>
          <p:cNvSpPr/>
          <p:nvPr/>
        </p:nvSpPr>
        <p:spPr>
          <a:xfrm>
            <a:off x="3390138" y="2011680"/>
            <a:ext cx="6374130" cy="6400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2706" y="2011680"/>
            <a:ext cx="642899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35分</a:t>
            </a:r>
          </a:p>
        </p:txBody>
      </p:sp>
      <p:sp>
        <p:nvSpPr>
          <p:cNvPr id="13" name="Rounded Rectangle 12"/>
          <p:cNvSpPr/>
          <p:nvPr/>
        </p:nvSpPr>
        <p:spPr>
          <a:xfrm>
            <a:off x="9819132" y="2011680"/>
            <a:ext cx="1821180" cy="6400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91700" y="2011680"/>
            <a:ext cx="187604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10分</a:t>
            </a:r>
          </a:p>
        </p:txBody>
      </p:sp>
      <p:sp>
        <p:nvSpPr>
          <p:cNvPr id="15" name="Rounded Rectangle 14"/>
          <p:cNvSpPr/>
          <p:nvPr/>
        </p:nvSpPr>
        <p:spPr>
          <a:xfrm>
            <a:off x="548640"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最初の5分</a:t>
            </a:r>
          </a:p>
        </p:txBody>
      </p:sp>
      <p:sp>
        <p:nvSpPr>
          <p:cNvPr id="17" name="TextBox 16"/>
          <p:cNvSpPr txBox="1"/>
          <p:nvPr/>
        </p:nvSpPr>
        <p:spPr>
          <a:xfrm>
            <a:off x="731520"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読む</a:t>
            </a:r>
          </a:p>
        </p:txBody>
      </p:sp>
      <p:sp>
        <p:nvSpPr>
          <p:cNvPr id="18" name="TextBox 17"/>
          <p:cNvSpPr txBox="1"/>
          <p:nvPr/>
        </p:nvSpPr>
        <p:spPr>
          <a:xfrm>
            <a:off x="731520"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問題文と資料を読み、</a:t>
            </a:r>
          </a:p>
          <a:p>
            <a:pPr algn="l">
              <a:lnSpc>
                <a:spcPct val="115000"/>
              </a:lnSpc>
              <a:spcAft>
                <a:spcPts val="0"/>
              </a:spcAft>
            </a:pPr>
            <a:r>
              <a:rPr sz="1600" b="0">
                <a:solidFill>
                  <a:srgbClr val="23301F"/>
                </a:solidFill>
                <a:latin typeface="游ゴシック"/>
                <a:ea typeface="游ゴシック"/>
              </a:rPr>
              <a:t>要点をつかむ</a:t>
            </a:r>
          </a:p>
        </p:txBody>
      </p:sp>
      <p:sp>
        <p:nvSpPr>
          <p:cNvPr id="19" name="Rounded Rectangle 18"/>
          <p:cNvSpPr/>
          <p:nvPr/>
        </p:nvSpPr>
        <p:spPr>
          <a:xfrm>
            <a:off x="3364992"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47872"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次の10分</a:t>
            </a:r>
          </a:p>
        </p:txBody>
      </p:sp>
      <p:sp>
        <p:nvSpPr>
          <p:cNvPr id="21" name="TextBox 20"/>
          <p:cNvSpPr txBox="1"/>
          <p:nvPr/>
        </p:nvSpPr>
        <p:spPr>
          <a:xfrm>
            <a:off x="3547872"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構成する</a:t>
            </a:r>
          </a:p>
        </p:txBody>
      </p:sp>
      <p:sp>
        <p:nvSpPr>
          <p:cNvPr id="22" name="TextBox 21"/>
          <p:cNvSpPr txBox="1"/>
          <p:nvPr/>
        </p:nvSpPr>
        <p:spPr>
          <a:xfrm>
            <a:off x="3547872"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骨組みと各段落の中身を</a:t>
            </a:r>
          </a:p>
          <a:p>
            <a:pPr algn="l">
              <a:lnSpc>
                <a:spcPct val="115000"/>
              </a:lnSpc>
              <a:spcAft>
                <a:spcPts val="0"/>
              </a:spcAft>
            </a:pPr>
            <a:r>
              <a:rPr sz="1600" b="0">
                <a:solidFill>
                  <a:srgbClr val="23301F"/>
                </a:solidFill>
                <a:latin typeface="游ゴシック"/>
                <a:ea typeface="游ゴシック"/>
              </a:rPr>
              <a:t>箇条書きでメモ</a:t>
            </a:r>
          </a:p>
        </p:txBody>
      </p:sp>
      <p:sp>
        <p:nvSpPr>
          <p:cNvPr id="23" name="Rounded Rectangle 22"/>
          <p:cNvSpPr/>
          <p:nvPr/>
        </p:nvSpPr>
        <p:spPr>
          <a:xfrm>
            <a:off x="6181344"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4224"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続く35分</a:t>
            </a:r>
          </a:p>
        </p:txBody>
      </p:sp>
      <p:sp>
        <p:nvSpPr>
          <p:cNvPr id="25" name="TextBox 24"/>
          <p:cNvSpPr txBox="1"/>
          <p:nvPr/>
        </p:nvSpPr>
        <p:spPr>
          <a:xfrm>
            <a:off x="6364224"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書く</a:t>
            </a:r>
          </a:p>
        </p:txBody>
      </p:sp>
      <p:sp>
        <p:nvSpPr>
          <p:cNvPr id="26" name="TextBox 25"/>
          <p:cNvSpPr txBox="1"/>
          <p:nvPr/>
        </p:nvSpPr>
        <p:spPr>
          <a:xfrm>
            <a:off x="6364224"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メモに沿って</a:t>
            </a:r>
          </a:p>
          <a:p>
            <a:pPr algn="l">
              <a:lnSpc>
                <a:spcPct val="115000"/>
              </a:lnSpc>
              <a:spcAft>
                <a:spcPts val="0"/>
              </a:spcAft>
            </a:pPr>
            <a:r>
              <a:rPr sz="1600" b="0">
                <a:solidFill>
                  <a:srgbClr val="23301F"/>
                </a:solidFill>
                <a:latin typeface="游ゴシック"/>
                <a:ea typeface="游ゴシック"/>
              </a:rPr>
              <a:t>一気に600〜800字を書き切る</a:t>
            </a:r>
          </a:p>
        </p:txBody>
      </p:sp>
      <p:sp>
        <p:nvSpPr>
          <p:cNvPr id="27" name="Rounded Rectangle 26"/>
          <p:cNvSpPr/>
          <p:nvPr/>
        </p:nvSpPr>
        <p:spPr>
          <a:xfrm>
            <a:off x="8997696"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0576"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最後の10分</a:t>
            </a:r>
          </a:p>
        </p:txBody>
      </p:sp>
      <p:sp>
        <p:nvSpPr>
          <p:cNvPr id="29" name="TextBox 28"/>
          <p:cNvSpPr txBox="1"/>
          <p:nvPr/>
        </p:nvSpPr>
        <p:spPr>
          <a:xfrm>
            <a:off x="9180576"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見直す</a:t>
            </a:r>
          </a:p>
        </p:txBody>
      </p:sp>
      <p:sp>
        <p:nvSpPr>
          <p:cNvPr id="30" name="TextBox 29"/>
          <p:cNvSpPr txBox="1"/>
          <p:nvPr/>
        </p:nvSpPr>
        <p:spPr>
          <a:xfrm>
            <a:off x="9180576"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誤字脱字・文末の統一・</a:t>
            </a:r>
          </a:p>
          <a:p>
            <a:pPr algn="l">
              <a:lnSpc>
                <a:spcPct val="115000"/>
              </a:lnSpc>
              <a:spcAft>
                <a:spcPts val="0"/>
              </a:spcAft>
            </a:pPr>
            <a:r>
              <a:rPr sz="1600" b="0">
                <a:solidFill>
                  <a:srgbClr val="23301F"/>
                </a:solidFill>
                <a:latin typeface="游ゴシック"/>
                <a:ea typeface="游ゴシック"/>
              </a:rPr>
              <a:t>論理のつながりを確認</a:t>
            </a:r>
          </a:p>
        </p:txBody>
      </p:sp>
      <p:sp>
        <p:nvSpPr>
          <p:cNvPr id="31" name="Rounded Rectangle 30"/>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POINT　</a:t>
            </a:r>
            <a:r>
              <a:rPr sz="1800" b="0">
                <a:solidFill>
                  <a:srgbClr val="FFFFFF"/>
                </a:solidFill>
                <a:latin typeface="游ゴシック"/>
                <a:ea typeface="游ゴシック"/>
              </a:rPr>
              <a:t>ワークシート（次のページ）は「構成する10分」でやることそのもの。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ワークシートの使い方</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構成メモは、3つの問いで作る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どのテーマでも、この順番で考えて、ノート（解答用紙）に書き出す。</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4</a:t>
            </a:r>
          </a:p>
        </p:txBody>
      </p:sp>
      <p:sp>
        <p:nvSpPr>
          <p:cNvPr id="7" name="Rounded Rectangle 6"/>
          <p:cNvSpPr/>
          <p:nvPr/>
        </p:nvSpPr>
        <p:spPr>
          <a:xfrm>
            <a:off x="548640"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Q1</a:t>
            </a:r>
          </a:p>
        </p:txBody>
      </p:sp>
      <p:sp>
        <p:nvSpPr>
          <p:cNvPr id="9" name="TextBox 8"/>
          <p:cNvSpPr txBox="1"/>
          <p:nvPr/>
        </p:nvSpPr>
        <p:spPr>
          <a:xfrm>
            <a:off x="777240"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この問題・資料の「要点」は何か</a:t>
            </a:r>
          </a:p>
        </p:txBody>
      </p:sp>
      <p:sp>
        <p:nvSpPr>
          <p:cNvPr id="10" name="TextBox 9"/>
          <p:cNvSpPr txBox="1"/>
          <p:nvPr/>
        </p:nvSpPr>
        <p:spPr>
          <a:xfrm>
            <a:off x="777240"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・何を問われているか（説明？意見？具体策？）</a:t>
            </a:r>
          </a:p>
          <a:p>
            <a:pPr algn="l">
              <a:lnSpc>
                <a:spcPct val="115000"/>
              </a:lnSpc>
              <a:spcAft>
                <a:spcPts val="400"/>
              </a:spcAft>
            </a:pPr>
            <a:r>
              <a:rPr sz="1500" b="0">
                <a:solidFill>
                  <a:srgbClr val="23301F"/>
                </a:solidFill>
                <a:latin typeface="游ゴシック"/>
                <a:ea typeface="游ゴシック"/>
              </a:rPr>
              <a:t>・資料から必ず使う事実・数字は何か</a:t>
            </a:r>
          </a:p>
          <a:p>
            <a:pPr algn="l">
              <a:lnSpc>
                <a:spcPct val="115000"/>
              </a:lnSpc>
              <a:spcAft>
                <a:spcPts val="0"/>
              </a:spcAft>
            </a:pPr>
            <a:r>
              <a:rPr sz="1500" b="0">
                <a:solidFill>
                  <a:srgbClr val="23301F"/>
                </a:solidFill>
                <a:latin typeface="游ゴシック"/>
                <a:ea typeface="游ゴシック"/>
              </a:rPr>
              <a:t>・一言でいうと、何について書く問題か</a:t>
            </a:r>
          </a:p>
        </p:txBody>
      </p:sp>
      <p:sp>
        <p:nvSpPr>
          <p:cNvPr id="11" name="Rounded Rectangle 10"/>
          <p:cNvSpPr/>
          <p:nvPr/>
        </p:nvSpPr>
        <p:spPr>
          <a:xfrm>
            <a:off x="4297679"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26279"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Q2</a:t>
            </a:r>
          </a:p>
        </p:txBody>
      </p:sp>
      <p:sp>
        <p:nvSpPr>
          <p:cNvPr id="13" name="TextBox 12"/>
          <p:cNvSpPr txBox="1"/>
          <p:nvPr/>
        </p:nvSpPr>
        <p:spPr>
          <a:xfrm>
            <a:off x="4526279"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全体を何段落で書くか</a:t>
            </a:r>
          </a:p>
        </p:txBody>
      </p:sp>
      <p:sp>
        <p:nvSpPr>
          <p:cNvPr id="14" name="TextBox 13"/>
          <p:cNvSpPr txBox="1"/>
          <p:nvPr/>
        </p:nvSpPr>
        <p:spPr>
          <a:xfrm>
            <a:off x="4526279"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・序論・本論・結論をそれぞれ何段落にするか</a:t>
            </a:r>
          </a:p>
          <a:p>
            <a:pPr algn="l">
              <a:lnSpc>
                <a:spcPct val="115000"/>
              </a:lnSpc>
              <a:spcAft>
                <a:spcPts val="400"/>
              </a:spcAft>
            </a:pPr>
            <a:r>
              <a:rPr sz="1500" b="0">
                <a:solidFill>
                  <a:srgbClr val="23301F"/>
                </a:solidFill>
                <a:latin typeface="游ゴシック"/>
                <a:ea typeface="游ゴシック"/>
              </a:rPr>
              <a:t>・問いが2つなら本論も2つ、が基本</a:t>
            </a:r>
          </a:p>
          <a:p>
            <a:pPr algn="l">
              <a:lnSpc>
                <a:spcPct val="115000"/>
              </a:lnSpc>
              <a:spcAft>
                <a:spcPts val="0"/>
              </a:spcAft>
            </a:pPr>
            <a:r>
              <a:rPr sz="1500" b="0">
                <a:solidFill>
                  <a:srgbClr val="23301F"/>
                </a:solidFill>
                <a:latin typeface="游ゴシック"/>
                <a:ea typeface="游ゴシック"/>
              </a:rPr>
              <a:t>・各段落のおおよその字数を決める</a:t>
            </a:r>
          </a:p>
        </p:txBody>
      </p:sp>
      <p:sp>
        <p:nvSpPr>
          <p:cNvPr id="15" name="Rounded Rectangle 14"/>
          <p:cNvSpPr/>
          <p:nvPr/>
        </p:nvSpPr>
        <p:spPr>
          <a:xfrm>
            <a:off x="8046719"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75319"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Q3</a:t>
            </a:r>
          </a:p>
        </p:txBody>
      </p:sp>
      <p:sp>
        <p:nvSpPr>
          <p:cNvPr id="17" name="TextBox 16"/>
          <p:cNvSpPr txBox="1"/>
          <p:nvPr/>
        </p:nvSpPr>
        <p:spPr>
          <a:xfrm>
            <a:off x="8275319"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各段落に書く内容は何か</a:t>
            </a:r>
          </a:p>
        </p:txBody>
      </p:sp>
      <p:sp>
        <p:nvSpPr>
          <p:cNvPr id="18" name="TextBox 17"/>
          <p:cNvSpPr txBox="1"/>
          <p:nvPr/>
        </p:nvSpPr>
        <p:spPr>
          <a:xfrm>
            <a:off x="8275319"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・段落ごとに、書く中身を箇条書きにする</a:t>
            </a:r>
          </a:p>
          <a:p>
            <a:pPr algn="l">
              <a:lnSpc>
                <a:spcPct val="115000"/>
              </a:lnSpc>
              <a:spcAft>
                <a:spcPts val="400"/>
              </a:spcAft>
            </a:pPr>
            <a:r>
              <a:rPr sz="1500" b="0">
                <a:solidFill>
                  <a:srgbClr val="23301F"/>
                </a:solidFill>
                <a:latin typeface="游ゴシック"/>
                <a:ea typeface="游ゴシック"/>
              </a:rPr>
              <a:t>・文章にしなくてよい（単語・短いメモで十分）</a:t>
            </a:r>
          </a:p>
          <a:p>
            <a:pPr algn="l">
              <a:lnSpc>
                <a:spcPct val="115000"/>
              </a:lnSpc>
              <a:spcAft>
                <a:spcPts val="0"/>
              </a:spcAft>
            </a:pPr>
            <a:r>
              <a:rPr sz="1500" b="0">
                <a:solidFill>
                  <a:srgbClr val="23301F"/>
                </a:solidFill>
                <a:latin typeface="游ゴシック"/>
                <a:ea typeface="游ゴシック"/>
              </a:rPr>
              <a:t>・このメモがそのまま答案の設計図になる</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700" b="1">
                <a:solidFill>
                  <a:srgbClr val="FFFFFF"/>
                </a:solidFill>
                <a:latin typeface="游ゴシック"/>
                <a:ea typeface="游ゴシック"/>
              </a:rPr>
              <a:t>流れ　</a:t>
            </a:r>
            <a:r>
              <a:rPr sz="1700" b="0">
                <a:solidFill>
                  <a:srgbClr val="FFFFFF"/>
                </a:solidFill>
                <a:latin typeface="游ゴシック"/>
                <a:ea typeface="游ゴシック"/>
              </a:rPr>
              <a:t>テーマ1はお手本で学ぶ → テーマ2〜4は自分で埋める → 模範メモ・模範解答で答え合わせ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書き方の基本</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答案の基本フォーム</a:t>
            </a:r>
          </a:p>
        </p:txBody>
      </p:sp>
      <p:sp>
        <p:nvSpPr>
          <p:cNvPr id="4" name="TextBox 3"/>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5" name="TextBox 4"/>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5</a:t>
            </a:r>
          </a:p>
        </p:txBody>
      </p:sp>
      <p:sp>
        <p:nvSpPr>
          <p:cNvPr id="6" name="Rounded Rectangle 5"/>
          <p:cNvSpPr/>
          <p:nvPr/>
        </p:nvSpPr>
        <p:spPr>
          <a:xfrm>
            <a:off x="548640"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序論　15〜20%</a:t>
            </a:r>
          </a:p>
        </p:txBody>
      </p:sp>
      <p:sp>
        <p:nvSpPr>
          <p:cNvPr id="7" name="Rounded Rectangle 6"/>
          <p:cNvSpPr/>
          <p:nvPr/>
        </p:nvSpPr>
        <p:spPr>
          <a:xfrm>
            <a:off x="548640"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自分の意見・結論を</a:t>
            </a:r>
          </a:p>
          <a:p>
            <a:pPr algn="ctr">
              <a:lnSpc>
                <a:spcPct val="115000"/>
              </a:lnSpc>
              <a:spcAft>
                <a:spcPts val="0"/>
              </a:spcAft>
            </a:pPr>
            <a:r>
              <a:rPr sz="1800" b="0">
                <a:solidFill>
                  <a:srgbClr val="23301F"/>
                </a:solidFill>
                <a:latin typeface="游ゴシック"/>
                <a:ea typeface="游ゴシック"/>
              </a:rPr>
              <a:t>先に示す</a:t>
            </a:r>
          </a:p>
        </p:txBody>
      </p:sp>
      <p:sp>
        <p:nvSpPr>
          <p:cNvPr id="9" name="Rounded Rectangle 8"/>
          <p:cNvSpPr/>
          <p:nvPr/>
        </p:nvSpPr>
        <p:spPr>
          <a:xfrm>
            <a:off x="4297679"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本論　60〜70%</a:t>
            </a:r>
          </a:p>
        </p:txBody>
      </p:sp>
      <p:sp>
        <p:nvSpPr>
          <p:cNvPr id="10" name="Rounded Rectangle 9"/>
          <p:cNvSpPr/>
          <p:nvPr/>
        </p:nvSpPr>
        <p:spPr>
          <a:xfrm>
            <a:off x="4297679"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理由・根拠・具体例を</a:t>
            </a:r>
          </a:p>
          <a:p>
            <a:pPr algn="ctr">
              <a:lnSpc>
                <a:spcPct val="115000"/>
              </a:lnSpc>
              <a:spcAft>
                <a:spcPts val="0"/>
              </a:spcAft>
            </a:pPr>
            <a:r>
              <a:rPr sz="1800" b="0">
                <a:solidFill>
                  <a:srgbClr val="23301F"/>
                </a:solidFill>
                <a:latin typeface="游ゴシック"/>
                <a:ea typeface="游ゴシック"/>
              </a:rPr>
              <a:t>2〜3点で展開する</a:t>
            </a:r>
          </a:p>
        </p:txBody>
      </p:sp>
      <p:sp>
        <p:nvSpPr>
          <p:cNvPr id="12" name="Rounded Rectangle 11"/>
          <p:cNvSpPr/>
          <p:nvPr/>
        </p:nvSpPr>
        <p:spPr>
          <a:xfrm>
            <a:off x="8046719"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結論　15〜20%</a:t>
            </a:r>
          </a:p>
        </p:txBody>
      </p:sp>
      <p:sp>
        <p:nvSpPr>
          <p:cNvPr id="13" name="Rounded Rectangle 12"/>
          <p:cNvSpPr/>
          <p:nvPr/>
        </p:nvSpPr>
        <p:spPr>
          <a:xfrm>
            <a:off x="8046719"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主張を確認し、</a:t>
            </a:r>
          </a:p>
          <a:p>
            <a:pPr algn="ctr">
              <a:lnSpc>
                <a:spcPct val="115000"/>
              </a:lnSpc>
              <a:spcAft>
                <a:spcPts val="0"/>
              </a:spcAft>
            </a:pPr>
            <a:r>
              <a:rPr sz="1800" b="0">
                <a:solidFill>
                  <a:srgbClr val="23301F"/>
                </a:solidFill>
                <a:latin typeface="游ゴシック"/>
                <a:ea typeface="游ゴシック"/>
              </a:rPr>
              <a:t>大学での学びにつなげる</a:t>
            </a:r>
          </a:p>
        </p:txBody>
      </p:sp>
      <p:sp>
        <p:nvSpPr>
          <p:cNvPr id="15" name="Rounded Rectangle 14"/>
          <p:cNvSpPr/>
          <p:nvPr/>
        </p:nvSpPr>
        <p:spPr>
          <a:xfrm>
            <a:off x="548640" y="3703320"/>
            <a:ext cx="5486400" cy="1828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794760"/>
            <a:ext cx="5120640" cy="1691640"/>
          </a:xfrm>
          <a:prstGeom prst="rect">
            <a:avLst/>
          </a:prstGeom>
          <a:noFill/>
        </p:spPr>
        <p:txBody>
          <a:bodyPr wrap="square" lIns="45720" rIns="45720" tIns="27432" bIns="27432" anchor="t">
            <a:spAutoFit/>
            <a:spAutoFit/>
          </a:bodyPr>
          <a:lstStyle/>
          <a:p>
            <a:pPr algn="l">
              <a:lnSpc>
                <a:spcPct val="115000"/>
              </a:lnSpc>
              <a:spcAft>
                <a:spcPts val="300"/>
              </a:spcAft>
            </a:pPr>
            <a:r>
              <a:rPr sz="1800" b="1">
                <a:solidFill>
                  <a:srgbClr val="2C5F2D"/>
                </a:solidFill>
                <a:latin typeface="游ゴシック"/>
                <a:ea typeface="游ゴシック"/>
              </a:rPr>
              <a:t>文体のルール</a:t>
            </a:r>
          </a:p>
          <a:p>
            <a:pPr algn="l">
              <a:lnSpc>
                <a:spcPct val="115000"/>
              </a:lnSpc>
              <a:spcAft>
                <a:spcPts val="300"/>
              </a:spcAft>
            </a:pPr>
            <a:r>
              <a:rPr sz="1600" b="0">
                <a:solidFill>
                  <a:srgbClr val="23301F"/>
                </a:solidFill>
                <a:latin typeface="游ゴシック"/>
                <a:ea typeface="游ゴシック"/>
              </a:rPr>
              <a:t>・「だ・である」調で統一する</a:t>
            </a:r>
          </a:p>
          <a:p>
            <a:pPr algn="l">
              <a:lnSpc>
                <a:spcPct val="115000"/>
              </a:lnSpc>
              <a:spcAft>
                <a:spcPts val="300"/>
              </a:spcAft>
            </a:pPr>
            <a:r>
              <a:rPr sz="1600" b="0">
                <a:solidFill>
                  <a:srgbClr val="23301F"/>
                </a:solidFill>
                <a:latin typeface="游ゴシック"/>
                <a:ea typeface="游ゴシック"/>
              </a:rPr>
              <a:t>・一文を短く、一文一意</a:t>
            </a:r>
          </a:p>
          <a:p>
            <a:pPr algn="l">
              <a:lnSpc>
                <a:spcPct val="115000"/>
              </a:lnSpc>
              <a:spcAft>
                <a:spcPts val="0"/>
              </a:spcAft>
            </a:pPr>
            <a:r>
              <a:rPr sz="1600" b="0">
                <a:solidFill>
                  <a:srgbClr val="23301F"/>
                </a:solidFill>
                <a:latin typeface="游ゴシック"/>
                <a:ea typeface="游ゴシック"/>
              </a:rPr>
              <a:t>・話し言葉（〜だと思う、〜なので）を避ける</a:t>
            </a:r>
          </a:p>
        </p:txBody>
      </p:sp>
      <p:sp>
        <p:nvSpPr>
          <p:cNvPr id="17" name="Rounded Rectangle 16"/>
          <p:cNvSpPr/>
          <p:nvPr/>
        </p:nvSpPr>
        <p:spPr>
          <a:xfrm>
            <a:off x="6172200" y="3703320"/>
            <a:ext cx="5468112" cy="1828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794760"/>
            <a:ext cx="5102352" cy="1691640"/>
          </a:xfrm>
          <a:prstGeom prst="rect">
            <a:avLst/>
          </a:prstGeom>
          <a:noFill/>
        </p:spPr>
        <p:txBody>
          <a:bodyPr wrap="square" lIns="45720" rIns="45720" tIns="27432" bIns="27432" anchor="t">
            <a:spAutoFit/>
            <a:spAutoFit/>
          </a:bodyPr>
          <a:lstStyle/>
          <a:p>
            <a:pPr algn="l">
              <a:lnSpc>
                <a:spcPct val="115000"/>
              </a:lnSpc>
              <a:spcAft>
                <a:spcPts val="300"/>
              </a:spcAft>
            </a:pPr>
            <a:r>
              <a:rPr sz="1800" b="1">
                <a:solidFill>
                  <a:srgbClr val="2C5F2D"/>
                </a:solidFill>
                <a:latin typeface="游ゴシック"/>
                <a:ea typeface="游ゴシック"/>
              </a:rPr>
              <a:t>大学が見ていること</a:t>
            </a:r>
          </a:p>
          <a:p>
            <a:pPr algn="l">
              <a:lnSpc>
                <a:spcPct val="115000"/>
              </a:lnSpc>
              <a:spcAft>
                <a:spcPts val="300"/>
              </a:spcAft>
            </a:pPr>
            <a:r>
              <a:rPr sz="1600" b="0">
                <a:solidFill>
                  <a:srgbClr val="23301F"/>
                </a:solidFill>
                <a:latin typeface="游ゴシック"/>
                <a:ea typeface="游ゴシック"/>
              </a:rPr>
              <a:t>・資料の事実・数字を正しく使えているか</a:t>
            </a:r>
          </a:p>
          <a:p>
            <a:pPr algn="l">
              <a:lnSpc>
                <a:spcPct val="115000"/>
              </a:lnSpc>
              <a:spcAft>
                <a:spcPts val="300"/>
              </a:spcAft>
            </a:pPr>
            <a:r>
              <a:rPr sz="1600" b="0">
                <a:solidFill>
                  <a:srgbClr val="23301F"/>
                </a:solidFill>
                <a:latin typeface="游ゴシック"/>
                <a:ea typeface="游ゴシック"/>
              </a:rPr>
              <a:t>・食への関心、科学的に考える姿勢があるか</a:t>
            </a:r>
          </a:p>
          <a:p>
            <a:pPr algn="l">
              <a:lnSpc>
                <a:spcPct val="115000"/>
              </a:lnSpc>
              <a:spcAft>
                <a:spcPts val="0"/>
              </a:spcAft>
            </a:pPr>
            <a:r>
              <a:rPr sz="1600" b="0">
                <a:solidFill>
                  <a:srgbClr val="23301F"/>
                </a:solidFill>
                <a:latin typeface="游ゴシック"/>
                <a:ea typeface="游ゴシック"/>
              </a:rPr>
              <a:t>・結論を学科での学び・将来につなげているか</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字数　</a:t>
            </a:r>
            <a:r>
              <a:rPr sz="1800" b="0">
                <a:solidFill>
                  <a:srgbClr val="FFFFFF"/>
                </a:solidFill>
                <a:latin typeface="游ゴシック"/>
                <a:ea typeface="游ゴシック"/>
              </a:rPr>
              <a:t>600〜800字なら、最低でも720字（9割）を目標に書き切る。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テーマ1｜農業経営体数の推移</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2026年度・自己推薦（12月14日実施）の過去問／600〜800字</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6</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02317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農業経営体数の推移を示した表について説明したうえで、国内の食料供給を維持するための方策について、あなたの考えを述べなさい。</a:t>
            </a:r>
          </a:p>
        </p:txBody>
      </p:sp>
      <p:graphicFrame>
        <p:nvGraphicFramePr>
          <p:cNvPr id="11" name="Table 10"/>
          <p:cNvGraphicFramePr>
            <a:graphicFrameLocks noGrp="1"/>
          </p:cNvGraphicFramePr>
          <p:nvPr/>
        </p:nvGraphicFramePr>
        <p:xfrm>
          <a:off x="777240" y="3373183"/>
          <a:ext cx="6217920" cy="1737360"/>
        </p:xfrm>
        <a:graphic>
          <a:graphicData uri="http://schemas.openxmlformats.org/drawingml/2006/table">
            <a:tbl>
              <a:tblPr firstRow="1" bandRow="0">
                <a:tableStyleId>{5C22544A-7EE6-4342-B048-85BDC9FD1C3A}</a:tableStyleId>
              </a:tblPr>
              <a:tblGrid>
                <a:gridCol w="2072640"/>
                <a:gridCol w="2072640"/>
                <a:gridCol w="2072640"/>
              </a:tblGrid>
              <a:tr h="434340">
                <a:tc>
                  <a:txBody>
                    <a:bodyPr/>
                    <a:lstStyle/>
                    <a:p>
                      <a:pPr algn="ctr"/>
                      <a:r>
                        <a:rPr sz="1500" b="1">
                          <a:solidFill>
                            <a:srgbClr val="FFFFFF"/>
                          </a:solidFill>
                          <a:latin typeface="游ゴシック"/>
                          <a:ea typeface="游ゴシック"/>
                        </a:rPr>
                        <a:t>年</a:t>
                      </a:r>
                    </a:p>
                  </a:txBody>
                  <a:tcPr marT="18288" marB="18288" anchor="ctr">
                    <a:solidFill>
                      <a:srgbClr val="2C5F2D"/>
                    </a:solidFill>
                  </a:tcPr>
                </a:tc>
                <a:tc>
                  <a:txBody>
                    <a:bodyPr/>
                    <a:lstStyle/>
                    <a:p>
                      <a:pPr algn="ctr"/>
                      <a:r>
                        <a:rPr sz="1500" b="1">
                          <a:solidFill>
                            <a:srgbClr val="FFFFFF"/>
                          </a:solidFill>
                          <a:latin typeface="游ゴシック"/>
                          <a:ea typeface="游ゴシック"/>
                        </a:rPr>
                        <a:t>農業経営体数（千）</a:t>
                      </a:r>
                    </a:p>
                  </a:txBody>
                  <a:tcPr marT="18288" marB="18288" anchor="ctr">
                    <a:solidFill>
                      <a:srgbClr val="2C5F2D"/>
                    </a:solidFill>
                  </a:tcPr>
                </a:tc>
                <a:tc>
                  <a:txBody>
                    <a:bodyPr/>
                    <a:lstStyle/>
                    <a:p>
                      <a:pPr algn="ctr"/>
                      <a:r>
                        <a:rPr sz="1500" b="1">
                          <a:solidFill>
                            <a:srgbClr val="FFFFFF"/>
                          </a:solidFill>
                          <a:latin typeface="游ゴシック"/>
                          <a:ea typeface="游ゴシック"/>
                        </a:rPr>
                        <a:t>5年前からの減少率</a:t>
                      </a:r>
                    </a:p>
                  </a:txBody>
                  <a:tcPr marT="18288" marB="18288" anchor="ctr">
                    <a:solidFill>
                      <a:srgbClr val="2C5F2D"/>
                    </a:solidFill>
                  </a:tcPr>
                </a:tc>
              </a:tr>
              <a:tr h="434340">
                <a:tc>
                  <a:txBody>
                    <a:bodyPr/>
                    <a:lstStyle/>
                    <a:p>
                      <a:pPr algn="ctr"/>
                      <a:r>
                        <a:rPr sz="1500" b="0">
                          <a:solidFill>
                            <a:srgbClr val="23301F"/>
                          </a:solidFill>
                          <a:latin typeface="游ゴシック"/>
                          <a:ea typeface="游ゴシック"/>
                        </a:rPr>
                        <a:t>2015年</a:t>
                      </a:r>
                    </a:p>
                  </a:txBody>
                  <a:tcPr marT="18288" marB="18288" anchor="ctr">
                    <a:solidFill>
                      <a:srgbClr val="FFFFFF"/>
                    </a:solidFill>
                  </a:tcPr>
                </a:tc>
                <a:tc>
                  <a:txBody>
                    <a:bodyPr/>
                    <a:lstStyle/>
                    <a:p>
                      <a:pPr algn="ctr"/>
                      <a:r>
                        <a:rPr sz="1500" b="0">
                          <a:solidFill>
                            <a:srgbClr val="23301F"/>
                          </a:solidFill>
                          <a:latin typeface="游ゴシック"/>
                          <a:ea typeface="游ゴシック"/>
                        </a:rPr>
                        <a:t>1,377</a:t>
                      </a:r>
                    </a:p>
                  </a:txBody>
                  <a:tcPr marT="18288" marB="18288" anchor="ctr">
                    <a:solidFill>
                      <a:srgbClr val="FFFFFF"/>
                    </a:solidFill>
                  </a:tcPr>
                </a:tc>
                <a:tc>
                  <a:txBody>
                    <a:bodyPr/>
                    <a:lstStyle/>
                    <a:p>
                      <a:pPr algn="ctr"/>
                      <a:r>
                        <a:rPr sz="1500" b="0">
                          <a:solidFill>
                            <a:srgbClr val="23301F"/>
                          </a:solidFill>
                          <a:latin typeface="游ゴシック"/>
                          <a:ea typeface="游ゴシック"/>
                        </a:rPr>
                        <a:t>―</a:t>
                      </a:r>
                    </a:p>
                  </a:txBody>
                  <a:tcPr marT="18288" marB="18288" anchor="ctr">
                    <a:solidFill>
                      <a:srgbClr val="FFFFFF"/>
                    </a:solidFill>
                  </a:tcPr>
                </a:tc>
              </a:tr>
              <a:tr h="434340">
                <a:tc>
                  <a:txBody>
                    <a:bodyPr/>
                    <a:lstStyle/>
                    <a:p>
                      <a:pPr algn="ctr"/>
                      <a:r>
                        <a:rPr sz="1500" b="0">
                          <a:solidFill>
                            <a:srgbClr val="23301F"/>
                          </a:solidFill>
                          <a:latin typeface="游ゴシック"/>
                          <a:ea typeface="游ゴシック"/>
                        </a:rPr>
                        <a:t>2020年</a:t>
                      </a:r>
                    </a:p>
                  </a:txBody>
                  <a:tcPr marT="18288" marB="18288" anchor="ctr">
                    <a:solidFill>
                      <a:srgbClr val="FFFFFF"/>
                    </a:solidFill>
                  </a:tcPr>
                </a:tc>
                <a:tc>
                  <a:txBody>
                    <a:bodyPr/>
                    <a:lstStyle/>
                    <a:p>
                      <a:pPr algn="ctr"/>
                      <a:r>
                        <a:rPr sz="1500" b="0">
                          <a:solidFill>
                            <a:srgbClr val="23301F"/>
                          </a:solidFill>
                          <a:latin typeface="游ゴシック"/>
                          <a:ea typeface="游ゴシック"/>
                        </a:rPr>
                        <a:t>1,076</a:t>
                      </a:r>
                    </a:p>
                  </a:txBody>
                  <a:tcPr marT="18288" marB="18288" anchor="ctr">
                    <a:solidFill>
                      <a:srgbClr val="FFFFFF"/>
                    </a:solidFill>
                  </a:tcPr>
                </a:tc>
                <a:tc>
                  <a:txBody>
                    <a:bodyPr/>
                    <a:lstStyle/>
                    <a:p>
                      <a:pPr algn="ctr"/>
                      <a:r>
                        <a:rPr sz="1500" b="0">
                          <a:solidFill>
                            <a:srgbClr val="23301F"/>
                          </a:solidFill>
                          <a:latin typeface="游ゴシック"/>
                          <a:ea typeface="游ゴシック"/>
                        </a:rPr>
                        <a:t>21.9%減</a:t>
                      </a:r>
                    </a:p>
                  </a:txBody>
                  <a:tcPr marT="18288" marB="18288" anchor="ctr">
                    <a:solidFill>
                      <a:srgbClr val="FFFFFF"/>
                    </a:solidFill>
                  </a:tcPr>
                </a:tc>
              </a:tr>
              <a:tr h="434340">
                <a:tc>
                  <a:txBody>
                    <a:bodyPr/>
                    <a:lstStyle/>
                    <a:p>
                      <a:pPr algn="ctr"/>
                      <a:r>
                        <a:rPr sz="1500" b="0">
                          <a:solidFill>
                            <a:srgbClr val="23301F"/>
                          </a:solidFill>
                          <a:latin typeface="游ゴシック"/>
                          <a:ea typeface="游ゴシック"/>
                        </a:rPr>
                        <a:t>2025年</a:t>
                      </a:r>
                    </a:p>
                  </a:txBody>
                  <a:tcPr marT="18288" marB="18288" anchor="ctr">
                    <a:solidFill>
                      <a:srgbClr val="FFFFFF"/>
                    </a:solidFill>
                  </a:tcPr>
                </a:tc>
                <a:tc>
                  <a:txBody>
                    <a:bodyPr/>
                    <a:lstStyle/>
                    <a:p>
                      <a:pPr algn="ctr"/>
                      <a:r>
                        <a:rPr sz="1500" b="0">
                          <a:solidFill>
                            <a:srgbClr val="23301F"/>
                          </a:solidFill>
                          <a:latin typeface="游ゴシック"/>
                          <a:ea typeface="游ゴシック"/>
                        </a:rPr>
                        <a:t>828</a:t>
                      </a:r>
                    </a:p>
                  </a:txBody>
                  <a:tcPr marT="18288" marB="18288" anchor="ctr">
                    <a:solidFill>
                      <a:srgbClr val="FFFFFF"/>
                    </a:solidFill>
                  </a:tcPr>
                </a:tc>
                <a:tc>
                  <a:txBody>
                    <a:bodyPr/>
                    <a:lstStyle/>
                    <a:p>
                      <a:pPr algn="ctr"/>
                      <a:r>
                        <a:rPr sz="1500" b="0">
                          <a:solidFill>
                            <a:srgbClr val="23301F"/>
                          </a:solidFill>
                          <a:latin typeface="游ゴシック"/>
                          <a:ea typeface="游ゴシック"/>
                        </a:rPr>
                        <a:t>23.0%減</a:t>
                      </a:r>
                    </a:p>
                  </a:txBody>
                  <a:tcPr marT="18288" marB="18288" anchor="ctr">
                    <a:solidFill>
                      <a:srgbClr val="FFFFFF"/>
                    </a:solidFill>
                  </a:tcPr>
                </a:tc>
              </a:tr>
            </a:tbl>
          </a:graphicData>
        </a:graphic>
      </p:graphicFrame>
      <p:sp>
        <p:nvSpPr>
          <p:cNvPr id="12" name="Rounded Rectangle 11"/>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4" name="TextBox 13"/>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「表について説明」＝数字の読み取りが必須</a:t>
            </a:r>
          </a:p>
          <a:p>
            <a:pPr algn="l">
              <a:lnSpc>
                <a:spcPct val="115000"/>
              </a:lnSpc>
              <a:spcAft>
                <a:spcPts val="600"/>
              </a:spcAft>
            </a:pPr>
            <a:r>
              <a:rPr sz="1500" b="0">
                <a:solidFill>
                  <a:srgbClr val="23301F"/>
                </a:solidFill>
                <a:latin typeface="游ゴシック"/>
                <a:ea typeface="游ゴシック"/>
              </a:rPr>
              <a:t>② 「食料供給を維持するための方策」＝具体策</a:t>
            </a:r>
          </a:p>
          <a:p>
            <a:pPr algn="l">
              <a:lnSpc>
                <a:spcPct val="115000"/>
              </a:lnSpc>
              <a:spcAft>
                <a:spcPts val="600"/>
              </a:spcAft>
            </a:pPr>
            <a:r>
              <a:rPr sz="1500" b="0">
                <a:solidFill>
                  <a:srgbClr val="23301F"/>
                </a:solidFill>
                <a:latin typeface="游ゴシック"/>
                <a:ea typeface="游ゴシック"/>
              </a:rPr>
              <a:t>③ 「あなたの考え」＝自分の意見として書く</a:t>
            </a:r>
          </a:p>
          <a:p>
            <a:pPr algn="l">
              <a:lnSpc>
                <a:spcPct val="115000"/>
              </a:lnSpc>
              <a:spcAft>
                <a:spcPts val="600"/>
              </a:spcAft>
            </a:pPr>
            <a:r>
              <a:rPr sz="1500" b="0">
                <a:solidFill>
                  <a:srgbClr val="23301F"/>
                </a:solidFill>
                <a:latin typeface="游ゴシック"/>
                <a:ea typeface="游ゴシック"/>
              </a:rPr>
              <a:t>④ 表の数字：1,377 → 1,076 → 828</a:t>
            </a:r>
          </a:p>
          <a:p>
            <a:pPr algn="l">
              <a:lnSpc>
                <a:spcPct val="115000"/>
              </a:lnSpc>
              <a:spcAft>
                <a:spcPts val="0"/>
              </a:spcAft>
            </a:pPr>
            <a:r>
              <a:rPr sz="1500" b="0">
                <a:solidFill>
                  <a:srgbClr val="23301F"/>
                </a:solidFill>
                <a:latin typeface="游ゴシック"/>
                <a:ea typeface="游ゴシック"/>
              </a:rPr>
              <a:t>⑤ 減少率：21.9% → 23.0%（大きくなっている）</a:t>
            </a:r>
          </a:p>
        </p:txBody>
      </p:sp>
      <p:sp>
        <p:nvSpPr>
          <p:cNvPr id="15" name="Rounded Rectangle 14"/>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最初の5分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お手本｜Q1　要点をつかむ</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クリックするたびに、考える順番どおりに表示されます。</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7</a:t>
            </a:r>
          </a:p>
        </p:txBody>
      </p:sp>
      <p:grpSp>
        <p:nvGrpSpPr>
          <p:cNvPr id="11" name="Group 10"/>
          <p:cNvGrpSpPr/>
          <p:nvPr/>
        </p:nvGrpSpPr>
        <p:grpSpPr>
          <a:xfrm>
            <a:off x="548640" y="1783080"/>
            <a:ext cx="11091672" cy="804672"/>
            <a:chOff x="548640" y="1783080"/>
            <a:chExt cx="11091672" cy="804672"/>
          </a:xfrm>
        </p:grpSpPr>
        <p:sp>
          <p:nvSpPr>
            <p:cNvPr id="8" name="Rounded Rectangle 7"/>
            <p:cNvSpPr/>
            <p:nvPr/>
          </p:nvSpPr>
          <p:spPr>
            <a:xfrm>
              <a:off x="548640" y="1783080"/>
              <a:ext cx="11091672" cy="804672"/>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965960"/>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問われていること①</a:t>
              </a:r>
            </a:p>
          </p:txBody>
        </p:sp>
        <p:sp>
          <p:nvSpPr>
            <p:cNvPr id="10" name="TextBox 9"/>
            <p:cNvSpPr txBox="1"/>
            <p:nvPr/>
          </p:nvSpPr>
          <p:spPr>
            <a:xfrm>
              <a:off x="3291840" y="1783080"/>
              <a:ext cx="8138160" cy="804672"/>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表の説明 ― 数字の変化を、自分の言葉で正確に説明する</a:t>
              </a:r>
            </a:p>
          </p:txBody>
        </p:sp>
      </p:grpSp>
      <p:grpSp>
        <p:nvGrpSpPr>
          <p:cNvPr id="15" name="Group 14"/>
          <p:cNvGrpSpPr/>
          <p:nvPr/>
        </p:nvGrpSpPr>
        <p:grpSpPr>
          <a:xfrm>
            <a:off x="548640" y="2697480"/>
            <a:ext cx="11091672" cy="804672"/>
            <a:chOff x="548640" y="2697480"/>
            <a:chExt cx="11091672" cy="804672"/>
          </a:xfrm>
        </p:grpSpPr>
        <p:sp>
          <p:nvSpPr>
            <p:cNvPr id="12" name="Rounded Rectangle 11"/>
            <p:cNvSpPr/>
            <p:nvPr/>
          </p:nvSpPr>
          <p:spPr>
            <a:xfrm>
              <a:off x="548640" y="2697480"/>
              <a:ext cx="11091672" cy="804672"/>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880360"/>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問われていること②</a:t>
              </a:r>
            </a:p>
          </p:txBody>
        </p:sp>
        <p:sp>
          <p:nvSpPr>
            <p:cNvPr id="14" name="TextBox 13"/>
            <p:cNvSpPr txBox="1"/>
            <p:nvPr/>
          </p:nvSpPr>
          <p:spPr>
            <a:xfrm>
              <a:off x="3291840" y="2697480"/>
              <a:ext cx="8138160" cy="804672"/>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食料供給を維持する方策 ― 自分の考えとして具体策を書く</a:t>
              </a:r>
            </a:p>
          </p:txBody>
        </p:sp>
      </p:grpSp>
      <p:grpSp>
        <p:nvGrpSpPr>
          <p:cNvPr id="19" name="Group 18"/>
          <p:cNvGrpSpPr/>
          <p:nvPr/>
        </p:nvGrpSpPr>
        <p:grpSpPr>
          <a:xfrm>
            <a:off x="548640" y="3611880"/>
            <a:ext cx="11091672" cy="804672"/>
            <a:chOff x="548640" y="3611880"/>
            <a:chExt cx="11091672" cy="804672"/>
          </a:xfrm>
        </p:grpSpPr>
        <p:sp>
          <p:nvSpPr>
            <p:cNvPr id="16" name="Rounded Rectangle 15"/>
            <p:cNvSpPr/>
            <p:nvPr/>
          </p:nvSpPr>
          <p:spPr>
            <a:xfrm>
              <a:off x="548640" y="3611880"/>
              <a:ext cx="11091672" cy="804672"/>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794760"/>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資料のポイント</a:t>
              </a:r>
            </a:p>
          </p:txBody>
        </p:sp>
        <p:sp>
          <p:nvSpPr>
            <p:cNvPr id="18" name="TextBox 17"/>
            <p:cNvSpPr txBox="1"/>
            <p:nvPr/>
          </p:nvSpPr>
          <p:spPr>
            <a:xfrm>
              <a:off x="3291840" y="3611880"/>
              <a:ext cx="8138160" cy="804672"/>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10年で約4割減（1,377千→828千）。減少率は21.9%→23.0%と大きくなり、減少が加速している</a:t>
              </a:r>
            </a:p>
          </p:txBody>
        </p:sp>
      </p:grpSp>
      <p:grpSp>
        <p:nvGrpSpPr>
          <p:cNvPr id="23" name="Group 22"/>
          <p:cNvGrpSpPr/>
          <p:nvPr/>
        </p:nvGrpSpPr>
        <p:grpSpPr>
          <a:xfrm>
            <a:off x="548640" y="4526280"/>
            <a:ext cx="11091672" cy="804672"/>
            <a:chOff x="548640" y="4526280"/>
            <a:chExt cx="11091672" cy="804672"/>
          </a:xfrm>
        </p:grpSpPr>
        <p:sp>
          <p:nvSpPr>
            <p:cNvPr id="20" name="Rounded Rectangle 19"/>
            <p:cNvSpPr/>
            <p:nvPr/>
          </p:nvSpPr>
          <p:spPr>
            <a:xfrm>
              <a:off x="548640" y="4526280"/>
              <a:ext cx="11091672" cy="804672"/>
            </a:xfrm>
            <a:prstGeom prst="roundRect">
              <a:avLst>
                <a:gd name="adj" fmla="val 6000"/>
              </a:avLst>
            </a:prstGeom>
            <a:solidFill>
              <a:srgbClr val="FCEFE3"/>
            </a:solidFill>
            <a:ln w="19050">
              <a:solidFill>
                <a:srgbClr val="D978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 y="4709160"/>
              <a:ext cx="2377440" cy="43891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一言でいうと</a:t>
              </a:r>
            </a:p>
          </p:txBody>
        </p:sp>
        <p:sp>
          <p:nvSpPr>
            <p:cNvPr id="22" name="TextBox 21"/>
            <p:cNvSpPr txBox="1"/>
            <p:nvPr/>
          </p:nvSpPr>
          <p:spPr>
            <a:xfrm>
              <a:off x="3291840" y="4526280"/>
              <a:ext cx="8138160" cy="804672"/>
            </a:xfrm>
            <a:prstGeom prst="rect">
              <a:avLst/>
            </a:prstGeom>
            <a:noFill/>
          </p:spPr>
          <p:txBody>
            <a:bodyPr wrap="square" lIns="45720" rIns="45720" tIns="27432" bIns="27432" anchor="ctr">
              <a:spAutoFit/>
              <a:spAutoFit/>
            </a:bodyPr>
            <a:lstStyle/>
            <a:p>
              <a:pPr algn="l">
                <a:lnSpc>
                  <a:spcPct val="115000"/>
                </a:lnSpc>
                <a:spcAft>
                  <a:spcPts val="0"/>
                </a:spcAft>
              </a:pPr>
              <a:r>
                <a:rPr sz="1900" b="1">
                  <a:solidFill>
                    <a:srgbClr val="23301F"/>
                  </a:solidFill>
                  <a:latin typeface="游ゴシック"/>
                  <a:ea typeface="游ゴシック"/>
                </a:rPr>
                <a:t>担い手が加速度的に減っていく中で、どうやって食料供給を守るか</a:t>
              </a:r>
            </a:p>
          </p:txBody>
        </p:sp>
      </p:grpSp>
      <p:sp>
        <p:nvSpPr>
          <p:cNvPr id="24" name="Rounded Rectangle 23"/>
          <p:cNvSpPr/>
          <p:nvPr/>
        </p:nvSpPr>
        <p:spPr>
          <a:xfrm>
            <a:off x="548640" y="557784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57784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750" b="1">
                <a:solidFill>
                  <a:srgbClr val="FFFFFF"/>
                </a:solidFill>
                <a:latin typeface="游ゴシック"/>
                <a:ea typeface="游ゴシック"/>
              </a:rPr>
              <a:t>コツ　</a:t>
            </a:r>
            <a:r>
              <a:rPr sz="1750" b="0">
                <a:solidFill>
                  <a:srgbClr val="FFFFFF"/>
                </a:solidFill>
                <a:latin typeface="游ゴシック"/>
                <a:ea typeface="游ゴシック"/>
              </a:rPr>
              <a:t>設問の「〜について説明」「〜について述べよ」を数えると、答える項目の数が分かる。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お手本｜Q2　段落の数を決める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問われていることが「説明」と「方策」の2つ → 本論は「データ・原因・対策」の3段にする</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8</a:t>
            </a:r>
          </a:p>
        </p:txBody>
      </p:sp>
      <p:grpSp>
        <p:nvGrpSpPr>
          <p:cNvPr id="12" name="Group 11"/>
          <p:cNvGrpSpPr/>
          <p:nvPr/>
        </p:nvGrpSpPr>
        <p:grpSpPr>
          <a:xfrm>
            <a:off x="548640" y="2011680"/>
            <a:ext cx="2108606" cy="2377440"/>
            <a:chOff x="548640" y="2011680"/>
            <a:chExt cx="2108606" cy="2377440"/>
          </a:xfrm>
        </p:grpSpPr>
        <p:sp>
          <p:nvSpPr>
            <p:cNvPr id="8" name="Rounded Rectangle 7"/>
            <p:cNvSpPr/>
            <p:nvPr/>
          </p:nvSpPr>
          <p:spPr>
            <a:xfrm>
              <a:off x="548640"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序論</a:t>
              </a:r>
            </a:p>
          </p:txBody>
        </p:sp>
        <p:sp>
          <p:nvSpPr>
            <p:cNvPr id="10" name="TextBox 9"/>
            <p:cNvSpPr txBox="1"/>
            <p:nvPr/>
          </p:nvSpPr>
          <p:spPr>
            <a:xfrm>
              <a:off x="640080"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約100字</a:t>
              </a:r>
            </a:p>
          </p:txBody>
        </p:sp>
        <p:sp>
          <p:nvSpPr>
            <p:cNvPr id="11" name="TextBox 10"/>
            <p:cNvSpPr txBox="1"/>
            <p:nvPr/>
          </p:nvSpPr>
          <p:spPr>
            <a:xfrm>
              <a:off x="640080"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結論（主張）を先に言う</a:t>
              </a:r>
            </a:p>
          </p:txBody>
        </p:sp>
      </p:grpSp>
      <p:grpSp>
        <p:nvGrpSpPr>
          <p:cNvPr id="17" name="Group 16"/>
          <p:cNvGrpSpPr/>
          <p:nvPr/>
        </p:nvGrpSpPr>
        <p:grpSpPr>
          <a:xfrm>
            <a:off x="2794406" y="2011680"/>
            <a:ext cx="2108606" cy="2377440"/>
            <a:chOff x="2794406" y="2011680"/>
            <a:chExt cx="2108606" cy="2377440"/>
          </a:xfrm>
        </p:grpSpPr>
        <p:sp>
          <p:nvSpPr>
            <p:cNvPr id="13" name="Rounded Rectangle 12"/>
            <p:cNvSpPr/>
            <p:nvPr/>
          </p:nvSpPr>
          <p:spPr>
            <a:xfrm>
              <a:off x="2794406"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31566"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本論①</a:t>
              </a:r>
            </a:p>
          </p:txBody>
        </p:sp>
        <p:sp>
          <p:nvSpPr>
            <p:cNvPr id="15" name="TextBox 14"/>
            <p:cNvSpPr txBox="1"/>
            <p:nvPr/>
          </p:nvSpPr>
          <p:spPr>
            <a:xfrm>
              <a:off x="2885846"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150〜200字</a:t>
              </a:r>
            </a:p>
          </p:txBody>
        </p:sp>
        <p:sp>
          <p:nvSpPr>
            <p:cNvPr id="16" name="TextBox 15"/>
            <p:cNvSpPr txBox="1"/>
            <p:nvPr/>
          </p:nvSpPr>
          <p:spPr>
            <a:xfrm>
              <a:off x="2885846"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表の読み取り（データ）</a:t>
              </a:r>
            </a:p>
          </p:txBody>
        </p:sp>
      </p:grpSp>
      <p:grpSp>
        <p:nvGrpSpPr>
          <p:cNvPr id="22" name="Group 21"/>
          <p:cNvGrpSpPr/>
          <p:nvPr/>
        </p:nvGrpSpPr>
        <p:grpSpPr>
          <a:xfrm>
            <a:off x="5040172" y="2011680"/>
            <a:ext cx="2108606" cy="2377440"/>
            <a:chOff x="5040172" y="2011680"/>
            <a:chExt cx="2108606" cy="2377440"/>
          </a:xfrm>
        </p:grpSpPr>
        <p:sp>
          <p:nvSpPr>
            <p:cNvPr id="18" name="Rounded Rectangle 17"/>
            <p:cNvSpPr/>
            <p:nvPr/>
          </p:nvSpPr>
          <p:spPr>
            <a:xfrm>
              <a:off x="5040172"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77332"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本論②</a:t>
              </a:r>
            </a:p>
          </p:txBody>
        </p:sp>
        <p:sp>
          <p:nvSpPr>
            <p:cNvPr id="20" name="TextBox 19"/>
            <p:cNvSpPr txBox="1"/>
            <p:nvPr/>
          </p:nvSpPr>
          <p:spPr>
            <a:xfrm>
              <a:off x="5131612"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150〜200字</a:t>
              </a:r>
            </a:p>
          </p:txBody>
        </p:sp>
        <p:sp>
          <p:nvSpPr>
            <p:cNvPr id="21" name="TextBox 20"/>
            <p:cNvSpPr txBox="1"/>
            <p:nvPr/>
          </p:nvSpPr>
          <p:spPr>
            <a:xfrm>
              <a:off x="5131612"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減少の背景（原因）</a:t>
              </a:r>
            </a:p>
          </p:txBody>
        </p:sp>
      </p:grpSp>
      <p:grpSp>
        <p:nvGrpSpPr>
          <p:cNvPr id="27" name="Group 26"/>
          <p:cNvGrpSpPr/>
          <p:nvPr/>
        </p:nvGrpSpPr>
        <p:grpSpPr>
          <a:xfrm>
            <a:off x="7285939" y="2011680"/>
            <a:ext cx="2108606" cy="2377440"/>
            <a:chOff x="7285939" y="2011680"/>
            <a:chExt cx="2108606" cy="2377440"/>
          </a:xfrm>
        </p:grpSpPr>
        <p:sp>
          <p:nvSpPr>
            <p:cNvPr id="23" name="Rounded Rectangle 22"/>
            <p:cNvSpPr/>
            <p:nvPr/>
          </p:nvSpPr>
          <p:spPr>
            <a:xfrm>
              <a:off x="7285939"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23099"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本論③</a:t>
              </a:r>
            </a:p>
          </p:txBody>
        </p:sp>
        <p:sp>
          <p:nvSpPr>
            <p:cNvPr id="25" name="TextBox 24"/>
            <p:cNvSpPr txBox="1"/>
            <p:nvPr/>
          </p:nvSpPr>
          <p:spPr>
            <a:xfrm>
              <a:off x="7377379"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150〜200字</a:t>
              </a:r>
            </a:p>
          </p:txBody>
        </p:sp>
        <p:sp>
          <p:nvSpPr>
            <p:cNvPr id="26" name="TextBox 25"/>
            <p:cNvSpPr txBox="1"/>
            <p:nvPr/>
          </p:nvSpPr>
          <p:spPr>
            <a:xfrm>
              <a:off x="7377379"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食料供給を守る方策（対策）</a:t>
              </a:r>
            </a:p>
          </p:txBody>
        </p:sp>
      </p:grpSp>
      <p:grpSp>
        <p:nvGrpSpPr>
          <p:cNvPr id="32" name="Group 31"/>
          <p:cNvGrpSpPr/>
          <p:nvPr/>
        </p:nvGrpSpPr>
        <p:grpSpPr>
          <a:xfrm>
            <a:off x="9531705" y="2011680"/>
            <a:ext cx="2108606" cy="2377440"/>
            <a:chOff x="9531705" y="2011680"/>
            <a:chExt cx="2108606" cy="2377440"/>
          </a:xfrm>
        </p:grpSpPr>
        <p:sp>
          <p:nvSpPr>
            <p:cNvPr id="28" name="Rounded Rectangle 27"/>
            <p:cNvSpPr/>
            <p:nvPr/>
          </p:nvSpPr>
          <p:spPr>
            <a:xfrm>
              <a:off x="9531705"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68865"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結論</a:t>
              </a:r>
            </a:p>
          </p:txBody>
        </p:sp>
        <p:sp>
          <p:nvSpPr>
            <p:cNvPr id="30" name="TextBox 29"/>
            <p:cNvSpPr txBox="1"/>
            <p:nvPr/>
          </p:nvSpPr>
          <p:spPr>
            <a:xfrm>
              <a:off x="9623145"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約150字</a:t>
              </a:r>
            </a:p>
          </p:txBody>
        </p:sp>
        <p:sp>
          <p:nvSpPr>
            <p:cNvPr id="31" name="TextBox 30"/>
            <p:cNvSpPr txBox="1"/>
            <p:nvPr/>
          </p:nvSpPr>
          <p:spPr>
            <a:xfrm>
              <a:off x="9623145"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まとめ＋学科での学びへ</a:t>
              </a:r>
            </a:p>
          </p:txBody>
        </p:sp>
      </p:grpSp>
      <p:grpSp>
        <p:nvGrpSpPr>
          <p:cNvPr id="35" name="Group 34"/>
          <p:cNvGrpSpPr/>
          <p:nvPr/>
        </p:nvGrpSpPr>
        <p:grpSpPr>
          <a:xfrm>
            <a:off x="548640" y="4572000"/>
            <a:ext cx="11091672" cy="868680"/>
            <a:chOff x="548640" y="4572000"/>
            <a:chExt cx="11091672" cy="868680"/>
          </a:xfrm>
        </p:grpSpPr>
        <p:sp>
          <p:nvSpPr>
            <p:cNvPr id="33" name="Rounded Rectangle 32"/>
            <p:cNvSpPr/>
            <p:nvPr/>
          </p:nvSpPr>
          <p:spPr>
            <a:xfrm>
              <a:off x="548640" y="4572000"/>
              <a:ext cx="11091672" cy="868680"/>
            </a:xfrm>
            <a:prstGeom prst="roundRect">
              <a:avLst>
                <a:gd name="adj" fmla="val 6000"/>
              </a:avLst>
            </a:prstGeom>
            <a:solidFill>
              <a:srgbClr val="FCEFE3"/>
            </a:solidFill>
            <a:ln w="19050">
              <a:solidFill>
                <a:srgbClr val="D978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572000"/>
              <a:ext cx="10634472" cy="86868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D9782D"/>
                  </a:solidFill>
                  <a:latin typeface="游ゴシック"/>
                  <a:ea typeface="游ゴシック"/>
                </a:rPr>
                <a:t>決定：</a:t>
              </a:r>
              <a:r>
                <a:rPr sz="2000" b="1">
                  <a:solidFill>
                    <a:srgbClr val="23301F"/>
                  </a:solidFill>
                  <a:latin typeface="游ゴシック"/>
                  <a:ea typeface="游ゴシック"/>
                </a:rPr>
                <a:t>5段落（序論1・本論3・結論1）。合計700〜750字をねらう。</a:t>
              </a:r>
            </a:p>
          </p:txBody>
        </p:sp>
      </p:grpSp>
      <p:sp>
        <p:nvSpPr>
          <p:cNvPr id="36" name="Rounded Rectangle 35"/>
          <p:cNvSpPr/>
          <p:nvPr/>
        </p:nvSpPr>
        <p:spPr>
          <a:xfrm>
            <a:off x="548640" y="557784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57784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なぜ3段？　</a:t>
            </a:r>
            <a:r>
              <a:rPr sz="1800" b="0">
                <a:solidFill>
                  <a:srgbClr val="FFFFFF"/>
                </a:solidFill>
                <a:latin typeface="游ゴシック"/>
                <a:ea typeface="游ゴシック"/>
              </a:rPr>
              <a:t>「説明」と「方策」の間に「原因」をはさむと、対策に説得力が出る。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お手本｜Q3　各段落を箇条書きで肉付けする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文章ではなく、短いメモでよい。このメモがそのまま答案になる。</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9</a:t>
            </a:r>
          </a:p>
        </p:txBody>
      </p:sp>
      <p:grpSp>
        <p:nvGrpSpPr>
          <p:cNvPr id="23" name="Group 22"/>
          <p:cNvGrpSpPr/>
          <p:nvPr/>
        </p:nvGrpSpPr>
        <p:grpSpPr>
          <a:xfrm>
            <a:off x="548640" y="1783080"/>
            <a:ext cx="11091672" cy="713231"/>
            <a:chOff x="548640" y="1783080"/>
            <a:chExt cx="11091672" cy="713231"/>
          </a:xfrm>
        </p:grpSpPr>
        <p:sp>
          <p:nvSpPr>
            <p:cNvPr id="8" name="Rounded Rectangle 7"/>
            <p:cNvSpPr/>
            <p:nvPr/>
          </p:nvSpPr>
          <p:spPr>
            <a:xfrm>
              <a:off x="548640" y="178308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856231"/>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1874519" y="181965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10年で約4割減 → 食料供給の維持には「担い手の確保」と「生産性の向上」の両面が必要（主張）</a:t>
              </a:r>
            </a:p>
          </p:txBody>
        </p:sp>
      </p:grpSp>
      <p:grpSp>
        <p:nvGrpSpPr>
          <p:cNvPr id="24" name="Group 23"/>
          <p:cNvGrpSpPr/>
          <p:nvPr/>
        </p:nvGrpSpPr>
        <p:grpSpPr>
          <a:xfrm>
            <a:off x="548640" y="2560320"/>
            <a:ext cx="11091672" cy="713231"/>
            <a:chOff x="548640" y="2560320"/>
            <a:chExt cx="11091672" cy="713231"/>
          </a:xfrm>
        </p:grpSpPr>
        <p:sp>
          <p:nvSpPr>
            <p:cNvPr id="11" name="Rounded Rectangle 10"/>
            <p:cNvSpPr/>
            <p:nvPr/>
          </p:nvSpPr>
          <p:spPr>
            <a:xfrm>
              <a:off x="548640" y="256032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 y="263347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874519" y="259689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2015年1,377千 → 2020年1,076千（21.9%減）→ 2025年828千（23.0%減）／約4割減・減少が加速</a:t>
              </a:r>
            </a:p>
          </p:txBody>
        </p:sp>
      </p:grpSp>
      <p:grpSp>
        <p:nvGrpSpPr>
          <p:cNvPr id="25" name="Group 24"/>
          <p:cNvGrpSpPr/>
          <p:nvPr/>
        </p:nvGrpSpPr>
        <p:grpSpPr>
          <a:xfrm>
            <a:off x="548640" y="3337559"/>
            <a:ext cx="11091672" cy="713231"/>
            <a:chOff x="548640" y="3337559"/>
            <a:chExt cx="11091672" cy="713231"/>
          </a:xfrm>
        </p:grpSpPr>
        <p:sp>
          <p:nvSpPr>
            <p:cNvPr id="14" name="Rounded Rectangle 13"/>
            <p:cNvSpPr/>
            <p:nvPr/>
          </p:nvSpPr>
          <p:spPr>
            <a:xfrm>
              <a:off x="548640" y="3337559"/>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410711"/>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6" name="TextBox 15"/>
            <p:cNvSpPr txBox="1"/>
            <p:nvPr/>
          </p:nvSpPr>
          <p:spPr>
            <a:xfrm>
              <a:off x="1874519" y="3374135"/>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原因：農業従事者の高齢化・後継者不足／重労働・収入が天候に左右される → 若い世代が就農しにくい</a:t>
              </a:r>
            </a:p>
          </p:txBody>
        </p:sp>
      </p:grpSp>
      <p:grpSp>
        <p:nvGrpSpPr>
          <p:cNvPr id="26" name="Group 25"/>
          <p:cNvGrpSpPr/>
          <p:nvPr/>
        </p:nvGrpSpPr>
        <p:grpSpPr>
          <a:xfrm>
            <a:off x="548640" y="4114800"/>
            <a:ext cx="11091672" cy="713231"/>
            <a:chOff x="548640" y="4114800"/>
            <a:chExt cx="11091672" cy="713231"/>
          </a:xfrm>
        </p:grpSpPr>
        <p:sp>
          <p:nvSpPr>
            <p:cNvPr id="17" name="Rounded Rectangle 16"/>
            <p:cNvSpPr/>
            <p:nvPr/>
          </p:nvSpPr>
          <p:spPr>
            <a:xfrm>
              <a:off x="548640" y="411480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418795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19" name="TextBox 18"/>
            <p:cNvSpPr txBox="1"/>
            <p:nvPr/>
          </p:nvSpPr>
          <p:spPr>
            <a:xfrm>
              <a:off x="1874519" y="415137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対策1：スマート農業（ドローン等）で少人数でも広い農地を管理／対策2：企業・若者の新規参入を研修・資金で支援</a:t>
              </a:r>
            </a:p>
          </p:txBody>
        </p:sp>
      </p:grpSp>
      <p:grpSp>
        <p:nvGrpSpPr>
          <p:cNvPr id="27" name="Group 26"/>
          <p:cNvGrpSpPr/>
          <p:nvPr/>
        </p:nvGrpSpPr>
        <p:grpSpPr>
          <a:xfrm>
            <a:off x="548640" y="4892040"/>
            <a:ext cx="11091672" cy="713231"/>
            <a:chOff x="548640" y="4892040"/>
            <a:chExt cx="11091672" cy="713231"/>
          </a:xfrm>
        </p:grpSpPr>
        <p:sp>
          <p:nvSpPr>
            <p:cNvPr id="20" name="Rounded Rectangle 19"/>
            <p:cNvSpPr/>
            <p:nvPr/>
          </p:nvSpPr>
          <p:spPr>
            <a:xfrm>
              <a:off x="548640" y="489204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 y="496519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2" name="TextBox 21"/>
            <p:cNvSpPr txBox="1"/>
            <p:nvPr/>
          </p:nvSpPr>
          <p:spPr>
            <a:xfrm>
              <a:off x="1874519" y="492861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データを活用した生産性向上が不可欠 → フードデータサイエンス学科で農業データの分析を学び、スマート農業の導入支援へ</a:t>
              </a:r>
            </a:p>
          </p:txBody>
        </p:sp>
      </p:grpSp>
      <p:sp>
        <p:nvSpPr>
          <p:cNvPr id="28" name="Rounded Rectangle 27"/>
          <p:cNvSpPr/>
          <p:nvPr/>
        </p:nvSpPr>
        <p:spPr>
          <a:xfrm>
            <a:off x="548640" y="5669280"/>
            <a:ext cx="11091672" cy="54864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669280"/>
            <a:ext cx="10634472" cy="548640"/>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ここまで15分　</a:t>
            </a:r>
            <a:r>
              <a:rPr sz="1800" b="0">
                <a:solidFill>
                  <a:srgbClr val="FFFFFF"/>
                </a:solidFill>
                <a:latin typeface="游ゴシック"/>
                <a:ea typeface="游ゴシック"/>
              </a:rPr>
              <a:t>メモが完成したら、あとは35分で書き写すように文章にするだけ。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テーマ1｜模範解答</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Q3のメモを、そのまま文章にした完成答案</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書く 35分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10</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合計735字（序論96・本論①159・本論②146・本論③184・結論150）</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484124"/>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農業経営体数は10年で約4割減少しており、食料供給を維持するには担い手の確保と生産性向上の両面からの対策が必要である。この課題は農業者だけでなく、食を消費する私たち全員に関わる問題だと考える。</a:t>
            </a:r>
          </a:p>
        </p:txBody>
      </p:sp>
      <p:sp>
        <p:nvSpPr>
          <p:cNvPr id="12" name="Rounded Rectangle 11"/>
          <p:cNvSpPr/>
          <p:nvPr/>
        </p:nvSpPr>
        <p:spPr>
          <a:xfrm>
            <a:off x="704088" y="2431796"/>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783080" y="2395220"/>
            <a:ext cx="9674352" cy="698754"/>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表によると、農業経営体数は2015年の1,377千から2020年には1,076千（21.9%減）、2025年には828千（23.0%減）へと減少している。10年間で約549千、割合にして約4割が失われた計算である。しかも直近5年の減少率は前の5年を上回っており、減少は一時的なものではなく加速していることが読み取れる。</a:t>
            </a:r>
          </a:p>
        </p:txBody>
      </p:sp>
      <p:sp>
        <p:nvSpPr>
          <p:cNvPr id="14" name="Rounded Rectangle 13"/>
          <p:cNvSpPr/>
          <p:nvPr/>
        </p:nvSpPr>
        <p:spPr>
          <a:xfrm>
            <a:off x="704088" y="3194558"/>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5" name="TextBox 14"/>
          <p:cNvSpPr txBox="1"/>
          <p:nvPr/>
        </p:nvSpPr>
        <p:spPr>
          <a:xfrm>
            <a:off x="1783080" y="3157982"/>
            <a:ext cx="9674352" cy="698754"/>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この背景には、農業従事者の高齢化と後継者不足により、経営を続けられない世帯が増えていることがあると考えられる。農業は自然を相手にする重労働であり、収入も天候に左右されやすいため、若い世代が新たに就農しにくい。退く人が増える一方で受け継ぐ人が少なく、経営体数の減少に歯止めがかからないのである。</a:t>
            </a:r>
          </a:p>
        </p:txBody>
      </p:sp>
      <p:sp>
        <p:nvSpPr>
          <p:cNvPr id="16" name="Rounded Rectangle 15"/>
          <p:cNvSpPr/>
          <p:nvPr/>
        </p:nvSpPr>
        <p:spPr>
          <a:xfrm>
            <a:off x="704088" y="3957319"/>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17" name="TextBox 16"/>
          <p:cNvSpPr txBox="1"/>
          <p:nvPr/>
        </p:nvSpPr>
        <p:spPr>
          <a:xfrm>
            <a:off x="1783080" y="3920743"/>
            <a:ext cx="9674352" cy="913384"/>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そこで私は、次の二つの対策が必要だと考える。第一に、ドローンなどを使うスマート農業の導入を支援し、少ない人数でも広い農地を管理できるようにすることである。作業が省力化されれば、高齢の農家も経営を続けやすくなる。第二に、企業や若者の新規参入を後押しすることである。研修や資金面の支援を整えれば、担い手の減少そのものを補うことができ、少ない経営体数でも生産性を維持できる。</a:t>
            </a:r>
          </a:p>
        </p:txBody>
      </p:sp>
      <p:sp>
        <p:nvSpPr>
          <p:cNvPr id="18" name="Rounded Rectangle 17"/>
          <p:cNvSpPr/>
          <p:nvPr/>
        </p:nvSpPr>
        <p:spPr>
          <a:xfrm>
            <a:off x="704088" y="4934712"/>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9" name="TextBox 18"/>
          <p:cNvSpPr txBox="1"/>
          <p:nvPr/>
        </p:nvSpPr>
        <p:spPr>
          <a:xfrm>
            <a:off x="1783080" y="4898136"/>
            <a:ext cx="9674352" cy="698754"/>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以上より、農業経営体数の減少という構造的な課題に対しては、データを活用した生産性向上策が不可欠である。食料供給を守ることは、私たちの暮らしを守ることに直結する。私はフードデータサイエンス学科で農業データの分析手法を学び、卒業後はスマート農業の導入支援など、データで農業の未来を支える仕事に携わりたい。</a:t>
            </a:r>
          </a:p>
        </p:txBody>
      </p:sp>
      <p:sp>
        <p:nvSpPr>
          <p:cNvPr id="20" name="Rounded Rectangle 19"/>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表の数字を使って説明した　✓ データ→原因→対策の順　✓ 説明と方策の両方に答えた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テーマ2｜農業・農村の多面的機能</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2026年度・自己推薦（10月19日実施）の過去問／600〜800字</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11</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02317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農業・農村の多面的機能について述べた資料を踏まえ、あなたが特に大切だと考える機能を挙げ、その機能を守るために必要な具体策を、理由とともに述べなさい。</a:t>
            </a:r>
          </a:p>
        </p:txBody>
      </p:sp>
      <p:sp>
        <p:nvSpPr>
          <p:cNvPr id="11" name="TextBox 10"/>
          <p:cNvSpPr txBox="1"/>
          <p:nvPr/>
        </p:nvSpPr>
        <p:spPr>
          <a:xfrm>
            <a:off x="777240" y="3373183"/>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2C5F2D"/>
                </a:solidFill>
                <a:latin typeface="游ゴシック"/>
                <a:ea typeface="游ゴシック"/>
              </a:rPr>
              <a:t>資料に挙げられた機能</a:t>
            </a:r>
          </a:p>
        </p:txBody>
      </p:sp>
      <p:sp>
        <p:nvSpPr>
          <p:cNvPr id="12" name="Rounded Rectangle 11"/>
          <p:cNvSpPr/>
          <p:nvPr/>
        </p:nvSpPr>
        <p:spPr>
          <a:xfrm>
            <a:off x="777240" y="3812095"/>
            <a:ext cx="196596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国土の保全</a:t>
            </a:r>
          </a:p>
        </p:txBody>
      </p:sp>
      <p:sp>
        <p:nvSpPr>
          <p:cNvPr id="13" name="Rounded Rectangle 12"/>
          <p:cNvSpPr/>
          <p:nvPr/>
        </p:nvSpPr>
        <p:spPr>
          <a:xfrm>
            <a:off x="2880360" y="3812095"/>
            <a:ext cx="196596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水源の涵養</a:t>
            </a:r>
          </a:p>
        </p:txBody>
      </p:sp>
      <p:sp>
        <p:nvSpPr>
          <p:cNvPr id="14" name="Rounded Rectangle 13"/>
          <p:cNvSpPr/>
          <p:nvPr/>
        </p:nvSpPr>
        <p:spPr>
          <a:xfrm>
            <a:off x="4983479" y="3812095"/>
            <a:ext cx="196596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自然環境の保全</a:t>
            </a:r>
          </a:p>
        </p:txBody>
      </p:sp>
      <p:sp>
        <p:nvSpPr>
          <p:cNvPr id="15" name="Rounded Rectangle 14"/>
          <p:cNvSpPr/>
          <p:nvPr/>
        </p:nvSpPr>
        <p:spPr>
          <a:xfrm>
            <a:off x="777240" y="4379023"/>
            <a:ext cx="196596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良好な景観の形成</a:t>
            </a:r>
          </a:p>
        </p:txBody>
      </p:sp>
      <p:sp>
        <p:nvSpPr>
          <p:cNvPr id="16" name="Rounded Rectangle 15"/>
          <p:cNvSpPr/>
          <p:nvPr/>
        </p:nvSpPr>
        <p:spPr>
          <a:xfrm>
            <a:off x="2880360" y="4379023"/>
            <a:ext cx="196596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文化の伝承</a:t>
            </a:r>
          </a:p>
        </p:txBody>
      </p:sp>
      <p:sp>
        <p:nvSpPr>
          <p:cNvPr id="17" name="Rounded Rectangle 16"/>
          <p:cNvSpPr/>
          <p:nvPr/>
        </p:nvSpPr>
        <p:spPr>
          <a:xfrm>
            <a:off x="4983479" y="4379023"/>
            <a:ext cx="196596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癒し・安らぎ</a:t>
            </a:r>
          </a:p>
        </p:txBody>
      </p:sp>
      <p:sp>
        <p:nvSpPr>
          <p:cNvPr id="18" name="Rounded Rectangle 17"/>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20" name="TextBox 19"/>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「特に大切だと考える機能」＝1つに絞る</a:t>
            </a:r>
          </a:p>
          <a:p>
            <a:pPr algn="l">
              <a:lnSpc>
                <a:spcPct val="115000"/>
              </a:lnSpc>
              <a:spcAft>
                <a:spcPts val="600"/>
              </a:spcAft>
            </a:pPr>
            <a:r>
              <a:rPr sz="1500" b="0">
                <a:solidFill>
                  <a:srgbClr val="23301F"/>
                </a:solidFill>
                <a:latin typeface="游ゴシック"/>
                <a:ea typeface="游ゴシック"/>
              </a:rPr>
              <a:t>② 「理由とともに」＝なぜ大切か</a:t>
            </a:r>
          </a:p>
          <a:p>
            <a:pPr algn="l">
              <a:lnSpc>
                <a:spcPct val="115000"/>
              </a:lnSpc>
              <a:spcAft>
                <a:spcPts val="600"/>
              </a:spcAft>
            </a:pPr>
            <a:r>
              <a:rPr sz="1500" b="0">
                <a:solidFill>
                  <a:srgbClr val="23301F"/>
                </a:solidFill>
                <a:latin typeface="游ゴシック"/>
                <a:ea typeface="游ゴシック"/>
              </a:rPr>
              <a:t>③ 「具体策」＝誰が・何を・どうするか</a:t>
            </a:r>
          </a:p>
          <a:p>
            <a:pPr algn="l">
              <a:lnSpc>
                <a:spcPct val="115000"/>
              </a:lnSpc>
              <a:spcAft>
                <a:spcPts val="600"/>
              </a:spcAft>
            </a:pPr>
            <a:r>
              <a:rPr sz="1500" b="0">
                <a:solidFill>
                  <a:srgbClr val="23301F"/>
                </a:solidFill>
                <a:latin typeface="游ゴシック"/>
                <a:ea typeface="游ゴシック"/>
              </a:rPr>
              <a:t>④ 資料は文章のみで数字がない</a:t>
            </a:r>
          </a:p>
          <a:p>
            <a:pPr algn="l">
              <a:lnSpc>
                <a:spcPct val="115000"/>
              </a:lnSpc>
              <a:spcAft>
                <a:spcPts val="0"/>
              </a:spcAft>
            </a:pPr>
            <a:r>
              <a:rPr sz="1500" b="0">
                <a:solidFill>
                  <a:srgbClr val="23301F"/>
                </a:solidFill>
                <a:latin typeface="游ゴシック"/>
                <a:ea typeface="游ゴシック"/>
              </a:rPr>
              <a:t>⑤ 資料の機能名をそのまま使う</a:t>
            </a:r>
          </a:p>
        </p:txBody>
      </p:sp>
      <p:sp>
        <p:nvSpPr>
          <p:cNvPr id="21" name="Rounded Rectangle 20"/>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最初の5分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テーマ2｜ワークシート ①</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農業・農村の多面的機能　― ノート（解答用紙）に書き出そう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12</a:t>
            </a:r>
          </a:p>
        </p:txBody>
      </p:sp>
      <p:sp>
        <p:nvSpPr>
          <p:cNvPr id="8" name="Rounded Rectangle 7"/>
          <p:cNvSpPr/>
          <p:nvPr/>
        </p:nvSpPr>
        <p:spPr>
          <a:xfrm>
            <a:off x="54864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Q1</a:t>
            </a:r>
          </a:p>
        </p:txBody>
      </p:sp>
      <p:sp>
        <p:nvSpPr>
          <p:cNvPr id="9" name="TextBox 8"/>
          <p:cNvSpPr txBox="1"/>
          <p:nvPr/>
        </p:nvSpPr>
        <p:spPr>
          <a:xfrm>
            <a:off x="146304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この問題・資料の「要点」は何か</a:t>
            </a:r>
          </a:p>
        </p:txBody>
      </p:sp>
      <p:sp>
        <p:nvSpPr>
          <p:cNvPr id="10" name="Rounded Rectangle 9"/>
          <p:cNvSpPr/>
          <p:nvPr/>
        </p:nvSpPr>
        <p:spPr>
          <a:xfrm>
            <a:off x="54864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・問われていることはいくつある？（選ぶ／理由／具体策）</a:t>
            </a:r>
          </a:p>
          <a:p>
            <a:pPr algn="l">
              <a:lnSpc>
                <a:spcPct val="115000"/>
              </a:lnSpc>
              <a:spcAft>
                <a:spcPts val="300"/>
              </a:spcAft>
            </a:pPr>
            <a:r>
              <a:rPr sz="1500" b="0">
                <a:solidFill>
                  <a:srgbClr val="23301F"/>
                </a:solidFill>
                <a:latin typeface="游ゴシック"/>
                <a:ea typeface="游ゴシック"/>
              </a:rPr>
              <a:t>・資料に数字はある？ ないなら、何で説得力を出す？</a:t>
            </a:r>
          </a:p>
          <a:p>
            <a:pPr algn="l">
              <a:lnSpc>
                <a:spcPct val="115000"/>
              </a:lnSpc>
              <a:spcAft>
                <a:spcPts val="0"/>
              </a:spcAft>
            </a:pPr>
            <a:r>
              <a:rPr sz="1500" b="0">
                <a:solidFill>
                  <a:srgbClr val="23301F"/>
                </a:solidFill>
                <a:latin typeface="游ゴシック"/>
                <a:ea typeface="游ゴシック"/>
              </a:rPr>
              <a:t>・自分が具体例を語れる機能はどれ？</a:t>
            </a:r>
          </a:p>
        </p:txBody>
      </p:sp>
      <p:sp>
        <p:nvSpPr>
          <p:cNvPr id="12" name="Rounded Rectangle 11"/>
          <p:cNvSpPr/>
          <p:nvPr/>
        </p:nvSpPr>
        <p:spPr>
          <a:xfrm>
            <a:off x="54864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14" name="Rounded Rectangle 13"/>
          <p:cNvSpPr/>
          <p:nvPr/>
        </p:nvSpPr>
        <p:spPr>
          <a:xfrm>
            <a:off x="617220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Q2</a:t>
            </a:r>
          </a:p>
        </p:txBody>
      </p:sp>
      <p:sp>
        <p:nvSpPr>
          <p:cNvPr id="15" name="TextBox 14"/>
          <p:cNvSpPr txBox="1"/>
          <p:nvPr/>
        </p:nvSpPr>
        <p:spPr>
          <a:xfrm>
            <a:off x="708660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全体を何段落で書くか</a:t>
            </a:r>
          </a:p>
        </p:txBody>
      </p:sp>
      <p:sp>
        <p:nvSpPr>
          <p:cNvPr id="16" name="Rounded Rectangle 15"/>
          <p:cNvSpPr/>
          <p:nvPr/>
        </p:nvSpPr>
        <p:spPr>
          <a:xfrm>
            <a:off x="617220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450" b="0">
                <a:solidFill>
                  <a:srgbClr val="23301F"/>
                </a:solidFill>
                <a:latin typeface="游ゴシック"/>
                <a:ea typeface="游ゴシック"/>
              </a:rPr>
              <a:t>・問われていることの数をもとに、本論を何段にする？</a:t>
            </a:r>
          </a:p>
          <a:p>
            <a:pPr algn="l">
              <a:lnSpc>
                <a:spcPct val="115000"/>
              </a:lnSpc>
              <a:spcAft>
                <a:spcPts val="300"/>
              </a:spcAft>
            </a:pPr>
            <a:r>
              <a:rPr sz="1450" b="0">
                <a:solidFill>
                  <a:srgbClr val="23301F"/>
                </a:solidFill>
                <a:latin typeface="游ゴシック"/>
                <a:ea typeface="游ゴシック"/>
              </a:rPr>
              <a:t>・「理由」と「具体策」の間に「今、何が起きているか」を入れると？</a:t>
            </a:r>
          </a:p>
          <a:p>
            <a:pPr algn="l">
              <a:lnSpc>
                <a:spcPct val="115000"/>
              </a:lnSpc>
              <a:spcAft>
                <a:spcPts val="0"/>
              </a:spcAft>
            </a:pPr>
            <a:r>
              <a:rPr sz="1450" b="0">
                <a:solidFill>
                  <a:srgbClr val="23301F"/>
                </a:solidFill>
                <a:latin typeface="游ゴシック"/>
                <a:ea typeface="游ゴシック"/>
              </a:rPr>
              <a:t>・各段落の字数の目安も決めておこう</a:t>
            </a:r>
          </a:p>
        </p:txBody>
      </p:sp>
      <p:sp>
        <p:nvSpPr>
          <p:cNvPr id="18" name="Rounded Rectangle 17"/>
          <p:cNvSpPr/>
          <p:nvPr/>
        </p:nvSpPr>
        <p:spPr>
          <a:xfrm>
            <a:off x="617220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20" name="Rounded Rectangle 19"/>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目安　</a:t>
            </a:r>
            <a:r>
              <a:rPr sz="1800" b="0">
                <a:solidFill>
                  <a:srgbClr val="FFFFFF"/>
                </a:solidFill>
                <a:latin typeface="游ゴシック"/>
                <a:ea typeface="游ゴシック"/>
              </a:rPr>
              <a:t>Q1・Q2で3〜4分。迷ったら、問われていることの数＝本論の段落数で決める。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テーマ2｜ワークシート ②</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　各段落に書く内容を、箇条書きで（文章にしなくてよい）</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13</a:t>
            </a:r>
          </a:p>
        </p:txBody>
      </p:sp>
      <p:sp>
        <p:nvSpPr>
          <p:cNvPr id="8" name="Rounded Rectangle 7"/>
          <p:cNvSpPr/>
          <p:nvPr/>
        </p:nvSpPr>
        <p:spPr>
          <a:xfrm>
            <a:off x="548640" y="1783080"/>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933955"/>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2148840" y="1801368"/>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選んだ機能は？ 主張を一文で</a:t>
            </a:r>
          </a:p>
        </p:txBody>
      </p:sp>
      <p:sp>
        <p:nvSpPr>
          <p:cNvPr id="11" name="Rounded Rectangle 10"/>
          <p:cNvSpPr/>
          <p:nvPr/>
        </p:nvSpPr>
        <p:spPr>
          <a:xfrm>
            <a:off x="6446520" y="1847088"/>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542032"/>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692908"/>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①</a:t>
            </a:r>
          </a:p>
        </p:txBody>
      </p:sp>
      <p:sp>
        <p:nvSpPr>
          <p:cNvPr id="14" name="TextBox 13"/>
          <p:cNvSpPr txBox="1"/>
          <p:nvPr/>
        </p:nvSpPr>
        <p:spPr>
          <a:xfrm>
            <a:off x="2148840" y="2560320"/>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その機能はなぜ大切？ 誰の暮らしに関わる？</a:t>
            </a:r>
          </a:p>
        </p:txBody>
      </p:sp>
      <p:sp>
        <p:nvSpPr>
          <p:cNvPr id="15" name="Rounded Rectangle 14"/>
          <p:cNvSpPr/>
          <p:nvPr/>
        </p:nvSpPr>
        <p:spPr>
          <a:xfrm>
            <a:off x="6446520" y="2606039"/>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300984"/>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3451860"/>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②</a:t>
            </a:r>
          </a:p>
        </p:txBody>
      </p:sp>
      <p:sp>
        <p:nvSpPr>
          <p:cNvPr id="18" name="TextBox 17"/>
          <p:cNvSpPr txBox="1"/>
          <p:nvPr/>
        </p:nvSpPr>
        <p:spPr>
          <a:xfrm>
            <a:off x="2148840" y="3319272"/>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その機能は今、なぜ弱まっている？</a:t>
            </a:r>
          </a:p>
        </p:txBody>
      </p:sp>
      <p:sp>
        <p:nvSpPr>
          <p:cNvPr id="19" name="Rounded Rectangle 18"/>
          <p:cNvSpPr/>
          <p:nvPr/>
        </p:nvSpPr>
        <p:spPr>
          <a:xfrm>
            <a:off x="6446520" y="3364991"/>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4059935"/>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4210812"/>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③</a:t>
            </a:r>
          </a:p>
        </p:txBody>
      </p:sp>
      <p:sp>
        <p:nvSpPr>
          <p:cNvPr id="22" name="TextBox 21"/>
          <p:cNvSpPr txBox="1"/>
          <p:nvPr/>
        </p:nvSpPr>
        <p:spPr>
          <a:xfrm>
            <a:off x="2148840" y="4078223"/>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（必要なら）誰が・何を・どうする？ 具体策を2〜3個</a:t>
            </a:r>
          </a:p>
        </p:txBody>
      </p:sp>
      <p:sp>
        <p:nvSpPr>
          <p:cNvPr id="23" name="Rounded Rectangle 22"/>
          <p:cNvSpPr/>
          <p:nvPr/>
        </p:nvSpPr>
        <p:spPr>
          <a:xfrm>
            <a:off x="6446520" y="4123944"/>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818888"/>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969764"/>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6" name="TextBox 25"/>
          <p:cNvSpPr txBox="1"/>
          <p:nvPr/>
        </p:nvSpPr>
        <p:spPr>
          <a:xfrm>
            <a:off x="2148840" y="4837175"/>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まとめ＋学科で何を学び、どう貢献したいか</a:t>
            </a:r>
          </a:p>
        </p:txBody>
      </p:sp>
      <p:sp>
        <p:nvSpPr>
          <p:cNvPr id="27" name="Rounded Rectangle 26"/>
          <p:cNvSpPr/>
          <p:nvPr/>
        </p:nvSpPr>
        <p:spPr>
          <a:xfrm>
            <a:off x="6446520" y="4882896"/>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5760720"/>
            <a:ext cx="11091672" cy="53035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760720"/>
            <a:ext cx="10634472" cy="530352"/>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メモができたら　</a:t>
            </a:r>
            <a:r>
              <a:rPr sz="1800" b="0">
                <a:solidFill>
                  <a:srgbClr val="FFFFFF"/>
                </a:solidFill>
                <a:latin typeface="游ゴシック"/>
                <a:ea typeface="游ゴシック"/>
              </a:rPr>
              <a:t>続く35分で、このメモどおりに一気に書く → 最後の10分で見直す。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テーマ2｜模範メモ</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農業・農村の多面的機能　― 自分のメモと見比べよう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14</a:t>
            </a:r>
          </a:p>
        </p:txBody>
      </p:sp>
      <p:sp>
        <p:nvSpPr>
          <p:cNvPr id="8" name="Rounded Rectangle 7"/>
          <p:cNvSpPr/>
          <p:nvPr/>
        </p:nvSpPr>
        <p:spPr>
          <a:xfrm>
            <a:off x="548640" y="1783080"/>
            <a:ext cx="457200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4206240" cy="3657600"/>
          </a:xfrm>
          <a:prstGeom prst="rect">
            <a:avLst/>
          </a:prstGeom>
          <a:noFill/>
        </p:spPr>
        <p:txBody>
          <a:bodyPr wrap="square" lIns="45720" rIns="45720" tIns="27432" bIns="27432" anchor="t">
            <a:spAutoFit/>
            <a:spAutoFit/>
          </a:bodyPr>
          <a:lstStyle/>
          <a:p>
            <a:pPr algn="l">
              <a:lnSpc>
                <a:spcPct val="115000"/>
              </a:lnSpc>
              <a:spcAft>
                <a:spcPts val="300"/>
              </a:spcAft>
            </a:pPr>
            <a:r>
              <a:rPr sz="1700" b="1">
                <a:solidFill>
                  <a:srgbClr val="D9782D"/>
                </a:solidFill>
                <a:latin typeface="游ゴシック"/>
                <a:ea typeface="游ゴシック"/>
              </a:rPr>
              <a:t>Q1　要点</a:t>
            </a:r>
          </a:p>
          <a:p>
            <a:pPr algn="l">
              <a:lnSpc>
                <a:spcPct val="115000"/>
              </a:lnSpc>
              <a:spcAft>
                <a:spcPts val="300"/>
              </a:spcAft>
            </a:pPr>
            <a:r>
              <a:rPr sz="1450" b="0">
                <a:solidFill>
                  <a:srgbClr val="23301F"/>
                </a:solidFill>
                <a:latin typeface="游ゴシック"/>
                <a:ea typeface="游ゴシック"/>
              </a:rPr>
              <a:t>・問いは3つ：①機能を1つ選ぶ ②理由 ③具体策</a:t>
            </a:r>
          </a:p>
          <a:p>
            <a:pPr algn="l">
              <a:lnSpc>
                <a:spcPct val="115000"/>
              </a:lnSpc>
              <a:spcAft>
                <a:spcPts val="300"/>
              </a:spcAft>
            </a:pPr>
            <a:r>
              <a:rPr sz="1450" b="0">
                <a:solidFill>
                  <a:srgbClr val="23301F"/>
                </a:solidFill>
                <a:latin typeface="游ゴシック"/>
                <a:ea typeface="游ゴシック"/>
              </a:rPr>
              <a:t>・資料に数字はない → 機能名をそのまま使い、理由の具体性で勝負</a:t>
            </a:r>
          </a:p>
          <a:p>
            <a:pPr algn="l">
              <a:lnSpc>
                <a:spcPct val="115000"/>
              </a:lnSpc>
              <a:spcAft>
                <a:spcPts val="300"/>
              </a:spcAft>
            </a:pPr>
            <a:r>
              <a:rPr sz="1450" b="0">
                <a:solidFill>
                  <a:srgbClr val="23301F"/>
                </a:solidFill>
                <a:latin typeface="游ゴシック"/>
                <a:ea typeface="游ゴシック"/>
              </a:rPr>
              <a:t>・一言で：「水源の涵養」を、なぜ・どう守るか</a:t>
            </a:r>
          </a:p>
          <a:p>
            <a:pPr algn="l">
              <a:lnSpc>
                <a:spcPct val="115000"/>
              </a:lnSpc>
              <a:spcAft>
                <a:spcPts val="300"/>
              </a:spcAft>
            </a:pPr>
            <a:r>
              <a:rPr sz="1700" b="1">
                <a:solidFill>
                  <a:srgbClr val="D9782D"/>
                </a:solidFill>
                <a:latin typeface="游ゴシック"/>
                <a:ea typeface="游ゴシック"/>
              </a:rPr>
              <a:t>Q2　段落構成</a:t>
            </a:r>
          </a:p>
          <a:p>
            <a:pPr algn="l">
              <a:lnSpc>
                <a:spcPct val="115000"/>
              </a:lnSpc>
              <a:spcAft>
                <a:spcPts val="300"/>
              </a:spcAft>
            </a:pPr>
            <a:r>
              <a:rPr sz="1450" b="0">
                <a:solidFill>
                  <a:srgbClr val="23301F"/>
                </a:solidFill>
                <a:latin typeface="游ゴシック"/>
                <a:ea typeface="游ゴシック"/>
              </a:rPr>
              <a:t>・5段落（序論1・本論3・結論1）</a:t>
            </a:r>
          </a:p>
          <a:p>
            <a:pPr algn="l">
              <a:lnSpc>
                <a:spcPct val="115000"/>
              </a:lnSpc>
              <a:spcAft>
                <a:spcPts val="300"/>
              </a:spcAft>
            </a:pPr>
            <a:r>
              <a:rPr sz="1450" b="0">
                <a:solidFill>
                  <a:srgbClr val="23301F"/>
                </a:solidFill>
                <a:latin typeface="游ゴシック"/>
                <a:ea typeface="游ゴシック"/>
              </a:rPr>
              <a:t>・本論＝理由 → 現状 → 具体策</a:t>
            </a:r>
          </a:p>
          <a:p>
            <a:pPr algn="l">
              <a:lnSpc>
                <a:spcPct val="115000"/>
              </a:lnSpc>
              <a:spcAft>
                <a:spcPts val="0"/>
              </a:spcAft>
            </a:pPr>
            <a:r>
              <a:rPr sz="1450" b="0">
                <a:solidFill>
                  <a:srgbClr val="23301F"/>
                </a:solidFill>
                <a:latin typeface="游ゴシック"/>
                <a:ea typeface="游ゴシック"/>
              </a:rPr>
              <a:t>・序論100／本論各150〜180／結論130字前後</a:t>
            </a:r>
          </a:p>
        </p:txBody>
      </p:sp>
      <p:sp>
        <p:nvSpPr>
          <p:cNvPr id="10" name="TextBox 9"/>
          <p:cNvSpPr txBox="1"/>
          <p:nvPr/>
        </p:nvSpPr>
        <p:spPr>
          <a:xfrm>
            <a:off x="5349240" y="1783080"/>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700" b="1">
                <a:solidFill>
                  <a:srgbClr val="D9782D"/>
                </a:solidFill>
                <a:latin typeface="游ゴシック"/>
                <a:ea typeface="游ゴシック"/>
              </a:rPr>
              <a:t>Q3　各段落のメモ</a:t>
            </a:r>
          </a:p>
        </p:txBody>
      </p:sp>
      <p:sp>
        <p:nvSpPr>
          <p:cNvPr id="11" name="Rounded Rectangle 10"/>
          <p:cNvSpPr/>
          <p:nvPr/>
        </p:nvSpPr>
        <p:spPr>
          <a:xfrm>
            <a:off x="5349240" y="2194560"/>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58968" y="2267712"/>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3" name="TextBox 12"/>
          <p:cNvSpPr txBox="1"/>
          <p:nvPr/>
        </p:nvSpPr>
        <p:spPr>
          <a:xfrm>
            <a:off x="6583679" y="2231136"/>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多くの機能の中で、特に「水源の涵養」が大切（主張）</a:t>
            </a:r>
          </a:p>
        </p:txBody>
      </p:sp>
      <p:sp>
        <p:nvSpPr>
          <p:cNvPr id="14" name="Rounded Rectangle 13"/>
          <p:cNvSpPr/>
          <p:nvPr/>
        </p:nvSpPr>
        <p:spPr>
          <a:xfrm>
            <a:off x="5349240" y="2876702"/>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58968" y="2949854"/>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6" name="TextBox 15"/>
          <p:cNvSpPr txBox="1"/>
          <p:nvPr/>
        </p:nvSpPr>
        <p:spPr>
          <a:xfrm>
            <a:off x="6583679" y="2913278"/>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理由：水田が雨水を貯めて地下水を育てる／恩恵は都市の人にも及ぶ</a:t>
            </a:r>
          </a:p>
        </p:txBody>
      </p:sp>
      <p:sp>
        <p:nvSpPr>
          <p:cNvPr id="17" name="Rounded Rectangle 16"/>
          <p:cNvSpPr/>
          <p:nvPr/>
        </p:nvSpPr>
        <p:spPr>
          <a:xfrm>
            <a:off x="5349240" y="3558844"/>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58968" y="3631996"/>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9" name="TextBox 18"/>
          <p:cNvSpPr txBox="1"/>
          <p:nvPr/>
        </p:nvSpPr>
        <p:spPr>
          <a:xfrm>
            <a:off x="6583679" y="3595420"/>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現状：担い手が減る→耕作放棄地・水路の手入れ不足→機能が弱まる</a:t>
            </a:r>
          </a:p>
        </p:txBody>
      </p:sp>
      <p:sp>
        <p:nvSpPr>
          <p:cNvPr id="20" name="Rounded Rectangle 19"/>
          <p:cNvSpPr/>
          <p:nvPr/>
        </p:nvSpPr>
        <p:spPr>
          <a:xfrm>
            <a:off x="5349240" y="4240987"/>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58968" y="4314139"/>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22" name="TextBox 21"/>
          <p:cNvSpPr txBox="1"/>
          <p:nvPr/>
        </p:nvSpPr>
        <p:spPr>
          <a:xfrm>
            <a:off x="6583679" y="4277563"/>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具体策：地域の管理活動への支援／地元産を選ぶ消費／センサー等のデータで省力管理</a:t>
            </a:r>
          </a:p>
        </p:txBody>
      </p:sp>
      <p:sp>
        <p:nvSpPr>
          <p:cNvPr id="23" name="Rounded Rectangle 22"/>
          <p:cNvSpPr/>
          <p:nvPr/>
        </p:nvSpPr>
        <p:spPr>
          <a:xfrm>
            <a:off x="5349240" y="4923129"/>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58968" y="4996281"/>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5" name="TextBox 24"/>
          <p:cNvSpPr txBox="1"/>
          <p:nvPr/>
        </p:nvSpPr>
        <p:spPr>
          <a:xfrm>
            <a:off x="6583679" y="4959705"/>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3つの対策が必要 → 学科でデータ分析を学び、水田・水路の管理を支えたい</a:t>
            </a:r>
          </a:p>
        </p:txBody>
      </p:sp>
      <p:sp>
        <p:nvSpPr>
          <p:cNvPr id="26" name="Rounded Rectangle 25"/>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チェック　</a:t>
            </a:r>
            <a:r>
              <a:rPr sz="1800" b="0">
                <a:solidFill>
                  <a:srgbClr val="FFFFFF"/>
                </a:solidFill>
                <a:latin typeface="游ゴシック"/>
                <a:ea typeface="游ゴシック"/>
              </a:rPr>
              <a:t>問われていることに全部答えているか。段落の役割が重なっていないか。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テーマ2｜模範解答</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選んだ機能：水源の涵養／5段落</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15</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合計729字（序論97・本論①150・本論②179・本論③177・結論126）</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457200"/>
          </a:xfrm>
          <a:prstGeom prst="rect">
            <a:avLst/>
          </a:prstGeom>
          <a:noFill/>
        </p:spPr>
        <p:txBody>
          <a:bodyPr wrap="square" lIns="45720" rIns="45720" tIns="27432" bIns="27432" anchor="t">
            <a:spAutoFit/>
            <a:spAutoFit/>
          </a:bodyPr>
          <a:lstStyle/>
          <a:p>
            <a:pPr algn="l">
              <a:lnSpc>
                <a:spcPct val="115000"/>
              </a:lnSpc>
              <a:spcAft>
                <a:spcPts val="0"/>
              </a:spcAft>
            </a:pPr>
            <a:r>
              <a:rPr sz="1200" b="0">
                <a:solidFill>
                  <a:srgbClr val="23301F"/>
                </a:solidFill>
                <a:latin typeface="游ゴシック"/>
                <a:ea typeface="游ゴシック"/>
              </a:rPr>
              <a:t>農業・農村には国土の保全や自然環境の保全など多くの多面的機能があるが、私は特に水源の涵養が大切だと考える。この機能は暮らしに欠かせない水を支えており、守るための具体的な対策が急がれるからである。</a:t>
            </a:r>
          </a:p>
        </p:txBody>
      </p:sp>
      <p:sp>
        <p:nvSpPr>
          <p:cNvPr id="12" name="Rounded Rectangle 11"/>
          <p:cNvSpPr/>
          <p:nvPr/>
        </p:nvSpPr>
        <p:spPr>
          <a:xfrm>
            <a:off x="704088" y="2404872"/>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783080" y="2368296"/>
            <a:ext cx="9674352" cy="649224"/>
          </a:xfrm>
          <a:prstGeom prst="rect">
            <a:avLst/>
          </a:prstGeom>
          <a:noFill/>
        </p:spPr>
        <p:txBody>
          <a:bodyPr wrap="square" lIns="45720" rIns="45720" tIns="27432" bIns="27432" anchor="t">
            <a:spAutoFit/>
            <a:spAutoFit/>
          </a:bodyPr>
          <a:lstStyle/>
          <a:p>
            <a:pPr algn="l">
              <a:lnSpc>
                <a:spcPct val="115000"/>
              </a:lnSpc>
              <a:spcAft>
                <a:spcPts val="0"/>
              </a:spcAft>
            </a:pPr>
            <a:r>
              <a:rPr sz="1200" b="0">
                <a:solidFill>
                  <a:srgbClr val="23301F"/>
                </a:solidFill>
                <a:latin typeface="游ゴシック"/>
                <a:ea typeface="游ゴシック"/>
              </a:rPr>
              <a:t>水田は雨水を一時的に貯め、ゆっくりと地中に浸透させることで地下水を育てている。その水は農村だけでなく、下流の都市に暮らす人々の飲み水や生活用水にもなる。この働きは、川の水量を安定させることにもつながっている。つまり農業の営みは国民全体の水資源を支えており、この機能の恩恵を受けるのは農家に限られない。</a:t>
            </a:r>
          </a:p>
        </p:txBody>
      </p:sp>
      <p:sp>
        <p:nvSpPr>
          <p:cNvPr id="14" name="Rounded Rectangle 13"/>
          <p:cNvSpPr/>
          <p:nvPr/>
        </p:nvSpPr>
        <p:spPr>
          <a:xfrm>
            <a:off x="704088" y="311810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5" name="TextBox 14"/>
          <p:cNvSpPr txBox="1"/>
          <p:nvPr/>
        </p:nvSpPr>
        <p:spPr>
          <a:xfrm>
            <a:off x="1783080" y="3081528"/>
            <a:ext cx="9674352" cy="649224"/>
          </a:xfrm>
          <a:prstGeom prst="rect">
            <a:avLst/>
          </a:prstGeom>
          <a:noFill/>
        </p:spPr>
        <p:txBody>
          <a:bodyPr wrap="square" lIns="45720" rIns="45720" tIns="27432" bIns="27432" anchor="t">
            <a:spAutoFit/>
            <a:spAutoFit/>
          </a:bodyPr>
          <a:lstStyle/>
          <a:p>
            <a:pPr algn="l">
              <a:lnSpc>
                <a:spcPct val="115000"/>
              </a:lnSpc>
              <a:spcAft>
                <a:spcPts val="0"/>
              </a:spcAft>
            </a:pPr>
            <a:r>
              <a:rPr sz="1200" b="0">
                <a:solidFill>
                  <a:srgbClr val="23301F"/>
                </a:solidFill>
                <a:latin typeface="游ゴシック"/>
                <a:ea typeface="游ゴシック"/>
              </a:rPr>
              <a:t>しかし、この機能は今、弱まる危険にある。農林業センサスの概数値では、農業経営体数は2015年から2025年の10年で約4割減少した。担い手が減れば耕作放棄地が増え、水田や水路の手入れも行き届かなくなる。高齢化が進む地域では、水路の泥上げや草刈りといった共同作業さえ続けにくくなっている。水田が失われれば、水を貯えて地下に浸透させる働きも同時に失われてしまう。</a:t>
            </a:r>
          </a:p>
        </p:txBody>
      </p:sp>
      <p:sp>
        <p:nvSpPr>
          <p:cNvPr id="16" name="Rounded Rectangle 15"/>
          <p:cNvSpPr/>
          <p:nvPr/>
        </p:nvSpPr>
        <p:spPr>
          <a:xfrm>
            <a:off x="704088" y="3831336"/>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17" name="TextBox 16"/>
          <p:cNvSpPr txBox="1"/>
          <p:nvPr/>
        </p:nvSpPr>
        <p:spPr>
          <a:xfrm>
            <a:off x="1783080" y="3794760"/>
            <a:ext cx="9674352" cy="847344"/>
          </a:xfrm>
          <a:prstGeom prst="rect">
            <a:avLst/>
          </a:prstGeom>
          <a:noFill/>
        </p:spPr>
        <p:txBody>
          <a:bodyPr wrap="square" lIns="45720" rIns="45720" tIns="27432" bIns="27432" anchor="t">
            <a:spAutoFit/>
            <a:spAutoFit/>
          </a:bodyPr>
          <a:lstStyle/>
          <a:p>
            <a:pPr algn="l">
              <a:lnSpc>
                <a:spcPct val="115000"/>
              </a:lnSpc>
              <a:spcAft>
                <a:spcPts val="0"/>
              </a:spcAft>
            </a:pPr>
            <a:r>
              <a:rPr sz="1200" b="0">
                <a:solidFill>
                  <a:srgbClr val="23301F"/>
                </a:solidFill>
                <a:latin typeface="游ゴシック"/>
                <a:ea typeface="游ゴシック"/>
              </a:rPr>
              <a:t>そこで私は、次の三つの対策が必要だと考える。第一に、地域ぐるみで農地や水路を維持する活動を支える交付金などを活用し、担い手が少ない地域でも管理を続けられるようにする。第二に、消費者が地元産の米や野菜を選んで買い、農地を守る農家を日々の消費で支える。第三に、センサーや衛星のデータで水田や水路の状態を把握し、少ない人手でも効率よく管理できる仕組みをつくる。</a:t>
            </a:r>
          </a:p>
        </p:txBody>
      </p:sp>
      <p:sp>
        <p:nvSpPr>
          <p:cNvPr id="18" name="Rounded Rectangle 17"/>
          <p:cNvSpPr/>
          <p:nvPr/>
        </p:nvSpPr>
        <p:spPr>
          <a:xfrm>
            <a:off x="704088" y="4742688"/>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9" name="TextBox 18"/>
          <p:cNvSpPr txBox="1"/>
          <p:nvPr/>
        </p:nvSpPr>
        <p:spPr>
          <a:xfrm>
            <a:off x="1783080" y="4706112"/>
            <a:ext cx="9674352" cy="649224"/>
          </a:xfrm>
          <a:prstGeom prst="rect">
            <a:avLst/>
          </a:prstGeom>
          <a:noFill/>
        </p:spPr>
        <p:txBody>
          <a:bodyPr wrap="square" lIns="45720" rIns="45720" tIns="27432" bIns="27432" anchor="t">
            <a:spAutoFit/>
            <a:spAutoFit/>
          </a:bodyPr>
          <a:lstStyle/>
          <a:p>
            <a:pPr algn="l">
              <a:lnSpc>
                <a:spcPct val="115000"/>
              </a:lnSpc>
              <a:spcAft>
                <a:spcPts val="0"/>
              </a:spcAft>
            </a:pPr>
            <a:r>
              <a:rPr sz="1200" b="0">
                <a:solidFill>
                  <a:srgbClr val="23301F"/>
                </a:solidFill>
                <a:latin typeface="游ゴシック"/>
                <a:ea typeface="游ゴシック"/>
              </a:rPr>
              <a:t>以上より、水源の涵養を守るには、地域の管理活動への支援、消費者の選択、データによる省力化の三つが欠かせない。私はフードデータサイエンス学科でデータの分析手法を学び、水田や水路の管理を支える仕組みづくりに携わり、農業の多面的機能を次の世代に引き継ぎたい。</a:t>
            </a:r>
          </a:p>
        </p:txBody>
      </p:sp>
      <p:sp>
        <p:nvSpPr>
          <p:cNvPr id="20" name="Rounded Rectangle 19"/>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機能を1つに絞った　✓ 理由→現状→具体策の順　✓ 資料の言葉をそのまま使った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テーマ3｜食品ロス</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東洋大練習問題集・例題1／600〜800字</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16</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27000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食品ロスが発生する原因には、私たちの食生活や、食品の生産・流通・販売の仕組みなど、さまざまな要因がある。食品ロスを減らすために、私たちの食生活や社会の仕組みをどのように変えていく必要があるか。具体例を挙げながら述べなさい。</a:t>
            </a:r>
          </a:p>
        </p:txBody>
      </p:sp>
      <p:sp>
        <p:nvSpPr>
          <p:cNvPr id="11" name="TextBox 10"/>
          <p:cNvSpPr txBox="1"/>
          <p:nvPr/>
        </p:nvSpPr>
        <p:spPr>
          <a:xfrm>
            <a:off x="777240" y="3620008"/>
            <a:ext cx="6309360" cy="1866391"/>
          </a:xfrm>
          <a:prstGeom prst="rect">
            <a:avLst/>
          </a:prstGeom>
          <a:noFill/>
        </p:spPr>
        <p:txBody>
          <a:bodyPr wrap="square" lIns="45720" rIns="45720" tIns="27432" bIns="27432" anchor="t">
            <a:spAutoFit/>
            <a:spAutoFit/>
          </a:bodyPr>
          <a:lstStyle/>
          <a:p>
            <a:pPr algn="l">
              <a:lnSpc>
                <a:spcPct val="115000"/>
              </a:lnSpc>
              <a:spcAft>
                <a:spcPts val="200"/>
              </a:spcAft>
            </a:pPr>
            <a:r>
              <a:rPr sz="1500" b="1">
                <a:solidFill>
                  <a:srgbClr val="2C5F2D"/>
                </a:solidFill>
                <a:latin typeface="游ゴシック"/>
                <a:ea typeface="游ゴシック"/>
              </a:rPr>
              <a:t>条件</a:t>
            </a:r>
          </a:p>
          <a:p>
            <a:pPr algn="l">
              <a:lnSpc>
                <a:spcPct val="115000"/>
              </a:lnSpc>
              <a:spcAft>
                <a:spcPts val="200"/>
              </a:spcAft>
            </a:pPr>
            <a:r>
              <a:rPr sz="1500" b="0">
                <a:solidFill>
                  <a:srgbClr val="23301F"/>
                </a:solidFill>
                <a:latin typeface="游ゴシック"/>
                <a:ea typeface="游ゴシック"/>
              </a:rPr>
              <a:t>・具体例を挙げる</a:t>
            </a:r>
          </a:p>
          <a:p>
            <a:pPr algn="l">
              <a:lnSpc>
                <a:spcPct val="115000"/>
              </a:lnSpc>
              <a:spcAft>
                <a:spcPts val="200"/>
              </a:spcAft>
            </a:pPr>
            <a:r>
              <a:rPr sz="1500" b="0">
                <a:solidFill>
                  <a:srgbClr val="23301F"/>
                </a:solidFill>
                <a:latin typeface="游ゴシック"/>
                <a:ea typeface="游ゴシック"/>
              </a:rPr>
              <a:t>・600〜800字</a:t>
            </a:r>
          </a:p>
          <a:p>
            <a:pPr algn="l">
              <a:lnSpc>
                <a:spcPct val="115000"/>
              </a:lnSpc>
              <a:spcAft>
                <a:spcPts val="0"/>
              </a:spcAft>
            </a:pPr>
            <a:r>
              <a:rPr sz="1500" b="0">
                <a:solidFill>
                  <a:srgbClr val="23301F"/>
                </a:solidFill>
                <a:latin typeface="游ゴシック"/>
                <a:ea typeface="游ゴシック"/>
              </a:rPr>
              <a:t>・資料（データ）はなし → 知っている事実・身近な例で根拠を示す</a:t>
            </a:r>
          </a:p>
        </p:txBody>
      </p:sp>
      <p:sp>
        <p:nvSpPr>
          <p:cNvPr id="12" name="Rounded Rectangle 11"/>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4" name="TextBox 13"/>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「食生活」と「社会の仕組み」＝視点が2つ</a:t>
            </a:r>
          </a:p>
          <a:p>
            <a:pPr algn="l">
              <a:lnSpc>
                <a:spcPct val="115000"/>
              </a:lnSpc>
              <a:spcAft>
                <a:spcPts val="600"/>
              </a:spcAft>
            </a:pPr>
            <a:r>
              <a:rPr sz="1500" b="0">
                <a:solidFill>
                  <a:srgbClr val="23301F"/>
                </a:solidFill>
                <a:latin typeface="游ゴシック"/>
                <a:ea typeface="游ゴシック"/>
              </a:rPr>
              <a:t>② 「どのように変えていく必要があるか」＝解決策がゴール</a:t>
            </a:r>
          </a:p>
          <a:p>
            <a:pPr algn="l">
              <a:lnSpc>
                <a:spcPct val="115000"/>
              </a:lnSpc>
              <a:spcAft>
                <a:spcPts val="600"/>
              </a:spcAft>
            </a:pPr>
            <a:r>
              <a:rPr sz="1500" b="0">
                <a:solidFill>
                  <a:srgbClr val="23301F"/>
                </a:solidFill>
                <a:latin typeface="游ゴシック"/>
                <a:ea typeface="游ゴシック"/>
              </a:rPr>
              <a:t>③ 「具体例を挙げながら」＝家庭と社会の両方に例を</a:t>
            </a:r>
          </a:p>
          <a:p>
            <a:pPr algn="l">
              <a:lnSpc>
                <a:spcPct val="115000"/>
              </a:lnSpc>
              <a:spcAft>
                <a:spcPts val="0"/>
              </a:spcAft>
            </a:pPr>
            <a:r>
              <a:rPr sz="1500" b="0">
                <a:solidFill>
                  <a:srgbClr val="23301F"/>
                </a:solidFill>
                <a:latin typeface="游ゴシック"/>
                <a:ea typeface="游ゴシック"/>
              </a:rPr>
              <a:t>④ 原因の説明で終わらせない</a:t>
            </a:r>
          </a:p>
        </p:txBody>
      </p:sp>
      <p:sp>
        <p:nvSpPr>
          <p:cNvPr id="15" name="Rounded Rectangle 14"/>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最初の5分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テーマ3｜ワークシート ①</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食品ロス　― ノート（解答用紙）に書き出そう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17</a:t>
            </a:r>
          </a:p>
        </p:txBody>
      </p:sp>
      <p:sp>
        <p:nvSpPr>
          <p:cNvPr id="8" name="Rounded Rectangle 7"/>
          <p:cNvSpPr/>
          <p:nvPr/>
        </p:nvSpPr>
        <p:spPr>
          <a:xfrm>
            <a:off x="54864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Q1</a:t>
            </a:r>
          </a:p>
        </p:txBody>
      </p:sp>
      <p:sp>
        <p:nvSpPr>
          <p:cNvPr id="9" name="TextBox 8"/>
          <p:cNvSpPr txBox="1"/>
          <p:nvPr/>
        </p:nvSpPr>
        <p:spPr>
          <a:xfrm>
            <a:off x="146304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この問題・資料の「要点」は何か</a:t>
            </a:r>
          </a:p>
        </p:txBody>
      </p:sp>
      <p:sp>
        <p:nvSpPr>
          <p:cNvPr id="10" name="Rounded Rectangle 9"/>
          <p:cNvSpPr/>
          <p:nvPr/>
        </p:nvSpPr>
        <p:spPr>
          <a:xfrm>
            <a:off x="54864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・設問が指定している「視点」はいくつ？</a:t>
            </a:r>
          </a:p>
          <a:p>
            <a:pPr algn="l">
              <a:lnSpc>
                <a:spcPct val="115000"/>
              </a:lnSpc>
              <a:spcAft>
                <a:spcPts val="300"/>
              </a:spcAft>
            </a:pPr>
            <a:r>
              <a:rPr sz="1500" b="0">
                <a:solidFill>
                  <a:srgbClr val="23301F"/>
                </a:solidFill>
                <a:latin typeface="游ゴシック"/>
                <a:ea typeface="游ゴシック"/>
              </a:rPr>
              <a:t>・問われているのは原因？ それとも解決策？</a:t>
            </a:r>
          </a:p>
          <a:p>
            <a:pPr algn="l">
              <a:lnSpc>
                <a:spcPct val="115000"/>
              </a:lnSpc>
              <a:spcAft>
                <a:spcPts val="0"/>
              </a:spcAft>
            </a:pPr>
            <a:r>
              <a:rPr sz="1500" b="0">
                <a:solidFill>
                  <a:srgbClr val="23301F"/>
                </a:solidFill>
                <a:latin typeface="游ゴシック"/>
                <a:ea typeface="游ゴシック"/>
              </a:rPr>
              <a:t>・「具体例」は、どの段落に入れる？</a:t>
            </a:r>
          </a:p>
        </p:txBody>
      </p:sp>
      <p:sp>
        <p:nvSpPr>
          <p:cNvPr id="12" name="Rounded Rectangle 11"/>
          <p:cNvSpPr/>
          <p:nvPr/>
        </p:nvSpPr>
        <p:spPr>
          <a:xfrm>
            <a:off x="54864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14" name="Rounded Rectangle 13"/>
          <p:cNvSpPr/>
          <p:nvPr/>
        </p:nvSpPr>
        <p:spPr>
          <a:xfrm>
            <a:off x="617220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Q2</a:t>
            </a:r>
          </a:p>
        </p:txBody>
      </p:sp>
      <p:sp>
        <p:nvSpPr>
          <p:cNvPr id="15" name="TextBox 14"/>
          <p:cNvSpPr txBox="1"/>
          <p:nvPr/>
        </p:nvSpPr>
        <p:spPr>
          <a:xfrm>
            <a:off x="708660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全体を何段落で書くか</a:t>
            </a:r>
          </a:p>
        </p:txBody>
      </p:sp>
      <p:sp>
        <p:nvSpPr>
          <p:cNvPr id="16" name="Rounded Rectangle 15"/>
          <p:cNvSpPr/>
          <p:nvPr/>
        </p:nvSpPr>
        <p:spPr>
          <a:xfrm>
            <a:off x="617220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・視点の数＝本論の段落数、と考えると？</a:t>
            </a:r>
          </a:p>
          <a:p>
            <a:pPr algn="l">
              <a:lnSpc>
                <a:spcPct val="115000"/>
              </a:lnSpc>
              <a:spcAft>
                <a:spcPts val="300"/>
              </a:spcAft>
            </a:pPr>
            <a:r>
              <a:rPr sz="1500" b="0">
                <a:solidFill>
                  <a:srgbClr val="23301F"/>
                </a:solidFill>
                <a:latin typeface="游ゴシック"/>
                <a:ea typeface="游ゴシック"/>
              </a:rPr>
              <a:t>・各本論の中で「原因 → 解決策」の順に書くと？</a:t>
            </a:r>
          </a:p>
          <a:p>
            <a:pPr algn="l">
              <a:lnSpc>
                <a:spcPct val="115000"/>
              </a:lnSpc>
              <a:spcAft>
                <a:spcPts val="0"/>
              </a:spcAft>
            </a:pPr>
            <a:r>
              <a:rPr sz="1500" b="0">
                <a:solidFill>
                  <a:srgbClr val="23301F"/>
                </a:solidFill>
                <a:latin typeface="游ゴシック"/>
                <a:ea typeface="游ゴシック"/>
              </a:rPr>
              <a:t>・各段落の字数の目安も決めておこう</a:t>
            </a:r>
          </a:p>
        </p:txBody>
      </p:sp>
      <p:sp>
        <p:nvSpPr>
          <p:cNvPr id="18" name="Rounded Rectangle 17"/>
          <p:cNvSpPr/>
          <p:nvPr/>
        </p:nvSpPr>
        <p:spPr>
          <a:xfrm>
            <a:off x="617220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20" name="Rounded Rectangle 19"/>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目安　</a:t>
            </a:r>
            <a:r>
              <a:rPr sz="1800" b="0">
                <a:solidFill>
                  <a:srgbClr val="FFFFFF"/>
                </a:solidFill>
                <a:latin typeface="游ゴシック"/>
                <a:ea typeface="游ゴシック"/>
              </a:rPr>
              <a:t>Q1・Q2で3〜4分。迷ったら、問われていることの数＝本論の段落数で決める。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テーマ3｜ワークシート ②</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　各段落に書く内容を、箇条書きで（文章にしなくてよい）</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18</a:t>
            </a:r>
          </a:p>
        </p:txBody>
      </p:sp>
      <p:sp>
        <p:nvSpPr>
          <p:cNvPr id="8" name="Rounded Rectangle 7"/>
          <p:cNvSpPr/>
          <p:nvPr/>
        </p:nvSpPr>
        <p:spPr>
          <a:xfrm>
            <a:off x="548640" y="1783080"/>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933955"/>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2148840" y="1801368"/>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食品ロスの現状＋主張（何を・どう変えるべきか）</a:t>
            </a:r>
          </a:p>
        </p:txBody>
      </p:sp>
      <p:sp>
        <p:nvSpPr>
          <p:cNvPr id="11" name="Rounded Rectangle 10"/>
          <p:cNvSpPr/>
          <p:nvPr/>
        </p:nvSpPr>
        <p:spPr>
          <a:xfrm>
            <a:off x="6446520" y="1847088"/>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542032"/>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692908"/>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①</a:t>
            </a:r>
          </a:p>
        </p:txBody>
      </p:sp>
      <p:sp>
        <p:nvSpPr>
          <p:cNvPr id="14" name="TextBox 13"/>
          <p:cNvSpPr txBox="1"/>
          <p:nvPr/>
        </p:nvSpPr>
        <p:spPr>
          <a:xfrm>
            <a:off x="2148840" y="2560320"/>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食生活の面：原因は？ 家庭でできる工夫は？</a:t>
            </a:r>
          </a:p>
        </p:txBody>
      </p:sp>
      <p:sp>
        <p:nvSpPr>
          <p:cNvPr id="15" name="Rounded Rectangle 14"/>
          <p:cNvSpPr/>
          <p:nvPr/>
        </p:nvSpPr>
        <p:spPr>
          <a:xfrm>
            <a:off x="6446520" y="2606039"/>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300984"/>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3451860"/>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②</a:t>
            </a:r>
          </a:p>
        </p:txBody>
      </p:sp>
      <p:sp>
        <p:nvSpPr>
          <p:cNvPr id="18" name="TextBox 17"/>
          <p:cNvSpPr txBox="1"/>
          <p:nvPr/>
        </p:nvSpPr>
        <p:spPr>
          <a:xfrm>
            <a:off x="2148840" y="3319272"/>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社会の仕組みの面：原因は？ 店や生産者の取り組みは？</a:t>
            </a:r>
          </a:p>
        </p:txBody>
      </p:sp>
      <p:sp>
        <p:nvSpPr>
          <p:cNvPr id="19" name="Rounded Rectangle 18"/>
          <p:cNvSpPr/>
          <p:nvPr/>
        </p:nvSpPr>
        <p:spPr>
          <a:xfrm>
            <a:off x="6446520" y="3364991"/>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4059935"/>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4210812"/>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③</a:t>
            </a:r>
          </a:p>
        </p:txBody>
      </p:sp>
      <p:sp>
        <p:nvSpPr>
          <p:cNvPr id="22" name="TextBox 21"/>
          <p:cNvSpPr txBox="1"/>
          <p:nvPr/>
        </p:nvSpPr>
        <p:spPr>
          <a:xfrm>
            <a:off x="2148840" y="4078223"/>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（必要なら）ほかに加えたい視点があれば</a:t>
            </a:r>
          </a:p>
        </p:txBody>
      </p:sp>
      <p:sp>
        <p:nvSpPr>
          <p:cNvPr id="23" name="Rounded Rectangle 22"/>
          <p:cNvSpPr/>
          <p:nvPr/>
        </p:nvSpPr>
        <p:spPr>
          <a:xfrm>
            <a:off x="6446520" y="4123944"/>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818888"/>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969764"/>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6" name="TextBox 25"/>
          <p:cNvSpPr txBox="1"/>
          <p:nvPr/>
        </p:nvSpPr>
        <p:spPr>
          <a:xfrm>
            <a:off x="2148840" y="4837175"/>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まとめ＋学科で何を学び、どう貢献したいか</a:t>
            </a:r>
          </a:p>
        </p:txBody>
      </p:sp>
      <p:sp>
        <p:nvSpPr>
          <p:cNvPr id="27" name="Rounded Rectangle 26"/>
          <p:cNvSpPr/>
          <p:nvPr/>
        </p:nvSpPr>
        <p:spPr>
          <a:xfrm>
            <a:off x="6446520" y="4882896"/>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5760720"/>
            <a:ext cx="11091672" cy="53035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760720"/>
            <a:ext cx="10634472" cy="530352"/>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メモができたら　</a:t>
            </a:r>
            <a:r>
              <a:rPr sz="1800" b="0">
                <a:solidFill>
                  <a:srgbClr val="FFFFFF"/>
                </a:solidFill>
                <a:latin typeface="游ゴシック"/>
                <a:ea typeface="游ゴシック"/>
              </a:rPr>
              <a:t>続く35分で、このメモどおりに一気に書く → 最後の10分で見直す。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テーマ3｜模範メモ</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食品ロス　― 自分のメモと見比べよう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19</a:t>
            </a:r>
          </a:p>
        </p:txBody>
      </p:sp>
      <p:sp>
        <p:nvSpPr>
          <p:cNvPr id="8" name="Rounded Rectangle 7"/>
          <p:cNvSpPr/>
          <p:nvPr/>
        </p:nvSpPr>
        <p:spPr>
          <a:xfrm>
            <a:off x="548640" y="1783080"/>
            <a:ext cx="457200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4206240" cy="3657600"/>
          </a:xfrm>
          <a:prstGeom prst="rect">
            <a:avLst/>
          </a:prstGeom>
          <a:noFill/>
        </p:spPr>
        <p:txBody>
          <a:bodyPr wrap="square" lIns="45720" rIns="45720" tIns="27432" bIns="27432" anchor="t">
            <a:spAutoFit/>
            <a:spAutoFit/>
          </a:bodyPr>
          <a:lstStyle/>
          <a:p>
            <a:pPr algn="l">
              <a:lnSpc>
                <a:spcPct val="115000"/>
              </a:lnSpc>
              <a:spcAft>
                <a:spcPts val="300"/>
              </a:spcAft>
            </a:pPr>
            <a:r>
              <a:rPr sz="1700" b="1">
                <a:solidFill>
                  <a:srgbClr val="D9782D"/>
                </a:solidFill>
                <a:latin typeface="游ゴシック"/>
                <a:ea typeface="游ゴシック"/>
              </a:rPr>
              <a:t>Q1　要点</a:t>
            </a:r>
          </a:p>
          <a:p>
            <a:pPr algn="l">
              <a:lnSpc>
                <a:spcPct val="115000"/>
              </a:lnSpc>
              <a:spcAft>
                <a:spcPts val="300"/>
              </a:spcAft>
            </a:pPr>
            <a:r>
              <a:rPr sz="1450" b="0">
                <a:solidFill>
                  <a:srgbClr val="23301F"/>
                </a:solidFill>
                <a:latin typeface="游ゴシック"/>
                <a:ea typeface="游ゴシック"/>
              </a:rPr>
              <a:t>・視点は2つ：①食生活（家庭） ②社会の仕組み（生産・流通・販売）</a:t>
            </a:r>
          </a:p>
          <a:p>
            <a:pPr algn="l">
              <a:lnSpc>
                <a:spcPct val="115000"/>
              </a:lnSpc>
              <a:spcAft>
                <a:spcPts val="300"/>
              </a:spcAft>
            </a:pPr>
            <a:r>
              <a:rPr sz="1450" b="0">
                <a:solidFill>
                  <a:srgbClr val="23301F"/>
                </a:solidFill>
                <a:latin typeface="游ゴシック"/>
                <a:ea typeface="游ゴシック"/>
              </a:rPr>
              <a:t>・ゴールは「どう変えるか」＝解決策。原因は解決策の前置き</a:t>
            </a:r>
          </a:p>
          <a:p>
            <a:pPr algn="l">
              <a:lnSpc>
                <a:spcPct val="115000"/>
              </a:lnSpc>
              <a:spcAft>
                <a:spcPts val="300"/>
              </a:spcAft>
            </a:pPr>
            <a:r>
              <a:rPr sz="1450" b="0">
                <a:solidFill>
                  <a:srgbClr val="23301F"/>
                </a:solidFill>
                <a:latin typeface="游ゴシック"/>
                <a:ea typeface="游ゴシック"/>
              </a:rPr>
              <a:t>・一言で：家庭と社会の両方で、捨てる仕組みを変える</a:t>
            </a:r>
          </a:p>
          <a:p>
            <a:pPr algn="l">
              <a:lnSpc>
                <a:spcPct val="115000"/>
              </a:lnSpc>
              <a:spcAft>
                <a:spcPts val="300"/>
              </a:spcAft>
            </a:pPr>
            <a:r>
              <a:rPr sz="1700" b="1">
                <a:solidFill>
                  <a:srgbClr val="D9782D"/>
                </a:solidFill>
                <a:latin typeface="游ゴシック"/>
                <a:ea typeface="游ゴシック"/>
              </a:rPr>
              <a:t>Q2　段落構成</a:t>
            </a:r>
          </a:p>
          <a:p>
            <a:pPr algn="l">
              <a:lnSpc>
                <a:spcPct val="115000"/>
              </a:lnSpc>
              <a:spcAft>
                <a:spcPts val="300"/>
              </a:spcAft>
            </a:pPr>
            <a:r>
              <a:rPr sz="1450" b="0">
                <a:solidFill>
                  <a:srgbClr val="23301F"/>
                </a:solidFill>
                <a:latin typeface="游ゴシック"/>
                <a:ea typeface="游ゴシック"/>
              </a:rPr>
              <a:t>・4段落（序論1・本論2・結論1）</a:t>
            </a:r>
          </a:p>
          <a:p>
            <a:pPr algn="l">
              <a:lnSpc>
                <a:spcPct val="115000"/>
              </a:lnSpc>
              <a:spcAft>
                <a:spcPts val="300"/>
              </a:spcAft>
            </a:pPr>
            <a:r>
              <a:rPr sz="1450" b="0">
                <a:solidFill>
                  <a:srgbClr val="23301F"/>
                </a:solidFill>
                <a:latin typeface="游ゴシック"/>
                <a:ea typeface="游ゴシック"/>
              </a:rPr>
              <a:t>・本論①＝食生活、本論②＝社会の仕組み</a:t>
            </a:r>
          </a:p>
          <a:p>
            <a:pPr algn="l">
              <a:lnSpc>
                <a:spcPct val="115000"/>
              </a:lnSpc>
              <a:spcAft>
                <a:spcPts val="0"/>
              </a:spcAft>
            </a:pPr>
            <a:r>
              <a:rPr sz="1450" b="0">
                <a:solidFill>
                  <a:srgbClr val="23301F"/>
                </a:solidFill>
                <a:latin typeface="游ゴシック"/>
                <a:ea typeface="游ゴシック"/>
              </a:rPr>
              <a:t>・序論130／本論各220〜250／結論130字前後</a:t>
            </a:r>
          </a:p>
        </p:txBody>
      </p:sp>
      <p:sp>
        <p:nvSpPr>
          <p:cNvPr id="10" name="TextBox 9"/>
          <p:cNvSpPr txBox="1"/>
          <p:nvPr/>
        </p:nvSpPr>
        <p:spPr>
          <a:xfrm>
            <a:off x="5349240" y="1783080"/>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700" b="1">
                <a:solidFill>
                  <a:srgbClr val="D9782D"/>
                </a:solidFill>
                <a:latin typeface="游ゴシック"/>
                <a:ea typeface="游ゴシック"/>
              </a:rPr>
              <a:t>Q3　各段落のメモ</a:t>
            </a:r>
          </a:p>
        </p:txBody>
      </p:sp>
      <p:sp>
        <p:nvSpPr>
          <p:cNvPr id="11" name="Rounded Rectangle 10"/>
          <p:cNvSpPr/>
          <p:nvPr/>
        </p:nvSpPr>
        <p:spPr>
          <a:xfrm>
            <a:off x="5349240" y="2194560"/>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58968" y="2267712"/>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3" name="TextBox 12"/>
          <p:cNvSpPr txBox="1"/>
          <p:nvPr/>
        </p:nvSpPr>
        <p:spPr>
          <a:xfrm>
            <a:off x="6583679" y="2231136"/>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200" b="0">
                <a:solidFill>
                  <a:srgbClr val="23301F"/>
                </a:solidFill>
                <a:latin typeface="游ゴシック"/>
                <a:ea typeface="游ゴシック"/>
              </a:rPr>
              <a:t>年間472万トン・約半分が家庭から → 食生活と社会の仕組みの両方を変える（主張）</a:t>
            </a:r>
          </a:p>
        </p:txBody>
      </p:sp>
      <p:sp>
        <p:nvSpPr>
          <p:cNvPr id="14" name="Rounded Rectangle 13"/>
          <p:cNvSpPr/>
          <p:nvPr/>
        </p:nvSpPr>
        <p:spPr>
          <a:xfrm>
            <a:off x="5349240" y="3047238"/>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58968" y="3120390"/>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6" name="TextBox 15"/>
          <p:cNvSpPr txBox="1"/>
          <p:nvPr/>
        </p:nvSpPr>
        <p:spPr>
          <a:xfrm>
            <a:off x="6583679" y="3083814"/>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200" b="0">
                <a:solidFill>
                  <a:srgbClr val="23301F"/>
                </a:solidFill>
                <a:latin typeface="游ゴシック"/>
                <a:ea typeface="游ゴシック"/>
              </a:rPr>
              <a:t>原因：買いすぎ・作りすぎ・期限表示の誤解 → 冷蔵庫を確認して必要な分だけ買う／残り物の作り変え</a:t>
            </a:r>
          </a:p>
        </p:txBody>
      </p:sp>
      <p:sp>
        <p:nvSpPr>
          <p:cNvPr id="17" name="Rounded Rectangle 16"/>
          <p:cNvSpPr/>
          <p:nvPr/>
        </p:nvSpPr>
        <p:spPr>
          <a:xfrm>
            <a:off x="5349240" y="3899915"/>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58968" y="3973068"/>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9" name="TextBox 18"/>
          <p:cNvSpPr txBox="1"/>
          <p:nvPr/>
        </p:nvSpPr>
        <p:spPr>
          <a:xfrm>
            <a:off x="6583679" y="3936491"/>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200" b="0">
                <a:solidFill>
                  <a:srgbClr val="23301F"/>
                </a:solidFill>
                <a:latin typeface="游ゴシック"/>
                <a:ea typeface="游ゴシック"/>
              </a:rPr>
              <a:t>原因：規格外品の廃棄・需要予測のずれ → 加工品・直売所／値引き情報の共有（フードシェアリング）／データで仕入れ調整</a:t>
            </a:r>
          </a:p>
        </p:txBody>
      </p:sp>
      <p:sp>
        <p:nvSpPr>
          <p:cNvPr id="20" name="Rounded Rectangle 19"/>
          <p:cNvSpPr/>
          <p:nvPr/>
        </p:nvSpPr>
        <p:spPr>
          <a:xfrm>
            <a:off x="5349240" y="4752594"/>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58968" y="4825746"/>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2" name="TextBox 21"/>
          <p:cNvSpPr txBox="1"/>
          <p:nvPr/>
        </p:nvSpPr>
        <p:spPr>
          <a:xfrm>
            <a:off x="6583679" y="4789170"/>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200" b="0">
                <a:solidFill>
                  <a:srgbClr val="23301F"/>
                </a:solidFill>
                <a:latin typeface="游ゴシック"/>
                <a:ea typeface="游ゴシック"/>
              </a:rPr>
              <a:t>家庭と社会の両輪で → 学科でデータを学び、廃棄を事前に防ぐ仕組みづくりへ</a:t>
            </a:r>
          </a:p>
        </p:txBody>
      </p:sp>
      <p:sp>
        <p:nvSpPr>
          <p:cNvPr id="23" name="Rounded Rectangle 22"/>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チェック　</a:t>
            </a:r>
            <a:r>
              <a:rPr sz="1800" b="0">
                <a:solidFill>
                  <a:srgbClr val="FFFFFF"/>
                </a:solidFill>
                <a:latin typeface="游ゴシック"/>
                <a:ea typeface="游ゴシック"/>
              </a:rPr>
              <a:t>問われていることに全部答えているか。段落の役割が重なっていないか。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テーマ3｜模範解答</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視点2つを本論2段で／4段落</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20</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合計744字（序論126・本論①211・本論②248・結論159）</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698754"/>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日本では、まだ食べられるのに捨てられる食品ロスが、令和4年度の推計で年間472万トンにのぼり、その約半分は家庭から出ている。食品ロスを減らすには、私たち一人ひとりの食生活と、食品の生産・流通・販売という社会の仕組みの両方を変えていく必要があると考える。</a:t>
            </a:r>
          </a:p>
        </p:txBody>
      </p:sp>
      <p:sp>
        <p:nvSpPr>
          <p:cNvPr id="12" name="Rounded Rectangle 11"/>
          <p:cNvSpPr/>
          <p:nvPr/>
        </p:nvSpPr>
        <p:spPr>
          <a:xfrm>
            <a:off x="704088" y="2646426"/>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783080" y="2609850"/>
            <a:ext cx="9674352" cy="913384"/>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まず食生活の面では、買いすぎや作りすぎ、期限表示の誤解が大きな原因である。特に賞味期限は「おいしく食べられる期限」であり、過ぎてもすぐに食べられなくなるわけではないが、消費期限と混同して捨ててしまう人は少なくない。そこで、買い物の前に冷蔵庫の中を確認して必要な分だけ買うことや、残った料理を別の料理に作り変えることを習慣にすべきである。例えば、冷蔵庫の中を写真に撮ってから買い物に行けば、同じ食材を重ねて買うことを防げる。</a:t>
            </a:r>
          </a:p>
        </p:txBody>
      </p:sp>
      <p:sp>
        <p:nvSpPr>
          <p:cNvPr id="14" name="Rounded Rectangle 13"/>
          <p:cNvSpPr/>
          <p:nvPr/>
        </p:nvSpPr>
        <p:spPr>
          <a:xfrm>
            <a:off x="704088" y="3623818"/>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5" name="TextBox 14"/>
          <p:cNvSpPr txBox="1"/>
          <p:nvPr/>
        </p:nvSpPr>
        <p:spPr>
          <a:xfrm>
            <a:off x="1783080" y="3587242"/>
            <a:ext cx="9674352" cy="1128014"/>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次に社会の仕組みの面では、形や大きさが規格に合わない野菜が出荷されずに捨てられることや、需要の予測がずれて売れ残りが出ることが原因となっている。これに対しては、規格外品を加工品の原料にしたり、直売所で手頃な価格で売ったりする取り組みを広げるべきである。また、閉店前に売れ残りそうな商品の値引き情報を消費者に知らせるフードシェアリングや、過去の販売データと天気予報をもとに仕入れ量を調整する仕組みも有効である。こうした仕組みは、捨てる量を減らすだけでなく、店や生産者の損失を減らすことにもつながる。</a:t>
            </a:r>
          </a:p>
        </p:txBody>
      </p:sp>
      <p:sp>
        <p:nvSpPr>
          <p:cNvPr id="16" name="Rounded Rectangle 15"/>
          <p:cNvSpPr/>
          <p:nvPr/>
        </p:nvSpPr>
        <p:spPr>
          <a:xfrm>
            <a:off x="704088" y="4815840"/>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7" name="TextBox 16"/>
          <p:cNvSpPr txBox="1"/>
          <p:nvPr/>
        </p:nvSpPr>
        <p:spPr>
          <a:xfrm>
            <a:off x="1783080" y="4779264"/>
            <a:ext cx="9674352" cy="698754"/>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以上より、食品ロスを減らすには、家庭での買い方・使い方の見直しと、規格外品の活用やデータによる需要予測といった社会の仕組みの改善を、両輪で進めることが必要である。食品を無駄にしないことは、環境を守ることにもつながる。私はフードデータサイエンス学科でデータ分析を学び、売れ残りや廃棄を事前に防ぐ仕組みづくりに貢献したい。</a:t>
            </a:r>
          </a:p>
        </p:txBody>
      </p:sp>
      <p:sp>
        <p:nvSpPr>
          <p:cNvPr id="18" name="Rounded Rectangle 17"/>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2つの視点に両方答えた　✓ 各本論で原因→解決策　✓ 家庭と社会の具体例を入れた</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4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テーマ4｜健康と環境の両立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東洋大練習問題集・例題2／600〜800字</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21</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573784"/>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健康的な食生活」と「環境に配慮した食生活」は、必ずしも同じとは限らない。栄養バランス、食品の生産方法、輸送、食品ロスなどの観点から考え、健康と環境の両方に配慮した食生活を実現するために重要なことは何か。自身の考えを述べなさい。</a:t>
            </a:r>
          </a:p>
        </p:txBody>
      </p:sp>
      <p:sp>
        <p:nvSpPr>
          <p:cNvPr id="11" name="TextBox 10"/>
          <p:cNvSpPr txBox="1"/>
          <p:nvPr/>
        </p:nvSpPr>
        <p:spPr>
          <a:xfrm>
            <a:off x="777240" y="3923792"/>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2C5F2D"/>
                </a:solidFill>
                <a:latin typeface="游ゴシック"/>
                <a:ea typeface="游ゴシック"/>
              </a:rPr>
              <a:t>設問に挙がっている観点</a:t>
            </a:r>
          </a:p>
        </p:txBody>
      </p:sp>
      <p:sp>
        <p:nvSpPr>
          <p:cNvPr id="12" name="Rounded Rectangle 11"/>
          <p:cNvSpPr/>
          <p:nvPr/>
        </p:nvSpPr>
        <p:spPr>
          <a:xfrm>
            <a:off x="777240" y="4362704"/>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栄養バランス</a:t>
            </a:r>
          </a:p>
        </p:txBody>
      </p:sp>
      <p:sp>
        <p:nvSpPr>
          <p:cNvPr id="13" name="Rounded Rectangle 12"/>
          <p:cNvSpPr/>
          <p:nvPr/>
        </p:nvSpPr>
        <p:spPr>
          <a:xfrm>
            <a:off x="3931920" y="4362704"/>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食品の生産方法</a:t>
            </a:r>
          </a:p>
        </p:txBody>
      </p:sp>
      <p:sp>
        <p:nvSpPr>
          <p:cNvPr id="14" name="Rounded Rectangle 13"/>
          <p:cNvSpPr/>
          <p:nvPr/>
        </p:nvSpPr>
        <p:spPr>
          <a:xfrm>
            <a:off x="777240" y="4929632"/>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食品の輸送</a:t>
            </a:r>
          </a:p>
        </p:txBody>
      </p:sp>
      <p:sp>
        <p:nvSpPr>
          <p:cNvPr id="15" name="Rounded Rectangle 14"/>
          <p:cNvSpPr/>
          <p:nvPr/>
        </p:nvSpPr>
        <p:spPr>
          <a:xfrm>
            <a:off x="3931920" y="4929632"/>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食品ロス</a:t>
            </a:r>
          </a:p>
        </p:txBody>
      </p:sp>
      <p:sp>
        <p:nvSpPr>
          <p:cNvPr id="16" name="Rounded Rectangle 15"/>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8" name="TextBox 17"/>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「必ずしも同じとは限らない」＝対立（トレードオフ）がある</a:t>
            </a:r>
          </a:p>
          <a:p>
            <a:pPr algn="l">
              <a:lnSpc>
                <a:spcPct val="115000"/>
              </a:lnSpc>
              <a:spcAft>
                <a:spcPts val="600"/>
              </a:spcAft>
            </a:pPr>
            <a:r>
              <a:rPr sz="1500" b="0">
                <a:solidFill>
                  <a:srgbClr val="23301F"/>
                </a:solidFill>
                <a:latin typeface="游ゴシック"/>
                <a:ea typeface="游ゴシック"/>
              </a:rPr>
              <a:t>② 観点は4つ挙がっている → 全部は書かない</a:t>
            </a:r>
          </a:p>
          <a:p>
            <a:pPr algn="l">
              <a:lnSpc>
                <a:spcPct val="115000"/>
              </a:lnSpc>
              <a:spcAft>
                <a:spcPts val="600"/>
              </a:spcAft>
            </a:pPr>
            <a:r>
              <a:rPr sz="1500" b="0">
                <a:solidFill>
                  <a:srgbClr val="23301F"/>
                </a:solidFill>
                <a:latin typeface="游ゴシック"/>
                <a:ea typeface="游ゴシック"/>
              </a:rPr>
              <a:t>③ 「重要なことは何か」＝自分の主張を1つ決める</a:t>
            </a:r>
          </a:p>
          <a:p>
            <a:pPr algn="l">
              <a:lnSpc>
                <a:spcPct val="115000"/>
              </a:lnSpc>
              <a:spcAft>
                <a:spcPts val="0"/>
              </a:spcAft>
            </a:pPr>
            <a:r>
              <a:rPr sz="1500" b="0">
                <a:solidFill>
                  <a:srgbClr val="23301F"/>
                </a:solidFill>
                <a:latin typeface="游ゴシック"/>
                <a:ea typeface="游ゴシック"/>
              </a:rPr>
              <a:t>④ 「健康に良い＝環境に良い」と単純化しない</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最初の5分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4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テーマ4｜ワークシート ①</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健康と環境の両立　― ノート（解答用紙）に書き出そう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22</a:t>
            </a:r>
          </a:p>
        </p:txBody>
      </p:sp>
      <p:sp>
        <p:nvSpPr>
          <p:cNvPr id="8" name="Rounded Rectangle 7"/>
          <p:cNvSpPr/>
          <p:nvPr/>
        </p:nvSpPr>
        <p:spPr>
          <a:xfrm>
            <a:off x="54864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Q1</a:t>
            </a:r>
          </a:p>
        </p:txBody>
      </p:sp>
      <p:sp>
        <p:nvSpPr>
          <p:cNvPr id="9" name="TextBox 8"/>
          <p:cNvSpPr txBox="1"/>
          <p:nvPr/>
        </p:nvSpPr>
        <p:spPr>
          <a:xfrm>
            <a:off x="146304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この問題・資料の「要点」は何か</a:t>
            </a:r>
          </a:p>
        </p:txBody>
      </p:sp>
      <p:sp>
        <p:nvSpPr>
          <p:cNvPr id="10" name="Rounded Rectangle 9"/>
          <p:cNvSpPr/>
          <p:nvPr/>
        </p:nvSpPr>
        <p:spPr>
          <a:xfrm>
            <a:off x="54864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・設問の前提（健康と環境は同じとは限らない）を、自分の言葉で言うと？</a:t>
            </a:r>
          </a:p>
          <a:p>
            <a:pPr algn="l">
              <a:lnSpc>
                <a:spcPct val="115000"/>
              </a:lnSpc>
              <a:spcAft>
                <a:spcPts val="300"/>
              </a:spcAft>
            </a:pPr>
            <a:r>
              <a:rPr sz="1500" b="0">
                <a:solidFill>
                  <a:srgbClr val="23301F"/>
                </a:solidFill>
                <a:latin typeface="游ゴシック"/>
                <a:ea typeface="游ゴシック"/>
              </a:rPr>
              <a:t>・4つの観点のうち、具体例が書けるのはどれ？</a:t>
            </a:r>
          </a:p>
          <a:p>
            <a:pPr algn="l">
              <a:lnSpc>
                <a:spcPct val="115000"/>
              </a:lnSpc>
              <a:spcAft>
                <a:spcPts val="0"/>
              </a:spcAft>
            </a:pPr>
            <a:r>
              <a:rPr sz="1500" b="0">
                <a:solidFill>
                  <a:srgbClr val="23301F"/>
                </a:solidFill>
                <a:latin typeface="游ゴシック"/>
                <a:ea typeface="游ゴシック"/>
              </a:rPr>
              <a:t>・あなたの主張（重要なこと）を一言で</a:t>
            </a:r>
          </a:p>
        </p:txBody>
      </p:sp>
      <p:sp>
        <p:nvSpPr>
          <p:cNvPr id="12" name="Rounded Rectangle 11"/>
          <p:cNvSpPr/>
          <p:nvPr/>
        </p:nvSpPr>
        <p:spPr>
          <a:xfrm>
            <a:off x="54864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14" name="Rounded Rectangle 13"/>
          <p:cNvSpPr/>
          <p:nvPr/>
        </p:nvSpPr>
        <p:spPr>
          <a:xfrm>
            <a:off x="617220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Q2</a:t>
            </a:r>
          </a:p>
        </p:txBody>
      </p:sp>
      <p:sp>
        <p:nvSpPr>
          <p:cNvPr id="15" name="TextBox 14"/>
          <p:cNvSpPr txBox="1"/>
          <p:nvPr/>
        </p:nvSpPr>
        <p:spPr>
          <a:xfrm>
            <a:off x="708660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全体を何段落で書くか</a:t>
            </a:r>
          </a:p>
        </p:txBody>
      </p:sp>
      <p:sp>
        <p:nvSpPr>
          <p:cNvPr id="16" name="Rounded Rectangle 15"/>
          <p:cNvSpPr/>
          <p:nvPr/>
        </p:nvSpPr>
        <p:spPr>
          <a:xfrm>
            <a:off x="617220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・観点をいくつに絞る？ それが本論の段落数</a:t>
            </a:r>
          </a:p>
          <a:p>
            <a:pPr algn="l">
              <a:lnSpc>
                <a:spcPct val="115000"/>
              </a:lnSpc>
              <a:spcAft>
                <a:spcPts val="300"/>
              </a:spcAft>
            </a:pPr>
            <a:r>
              <a:rPr sz="1500" b="0">
                <a:solidFill>
                  <a:srgbClr val="23301F"/>
                </a:solidFill>
                <a:latin typeface="游ゴシック"/>
                <a:ea typeface="游ゴシック"/>
              </a:rPr>
              <a:t>・各本論で「対立の説明 → 両立の工夫」の順に書くと？</a:t>
            </a:r>
          </a:p>
          <a:p>
            <a:pPr algn="l">
              <a:lnSpc>
                <a:spcPct val="115000"/>
              </a:lnSpc>
              <a:spcAft>
                <a:spcPts val="0"/>
              </a:spcAft>
            </a:pPr>
            <a:r>
              <a:rPr sz="1500" b="0">
                <a:solidFill>
                  <a:srgbClr val="23301F"/>
                </a:solidFill>
                <a:latin typeface="游ゴシック"/>
                <a:ea typeface="游ゴシック"/>
              </a:rPr>
              <a:t>・各段落の字数の目安も決めておこう</a:t>
            </a:r>
          </a:p>
        </p:txBody>
      </p:sp>
      <p:sp>
        <p:nvSpPr>
          <p:cNvPr id="18" name="Rounded Rectangle 17"/>
          <p:cNvSpPr/>
          <p:nvPr/>
        </p:nvSpPr>
        <p:spPr>
          <a:xfrm>
            <a:off x="617220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20" name="Rounded Rectangle 19"/>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目安　</a:t>
            </a:r>
            <a:r>
              <a:rPr sz="1800" b="0">
                <a:solidFill>
                  <a:srgbClr val="FFFFFF"/>
                </a:solidFill>
                <a:latin typeface="游ゴシック"/>
                <a:ea typeface="游ゴシック"/>
              </a:rPr>
              <a:t>Q1・Q2で3〜4分。迷ったら、問われていることの数＝本論の段落数で決める。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4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テーマ4｜ワークシート ②</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　各段落に書く内容を、箇条書きで（文章にしなくてよい）</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23</a:t>
            </a:r>
          </a:p>
        </p:txBody>
      </p:sp>
      <p:sp>
        <p:nvSpPr>
          <p:cNvPr id="8" name="Rounded Rectangle 7"/>
          <p:cNvSpPr/>
          <p:nvPr/>
        </p:nvSpPr>
        <p:spPr>
          <a:xfrm>
            <a:off x="548640" y="1783080"/>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933955"/>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2148840" y="1801368"/>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健康と環境が対立する例＋主張（重要なこと）</a:t>
            </a:r>
          </a:p>
        </p:txBody>
      </p:sp>
      <p:sp>
        <p:nvSpPr>
          <p:cNvPr id="11" name="Rounded Rectangle 10"/>
          <p:cNvSpPr/>
          <p:nvPr/>
        </p:nvSpPr>
        <p:spPr>
          <a:xfrm>
            <a:off x="6446520" y="1847088"/>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542032"/>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692908"/>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①</a:t>
            </a:r>
          </a:p>
        </p:txBody>
      </p:sp>
      <p:sp>
        <p:nvSpPr>
          <p:cNvPr id="14" name="TextBox 13"/>
          <p:cNvSpPr txBox="1"/>
          <p:nvPr/>
        </p:nvSpPr>
        <p:spPr>
          <a:xfrm>
            <a:off x="2148840" y="2560320"/>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観点1：どんな対立がある？ どう両立させる？</a:t>
            </a:r>
          </a:p>
        </p:txBody>
      </p:sp>
      <p:sp>
        <p:nvSpPr>
          <p:cNvPr id="15" name="Rounded Rectangle 14"/>
          <p:cNvSpPr/>
          <p:nvPr/>
        </p:nvSpPr>
        <p:spPr>
          <a:xfrm>
            <a:off x="6446520" y="2606039"/>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300984"/>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3451860"/>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②</a:t>
            </a:r>
          </a:p>
        </p:txBody>
      </p:sp>
      <p:sp>
        <p:nvSpPr>
          <p:cNvPr id="18" name="TextBox 17"/>
          <p:cNvSpPr txBox="1"/>
          <p:nvPr/>
        </p:nvSpPr>
        <p:spPr>
          <a:xfrm>
            <a:off x="2148840" y="3319272"/>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観点2：どんな対立がある？ どう両立させる？</a:t>
            </a:r>
          </a:p>
        </p:txBody>
      </p:sp>
      <p:sp>
        <p:nvSpPr>
          <p:cNvPr id="19" name="Rounded Rectangle 18"/>
          <p:cNvSpPr/>
          <p:nvPr/>
        </p:nvSpPr>
        <p:spPr>
          <a:xfrm>
            <a:off x="6446520" y="3364991"/>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4059935"/>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4210812"/>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③</a:t>
            </a:r>
          </a:p>
        </p:txBody>
      </p:sp>
      <p:sp>
        <p:nvSpPr>
          <p:cNvPr id="22" name="TextBox 21"/>
          <p:cNvSpPr txBox="1"/>
          <p:nvPr/>
        </p:nvSpPr>
        <p:spPr>
          <a:xfrm>
            <a:off x="2148840" y="4078223"/>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（必要なら）ほかに加えたい観点があれば</a:t>
            </a:r>
          </a:p>
        </p:txBody>
      </p:sp>
      <p:sp>
        <p:nvSpPr>
          <p:cNvPr id="23" name="Rounded Rectangle 22"/>
          <p:cNvSpPr/>
          <p:nvPr/>
        </p:nvSpPr>
        <p:spPr>
          <a:xfrm>
            <a:off x="6446520" y="4123944"/>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818888"/>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969764"/>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6" name="TextBox 25"/>
          <p:cNvSpPr txBox="1"/>
          <p:nvPr/>
        </p:nvSpPr>
        <p:spPr>
          <a:xfrm>
            <a:off x="2148840" y="4837175"/>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まとめ＋学科で何を学び、どう貢献したいか</a:t>
            </a:r>
          </a:p>
        </p:txBody>
      </p:sp>
      <p:sp>
        <p:nvSpPr>
          <p:cNvPr id="27" name="Rounded Rectangle 26"/>
          <p:cNvSpPr/>
          <p:nvPr/>
        </p:nvSpPr>
        <p:spPr>
          <a:xfrm>
            <a:off x="6446520" y="4882896"/>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5760720"/>
            <a:ext cx="11091672" cy="53035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760720"/>
            <a:ext cx="10634472" cy="530352"/>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メモができたら　</a:t>
            </a:r>
            <a:r>
              <a:rPr sz="1800" b="0">
                <a:solidFill>
                  <a:srgbClr val="FFFFFF"/>
                </a:solidFill>
                <a:latin typeface="游ゴシック"/>
                <a:ea typeface="游ゴシック"/>
              </a:rPr>
              <a:t>続く35分で、このメモどおりに一気に書く → 最後の10分で見直す。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4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テーマ4｜模範メモ</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健康と環境の両立　― 自分のメモと見比べよう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24</a:t>
            </a:r>
          </a:p>
        </p:txBody>
      </p:sp>
      <p:sp>
        <p:nvSpPr>
          <p:cNvPr id="8" name="Rounded Rectangle 7"/>
          <p:cNvSpPr/>
          <p:nvPr/>
        </p:nvSpPr>
        <p:spPr>
          <a:xfrm>
            <a:off x="548640" y="1783080"/>
            <a:ext cx="457200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4206240" cy="3657600"/>
          </a:xfrm>
          <a:prstGeom prst="rect">
            <a:avLst/>
          </a:prstGeom>
          <a:noFill/>
        </p:spPr>
        <p:txBody>
          <a:bodyPr wrap="square" lIns="45720" rIns="45720" tIns="27432" bIns="27432" anchor="t">
            <a:spAutoFit/>
            <a:spAutoFit/>
          </a:bodyPr>
          <a:lstStyle/>
          <a:p>
            <a:pPr algn="l">
              <a:lnSpc>
                <a:spcPct val="115000"/>
              </a:lnSpc>
              <a:spcAft>
                <a:spcPts val="300"/>
              </a:spcAft>
            </a:pPr>
            <a:r>
              <a:rPr sz="1700" b="1">
                <a:solidFill>
                  <a:srgbClr val="D9782D"/>
                </a:solidFill>
                <a:latin typeface="游ゴシック"/>
                <a:ea typeface="游ゴシック"/>
              </a:rPr>
              <a:t>Q1　要点</a:t>
            </a:r>
          </a:p>
          <a:p>
            <a:pPr algn="l">
              <a:lnSpc>
                <a:spcPct val="115000"/>
              </a:lnSpc>
              <a:spcAft>
                <a:spcPts val="300"/>
              </a:spcAft>
            </a:pPr>
            <a:r>
              <a:rPr sz="1450" b="0">
                <a:solidFill>
                  <a:srgbClr val="23301F"/>
                </a:solidFill>
                <a:latin typeface="游ゴシック"/>
                <a:ea typeface="游ゴシック"/>
              </a:rPr>
              <a:t>・前提：健康に良い食事が、環境にも良いとは限らない</a:t>
            </a:r>
          </a:p>
          <a:p>
            <a:pPr algn="l">
              <a:lnSpc>
                <a:spcPct val="115000"/>
              </a:lnSpc>
              <a:spcAft>
                <a:spcPts val="300"/>
              </a:spcAft>
            </a:pPr>
            <a:r>
              <a:rPr sz="1450" b="0">
                <a:solidFill>
                  <a:srgbClr val="23301F"/>
                </a:solidFill>
                <a:latin typeface="游ゴシック"/>
                <a:ea typeface="游ゴシック"/>
              </a:rPr>
              <a:t>・観点は4つ → 2つに絞る（栄養×生産方法／輸送×食品ロス）</a:t>
            </a:r>
          </a:p>
          <a:p>
            <a:pPr algn="l">
              <a:lnSpc>
                <a:spcPct val="115000"/>
              </a:lnSpc>
              <a:spcAft>
                <a:spcPts val="300"/>
              </a:spcAft>
            </a:pPr>
            <a:r>
              <a:rPr sz="1450" b="0">
                <a:solidFill>
                  <a:srgbClr val="23301F"/>
                </a:solidFill>
                <a:latin typeface="游ゴシック"/>
                <a:ea typeface="游ゴシック"/>
              </a:rPr>
              <a:t>・一言で：我慢ではなく、両方の観点で「選ぶ力」をつける</a:t>
            </a:r>
          </a:p>
          <a:p>
            <a:pPr algn="l">
              <a:lnSpc>
                <a:spcPct val="115000"/>
              </a:lnSpc>
              <a:spcAft>
                <a:spcPts val="300"/>
              </a:spcAft>
            </a:pPr>
            <a:r>
              <a:rPr sz="1700" b="1">
                <a:solidFill>
                  <a:srgbClr val="D9782D"/>
                </a:solidFill>
                <a:latin typeface="游ゴシック"/>
                <a:ea typeface="游ゴシック"/>
              </a:rPr>
              <a:t>Q2　段落構成</a:t>
            </a:r>
          </a:p>
          <a:p>
            <a:pPr algn="l">
              <a:lnSpc>
                <a:spcPct val="115000"/>
              </a:lnSpc>
              <a:spcAft>
                <a:spcPts val="300"/>
              </a:spcAft>
            </a:pPr>
            <a:r>
              <a:rPr sz="1450" b="0">
                <a:solidFill>
                  <a:srgbClr val="23301F"/>
                </a:solidFill>
                <a:latin typeface="游ゴシック"/>
                <a:ea typeface="游ゴシック"/>
              </a:rPr>
              <a:t>・4段落（序論1・本論2・結論1）</a:t>
            </a:r>
          </a:p>
          <a:p>
            <a:pPr algn="l">
              <a:lnSpc>
                <a:spcPct val="115000"/>
              </a:lnSpc>
              <a:spcAft>
                <a:spcPts val="300"/>
              </a:spcAft>
            </a:pPr>
            <a:r>
              <a:rPr sz="1450" b="0">
                <a:solidFill>
                  <a:srgbClr val="23301F"/>
                </a:solidFill>
                <a:latin typeface="游ゴシック"/>
                <a:ea typeface="游ゴシック"/>
              </a:rPr>
              <a:t>・各本論＝対立の説明 → 両立の工夫</a:t>
            </a:r>
          </a:p>
          <a:p>
            <a:pPr algn="l">
              <a:lnSpc>
                <a:spcPct val="115000"/>
              </a:lnSpc>
              <a:spcAft>
                <a:spcPts val="0"/>
              </a:spcAft>
            </a:pPr>
            <a:r>
              <a:rPr sz="1450" b="0">
                <a:solidFill>
                  <a:srgbClr val="23301F"/>
                </a:solidFill>
                <a:latin typeface="游ゴシック"/>
                <a:ea typeface="游ゴシック"/>
              </a:rPr>
              <a:t>・序論130／本論各200〜220／結論150字前後</a:t>
            </a:r>
          </a:p>
        </p:txBody>
      </p:sp>
      <p:sp>
        <p:nvSpPr>
          <p:cNvPr id="10" name="TextBox 9"/>
          <p:cNvSpPr txBox="1"/>
          <p:nvPr/>
        </p:nvSpPr>
        <p:spPr>
          <a:xfrm>
            <a:off x="5349240" y="1783080"/>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700" b="1">
                <a:solidFill>
                  <a:srgbClr val="D9782D"/>
                </a:solidFill>
                <a:latin typeface="游ゴシック"/>
                <a:ea typeface="游ゴシック"/>
              </a:rPr>
              <a:t>Q3　各段落のメモ</a:t>
            </a:r>
          </a:p>
        </p:txBody>
      </p:sp>
      <p:sp>
        <p:nvSpPr>
          <p:cNvPr id="11" name="Rounded Rectangle 10"/>
          <p:cNvSpPr/>
          <p:nvPr/>
        </p:nvSpPr>
        <p:spPr>
          <a:xfrm>
            <a:off x="5349240" y="2194560"/>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58968" y="2267712"/>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3" name="TextBox 12"/>
          <p:cNvSpPr txBox="1"/>
          <p:nvPr/>
        </p:nvSpPr>
        <p:spPr>
          <a:xfrm>
            <a:off x="6583679" y="2231136"/>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肉はたんぱく質源だが温室効果ガスが多い → 両方の観点で選ぶ知識が重要（主張）</a:t>
            </a:r>
          </a:p>
        </p:txBody>
      </p:sp>
      <p:sp>
        <p:nvSpPr>
          <p:cNvPr id="14" name="Rounded Rectangle 13"/>
          <p:cNvSpPr/>
          <p:nvPr/>
        </p:nvSpPr>
        <p:spPr>
          <a:xfrm>
            <a:off x="5349240" y="3047238"/>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58968" y="3120390"/>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6" name="TextBox 15"/>
          <p:cNvSpPr txBox="1"/>
          <p:nvPr/>
        </p:nvSpPr>
        <p:spPr>
          <a:xfrm>
            <a:off x="6583679" y="3083814"/>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栄養×生産方法：肉と温室効果ガス → 豆類・魚・卵と組み合わせ、栄養を保ちつつ負担減</a:t>
            </a:r>
          </a:p>
        </p:txBody>
      </p:sp>
      <p:sp>
        <p:nvSpPr>
          <p:cNvPr id="17" name="Rounded Rectangle 16"/>
          <p:cNvSpPr/>
          <p:nvPr/>
        </p:nvSpPr>
        <p:spPr>
          <a:xfrm>
            <a:off x="5349240" y="3899915"/>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58968" y="3973068"/>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9" name="TextBox 18"/>
          <p:cNvSpPr txBox="1"/>
          <p:nvPr/>
        </p:nvSpPr>
        <p:spPr>
          <a:xfrm>
            <a:off x="6583679" y="3936491"/>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輸送×食品ロス：遠方からの輸送は燃料を使う → 地元の旬の食材（新鮮・使い切りやすい）</a:t>
            </a:r>
          </a:p>
        </p:txBody>
      </p:sp>
      <p:sp>
        <p:nvSpPr>
          <p:cNvPr id="20" name="Rounded Rectangle 19"/>
          <p:cNvSpPr/>
          <p:nvPr/>
        </p:nvSpPr>
        <p:spPr>
          <a:xfrm>
            <a:off x="5349240" y="4752594"/>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58968" y="4825746"/>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2" name="TextBox 21"/>
          <p:cNvSpPr txBox="1"/>
          <p:nvPr/>
        </p:nvSpPr>
        <p:spPr>
          <a:xfrm>
            <a:off x="6583679" y="4789170"/>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一人ひとりの選択が持続可能な食をつくる → 学科でデータを学び、選び方を届ける仕組みへ</a:t>
            </a:r>
          </a:p>
        </p:txBody>
      </p:sp>
      <p:sp>
        <p:nvSpPr>
          <p:cNvPr id="23" name="Rounded Rectangle 22"/>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チェック　</a:t>
            </a:r>
            <a:r>
              <a:rPr sz="1800" b="0">
                <a:solidFill>
                  <a:srgbClr val="FFFFFF"/>
                </a:solidFill>
                <a:latin typeface="游ゴシック"/>
                <a:ea typeface="游ゴシック"/>
              </a:rPr>
              <a:t>問われていることに全部答えているか。段落の役割が重なっていないか。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4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テーマ4｜模範解答</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観点を2つに絞り、対立→両立の工夫で／4段落</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25</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合計750字（序論151・本論①224・本論②207・結論168）</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673989"/>
          </a:xfrm>
          <a:prstGeom prst="rect">
            <a:avLst/>
          </a:prstGeom>
          <a:noFill/>
        </p:spPr>
        <p:txBody>
          <a:bodyPr wrap="square" lIns="45720" rIns="45720" tIns="27432" bIns="27432" anchor="t">
            <a:spAutoFit/>
            <a:spAutoFit/>
          </a:bodyPr>
          <a:lstStyle/>
          <a:p>
            <a:pPr algn="l">
              <a:lnSpc>
                <a:spcPct val="115000"/>
              </a:lnSpc>
              <a:spcAft>
                <a:spcPts val="0"/>
              </a:spcAft>
            </a:pPr>
            <a:r>
              <a:rPr sz="1250" b="0">
                <a:solidFill>
                  <a:srgbClr val="23301F"/>
                </a:solidFill>
                <a:latin typeface="游ゴシック"/>
                <a:ea typeface="游ゴシック"/>
              </a:rPr>
              <a:t>健康に良い食生活が、必ずしも環境に良いとは限らない。例えば、体に必要なたんぱく質をとるために肉を多く食べれば、その生産の過程で多くの温室効果ガスが出る。私は、健康と環境の両方に配慮した食生活を実現するには、どちらか一方を我慢するのではなく、両方の観点から食品を選ぶ知識を身につけることが重要だと考える。</a:t>
            </a:r>
          </a:p>
        </p:txBody>
      </p:sp>
      <p:sp>
        <p:nvSpPr>
          <p:cNvPr id="12" name="Rounded Rectangle 11"/>
          <p:cNvSpPr/>
          <p:nvPr/>
        </p:nvSpPr>
        <p:spPr>
          <a:xfrm>
            <a:off x="704088" y="262166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783080" y="2585085"/>
            <a:ext cx="9674352" cy="880364"/>
          </a:xfrm>
          <a:prstGeom prst="rect">
            <a:avLst/>
          </a:prstGeom>
          <a:noFill/>
        </p:spPr>
        <p:txBody>
          <a:bodyPr wrap="square" lIns="45720" rIns="45720" tIns="27432" bIns="27432" anchor="t">
            <a:spAutoFit/>
            <a:spAutoFit/>
          </a:bodyPr>
          <a:lstStyle/>
          <a:p>
            <a:pPr algn="l">
              <a:lnSpc>
                <a:spcPct val="115000"/>
              </a:lnSpc>
              <a:spcAft>
                <a:spcPts val="0"/>
              </a:spcAft>
            </a:pPr>
            <a:r>
              <a:rPr sz="1250" b="0">
                <a:solidFill>
                  <a:srgbClr val="23301F"/>
                </a:solidFill>
                <a:latin typeface="游ゴシック"/>
                <a:ea typeface="游ゴシック"/>
              </a:rPr>
              <a:t>第一に、栄養と生産方法の関係である。肉は良質なたんぱく質源である一方、特に牛の飼育では、えさの生産や牛のげっぷによって温室効果ガスが多く排出される。しかし、たんぱく質は肉だけでなく、大豆などの豆類や魚、卵からもとることができる。豆類や魚は、牛肉に比べて生産時の温室効果ガスの排出が少ないとされる。肉を完全にやめるのではなく、週に何日かは豆類や魚を主菜にするなど、たんぱく質のとり方を組み合わせれば、栄養を保ちながら環境への負担を減らすことができる。</a:t>
            </a:r>
          </a:p>
        </p:txBody>
      </p:sp>
      <p:sp>
        <p:nvSpPr>
          <p:cNvPr id="14" name="Rounded Rectangle 13"/>
          <p:cNvSpPr/>
          <p:nvPr/>
        </p:nvSpPr>
        <p:spPr>
          <a:xfrm>
            <a:off x="704088" y="3566033"/>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5" name="TextBox 14"/>
          <p:cNvSpPr txBox="1"/>
          <p:nvPr/>
        </p:nvSpPr>
        <p:spPr>
          <a:xfrm>
            <a:off x="1783080" y="3529457"/>
            <a:ext cx="9674352" cy="880364"/>
          </a:xfrm>
          <a:prstGeom prst="rect">
            <a:avLst/>
          </a:prstGeom>
          <a:noFill/>
        </p:spPr>
        <p:txBody>
          <a:bodyPr wrap="square" lIns="45720" rIns="45720" tIns="27432" bIns="27432" anchor="t">
            <a:spAutoFit/>
            <a:spAutoFit/>
          </a:bodyPr>
          <a:lstStyle/>
          <a:p>
            <a:pPr algn="l">
              <a:lnSpc>
                <a:spcPct val="115000"/>
              </a:lnSpc>
              <a:spcAft>
                <a:spcPts val="0"/>
              </a:spcAft>
            </a:pPr>
            <a:r>
              <a:rPr sz="1250" b="0">
                <a:solidFill>
                  <a:srgbClr val="23301F"/>
                </a:solidFill>
                <a:latin typeface="游ゴシック"/>
                <a:ea typeface="游ゴシック"/>
              </a:rPr>
              <a:t>第二に、輸送と食品ロスの観点である。遠くの産地から運ばれる食品は、輸送の際に多くの燃料を使う。これに対して、地元でとれた旬の食材を選べば、輸送による環境負荷を抑えられるうえ、新鮮な状態で食べることができる。また、旬の食材は手に入りやすく価格も手頃なため、必要な分だけ買って使い切りやすい。味が良いため、おいしく食べ切りやすいという利点もある。地産地消と旬の食材の活用は、健康と環境の両方にとって良い選択なのである。</a:t>
            </a:r>
          </a:p>
        </p:txBody>
      </p:sp>
      <p:sp>
        <p:nvSpPr>
          <p:cNvPr id="16" name="Rounded Rectangle 15"/>
          <p:cNvSpPr/>
          <p:nvPr/>
        </p:nvSpPr>
        <p:spPr>
          <a:xfrm>
            <a:off x="704088" y="4510405"/>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7" name="TextBox 16"/>
          <p:cNvSpPr txBox="1"/>
          <p:nvPr/>
        </p:nvSpPr>
        <p:spPr>
          <a:xfrm>
            <a:off x="1783080" y="4473829"/>
            <a:ext cx="9674352" cy="673989"/>
          </a:xfrm>
          <a:prstGeom prst="rect">
            <a:avLst/>
          </a:prstGeom>
          <a:noFill/>
        </p:spPr>
        <p:txBody>
          <a:bodyPr wrap="square" lIns="45720" rIns="45720" tIns="27432" bIns="27432" anchor="t">
            <a:spAutoFit/>
            <a:spAutoFit/>
          </a:bodyPr>
          <a:lstStyle/>
          <a:p>
            <a:pPr algn="l">
              <a:lnSpc>
                <a:spcPct val="115000"/>
              </a:lnSpc>
              <a:spcAft>
                <a:spcPts val="0"/>
              </a:spcAft>
            </a:pPr>
            <a:r>
              <a:rPr sz="1250" b="0">
                <a:solidFill>
                  <a:srgbClr val="23301F"/>
                </a:solidFill>
                <a:latin typeface="游ゴシック"/>
                <a:ea typeface="游ゴシック"/>
              </a:rPr>
              <a:t>以上より、健康と環境を両立させるには、たんぱく質のとり方を工夫することと、地元の旬の食材を選ぶことが重要である。こうした一人ひとりの選択の積み重ねが、持続可能な食のシステムをつくる。私はフードデータサイエンス学科で食と環境に関するデータの分析を学び、健康にも環境にもやさしい食の選び方を、多くの人に分かりやすく届ける仕組みをつくりたい。</a:t>
            </a:r>
          </a:p>
        </p:txBody>
      </p:sp>
      <p:sp>
        <p:nvSpPr>
          <p:cNvPr id="18" name="Rounded Rectangle 17"/>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対立（トレードオフ）を認めた　✓ 観点を2つに絞った　✓ 両立の具体的な工夫を示した</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FINISH ｜ 最後の見直し</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見直しチェックリストとまとめ</a:t>
            </a:r>
          </a:p>
        </p:txBody>
      </p:sp>
      <p:sp>
        <p:nvSpPr>
          <p:cNvPr id="4" name="Rounded Rectangle 3"/>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見直す 10分</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東洋大学 食環境科学部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26</a:t>
            </a:r>
          </a:p>
        </p:txBody>
      </p:sp>
      <p:sp>
        <p:nvSpPr>
          <p:cNvPr id="7" name="Rounded Rectangle 6"/>
          <p:cNvSpPr/>
          <p:nvPr/>
        </p:nvSpPr>
        <p:spPr>
          <a:xfrm>
            <a:off x="548640" y="1600200"/>
            <a:ext cx="6035040" cy="3977639"/>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5669280" cy="365760"/>
          </a:xfrm>
          <a:prstGeom prst="rect">
            <a:avLst/>
          </a:prstGeom>
          <a:noFill/>
        </p:spPr>
        <p:txBody>
          <a:bodyPr wrap="square" lIns="45720" rIns="45720" tIns="27432" bIns="27432" anchor="t">
            <a:spAutoFit/>
            <a:spAutoFit/>
          </a:bodyPr>
          <a:lstStyle/>
          <a:p>
            <a:pPr algn="l">
              <a:lnSpc>
                <a:spcPct val="115000"/>
              </a:lnSpc>
              <a:spcAft>
                <a:spcPts val="0"/>
              </a:spcAft>
            </a:pPr>
            <a:r>
              <a:rPr sz="1800" b="1">
                <a:solidFill>
                  <a:srgbClr val="D9782D"/>
                </a:solidFill>
                <a:latin typeface="游ゴシック"/>
                <a:ea typeface="游ゴシック"/>
              </a:rPr>
              <a:t>最後の10分で必ず見る3点</a:t>
            </a:r>
          </a:p>
        </p:txBody>
      </p:sp>
      <p:sp>
        <p:nvSpPr>
          <p:cNvPr id="9" name="TextBox 8"/>
          <p:cNvSpPr txBox="1"/>
          <p:nvPr/>
        </p:nvSpPr>
        <p:spPr>
          <a:xfrm>
            <a:off x="777240" y="2148840"/>
            <a:ext cx="5669280" cy="1371600"/>
          </a:xfrm>
          <a:prstGeom prst="rect">
            <a:avLst/>
          </a:prstGeom>
          <a:noFill/>
        </p:spPr>
        <p:txBody>
          <a:bodyPr wrap="square" lIns="45720" rIns="45720" tIns="27432" bIns="27432" anchor="t">
            <a:spAutoFit/>
            <a:spAutoFit/>
          </a:bodyPr>
          <a:lstStyle/>
          <a:p>
            <a:pPr algn="l">
              <a:lnSpc>
                <a:spcPct val="115000"/>
              </a:lnSpc>
              <a:spcAft>
                <a:spcPts val="400"/>
              </a:spcAft>
            </a:pPr>
            <a:r>
              <a:rPr sz="1600" b="0">
                <a:solidFill>
                  <a:srgbClr val="23301F"/>
                </a:solidFill>
                <a:latin typeface="游ゴシック"/>
                <a:ea typeface="游ゴシック"/>
              </a:rPr>
              <a:t>✓ 誤字脱字・送りがな・数字の書き間違い</a:t>
            </a:r>
          </a:p>
          <a:p>
            <a:pPr algn="l">
              <a:lnSpc>
                <a:spcPct val="115000"/>
              </a:lnSpc>
              <a:spcAft>
                <a:spcPts val="400"/>
              </a:spcAft>
            </a:pPr>
            <a:r>
              <a:rPr sz="1600" b="0">
                <a:solidFill>
                  <a:srgbClr val="23301F"/>
                </a:solidFill>
                <a:latin typeface="游ゴシック"/>
                <a:ea typeface="游ゴシック"/>
              </a:rPr>
              <a:t>✓ 文末が「だ・である」で統一されているか</a:t>
            </a:r>
          </a:p>
          <a:p>
            <a:pPr algn="l">
              <a:lnSpc>
                <a:spcPct val="115000"/>
              </a:lnSpc>
              <a:spcAft>
                <a:spcPts val="0"/>
              </a:spcAft>
            </a:pPr>
            <a:r>
              <a:rPr sz="1600" b="0">
                <a:solidFill>
                  <a:srgbClr val="23301F"/>
                </a:solidFill>
                <a:latin typeface="游ゴシック"/>
                <a:ea typeface="游ゴシック"/>
              </a:rPr>
              <a:t>✓ 論理のつながり（主張 → 理由 → 結論がずれていないか）</a:t>
            </a:r>
          </a:p>
        </p:txBody>
      </p:sp>
      <p:sp>
        <p:nvSpPr>
          <p:cNvPr id="10" name="TextBox 9"/>
          <p:cNvSpPr txBox="1"/>
          <p:nvPr/>
        </p:nvSpPr>
        <p:spPr>
          <a:xfrm>
            <a:off x="777240" y="3566160"/>
            <a:ext cx="5669280" cy="365760"/>
          </a:xfrm>
          <a:prstGeom prst="rect">
            <a:avLst/>
          </a:prstGeom>
          <a:noFill/>
        </p:spPr>
        <p:txBody>
          <a:bodyPr wrap="square" lIns="45720" rIns="45720" tIns="27432" bIns="27432" anchor="t">
            <a:spAutoFit/>
            <a:spAutoFit/>
          </a:bodyPr>
          <a:lstStyle/>
          <a:p>
            <a:pPr algn="l">
              <a:lnSpc>
                <a:spcPct val="115000"/>
              </a:lnSpc>
              <a:spcAft>
                <a:spcPts val="0"/>
              </a:spcAft>
            </a:pPr>
            <a:r>
              <a:rPr sz="1800" b="1">
                <a:solidFill>
                  <a:srgbClr val="2C5F2D"/>
                </a:solidFill>
                <a:latin typeface="游ゴシック"/>
                <a:ea typeface="游ゴシック"/>
              </a:rPr>
              <a:t>あわせて確認</a:t>
            </a:r>
          </a:p>
        </p:txBody>
      </p:sp>
      <p:sp>
        <p:nvSpPr>
          <p:cNvPr id="11" name="TextBox 10"/>
          <p:cNvSpPr txBox="1"/>
          <p:nvPr/>
        </p:nvSpPr>
        <p:spPr>
          <a:xfrm>
            <a:off x="777240" y="3977639"/>
            <a:ext cx="5669280" cy="1554480"/>
          </a:xfrm>
          <a:prstGeom prst="rect">
            <a:avLst/>
          </a:prstGeom>
          <a:noFill/>
        </p:spPr>
        <p:txBody>
          <a:bodyPr wrap="square" lIns="45720" rIns="45720" tIns="27432" bIns="27432" anchor="t">
            <a:spAutoFit/>
            <a:spAutoFit/>
          </a:bodyPr>
          <a:lstStyle/>
          <a:p>
            <a:pPr algn="l">
              <a:lnSpc>
                <a:spcPct val="115000"/>
              </a:lnSpc>
              <a:spcAft>
                <a:spcPts val="400"/>
              </a:spcAft>
            </a:pPr>
            <a:r>
              <a:rPr sz="1600" b="0">
                <a:solidFill>
                  <a:srgbClr val="23301F"/>
                </a:solidFill>
                <a:latin typeface="游ゴシック"/>
                <a:ea typeface="游ゴシック"/>
              </a:rPr>
              <a:t>✓ 問われていることに全部答えたか</a:t>
            </a:r>
          </a:p>
          <a:p>
            <a:pPr algn="l">
              <a:lnSpc>
                <a:spcPct val="115000"/>
              </a:lnSpc>
              <a:spcAft>
                <a:spcPts val="400"/>
              </a:spcAft>
            </a:pPr>
            <a:r>
              <a:rPr sz="1600" b="0">
                <a:solidFill>
                  <a:srgbClr val="23301F"/>
                </a:solidFill>
                <a:latin typeface="游ゴシック"/>
                <a:ea typeface="游ゴシック"/>
              </a:rPr>
              <a:t>✓ 資料の事実・数字や具体例を入れたか</a:t>
            </a:r>
          </a:p>
          <a:p>
            <a:pPr algn="l">
              <a:lnSpc>
                <a:spcPct val="115000"/>
              </a:lnSpc>
              <a:spcAft>
                <a:spcPts val="400"/>
              </a:spcAft>
            </a:pPr>
            <a:r>
              <a:rPr sz="1600" b="0">
                <a:solidFill>
                  <a:srgbClr val="23301F"/>
                </a:solidFill>
                <a:latin typeface="游ゴシック"/>
                <a:ea typeface="游ゴシック"/>
              </a:rPr>
              <a:t>✓ 学科での学び・将来につなげたか</a:t>
            </a:r>
          </a:p>
          <a:p>
            <a:pPr algn="l">
              <a:lnSpc>
                <a:spcPct val="115000"/>
              </a:lnSpc>
              <a:spcAft>
                <a:spcPts val="0"/>
              </a:spcAft>
            </a:pPr>
            <a:r>
              <a:rPr sz="1600" b="0">
                <a:solidFill>
                  <a:srgbClr val="23301F"/>
                </a:solidFill>
                <a:latin typeface="游ゴシック"/>
                <a:ea typeface="游ゴシック"/>
              </a:rPr>
              <a:t>✓ 720字（9割）以上書けているか</a:t>
            </a:r>
          </a:p>
        </p:txBody>
      </p:sp>
      <p:sp>
        <p:nvSpPr>
          <p:cNvPr id="12" name="Rounded Rectangle 11"/>
          <p:cNvSpPr/>
          <p:nvPr/>
        </p:nvSpPr>
        <p:spPr>
          <a:xfrm>
            <a:off x="6858000" y="1600200"/>
            <a:ext cx="1371600" cy="8686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5分</a:t>
            </a:r>
          </a:p>
        </p:txBody>
      </p:sp>
      <p:sp>
        <p:nvSpPr>
          <p:cNvPr id="13" name="TextBox 12"/>
          <p:cNvSpPr txBox="1"/>
          <p:nvPr/>
        </p:nvSpPr>
        <p:spPr>
          <a:xfrm>
            <a:off x="8412480" y="1600200"/>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読む</a:t>
            </a:r>
          </a:p>
        </p:txBody>
      </p:sp>
      <p:sp>
        <p:nvSpPr>
          <p:cNvPr id="14" name="Rounded Rectangle 13"/>
          <p:cNvSpPr/>
          <p:nvPr/>
        </p:nvSpPr>
        <p:spPr>
          <a:xfrm>
            <a:off x="6858000" y="2624328"/>
            <a:ext cx="1371600" cy="8686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10分</a:t>
            </a:r>
          </a:p>
        </p:txBody>
      </p:sp>
      <p:sp>
        <p:nvSpPr>
          <p:cNvPr id="15" name="TextBox 14"/>
          <p:cNvSpPr txBox="1"/>
          <p:nvPr/>
        </p:nvSpPr>
        <p:spPr>
          <a:xfrm>
            <a:off x="8412480" y="2624328"/>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構成する</a:t>
            </a:r>
          </a:p>
        </p:txBody>
      </p:sp>
      <p:sp>
        <p:nvSpPr>
          <p:cNvPr id="16" name="Rounded Rectangle 15"/>
          <p:cNvSpPr/>
          <p:nvPr/>
        </p:nvSpPr>
        <p:spPr>
          <a:xfrm>
            <a:off x="6858000" y="3648456"/>
            <a:ext cx="1371600" cy="8686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35分</a:t>
            </a:r>
          </a:p>
        </p:txBody>
      </p:sp>
      <p:sp>
        <p:nvSpPr>
          <p:cNvPr id="17" name="TextBox 16"/>
          <p:cNvSpPr txBox="1"/>
          <p:nvPr/>
        </p:nvSpPr>
        <p:spPr>
          <a:xfrm>
            <a:off x="8412480" y="3648456"/>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書く</a:t>
            </a:r>
          </a:p>
        </p:txBody>
      </p:sp>
      <p:sp>
        <p:nvSpPr>
          <p:cNvPr id="18" name="Rounded Rectangle 17"/>
          <p:cNvSpPr/>
          <p:nvPr/>
        </p:nvSpPr>
        <p:spPr>
          <a:xfrm>
            <a:off x="6858000" y="4672584"/>
            <a:ext cx="1371600" cy="8686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10分</a:t>
            </a:r>
          </a:p>
        </p:txBody>
      </p:sp>
      <p:sp>
        <p:nvSpPr>
          <p:cNvPr id="19" name="TextBox 18"/>
          <p:cNvSpPr txBox="1"/>
          <p:nvPr/>
        </p:nvSpPr>
        <p:spPr>
          <a:xfrm>
            <a:off x="8412480" y="4672584"/>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見直す</a:t>
            </a:r>
          </a:p>
        </p:txBody>
      </p:sp>
      <p:sp>
        <p:nvSpPr>
          <p:cNvPr id="20" name="Rounded Rectangle 19"/>
          <p:cNvSpPr/>
          <p:nvPr/>
        </p:nvSpPr>
        <p:spPr>
          <a:xfrm>
            <a:off x="548640" y="5760720"/>
            <a:ext cx="11091672" cy="54864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60720"/>
            <a:ext cx="10634472" cy="548640"/>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まとめ　</a:t>
            </a:r>
            <a:r>
              <a:rPr sz="1800" b="0">
                <a:solidFill>
                  <a:srgbClr val="FFFFFF"/>
                </a:solidFill>
                <a:latin typeface="游ゴシック"/>
                <a:ea typeface="游ゴシック"/>
              </a:rPr>
              <a:t>考えるのは最初の15分。3つの問いで、初見の問題も同じ手順で書き切れる。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